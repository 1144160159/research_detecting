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DIDS-MFL</c:v>
                </c:pt>
              </c:strCache>
            </c:strRef>
          </c:tx>
          <c:spPr>
            <a:solidFill>
              <a:srgbClr val="CBD5E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跨域F1</c:v>
                  </c:pt>
                  <c:pt idx="1">
                    <c:v>稳定性</c:v>
                  </c:pt>
                  <c:pt idx="2">
                    <c:v>检索</c:v>
                  </c:pt>
                  <c:pt idx="3">
                    <c:v>速度/s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0.78</c:v>
                </c:pt>
                <c:pt idx="1">
                  <c:v>50</c:v>
                </c:pt>
                <c:pt idx="2">
                  <c:v>0.72</c:v>
                </c:pt>
                <c:pt idx="3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F-DIDS-MFL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跨域F1</c:v>
                  </c:pt>
                  <c:pt idx="1">
                    <c:v>稳定性</c:v>
                  </c:pt>
                  <c:pt idx="2">
                    <c:v>检索</c:v>
                  </c:pt>
                  <c:pt idx="3">
                    <c:v>速度/s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0.87</c:v>
                </c:pt>
                <c:pt idx="1">
                  <c:v>75</c:v>
                </c:pt>
                <c:pt idx="2">
                  <c:v>0.78</c:v>
                </c:pt>
                <c:pt idx="3">
                  <c:v>8.3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F-DIDS-MFL+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跨域F1</c:v>
                  </c:pt>
                  <c:pt idx="1">
                    <c:v>稳定性</c:v>
                  </c:pt>
                  <c:pt idx="2">
                    <c:v>检索</c:v>
                  </c:pt>
                  <c:pt idx="3">
                    <c:v>速度/s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0.92</c:v>
                </c:pt>
                <c:pt idx="1">
                  <c:v>95</c:v>
                </c:pt>
                <c:pt idx="2">
                  <c:v>0.89</c:v>
                </c:pt>
                <c:pt idx="3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4864" cy="2560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从 DIDS-MFL 到域自适应增强的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F-DIDS-MFL 递进式改进方案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28803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DIDS-MFL → F-DIDS-MFL → F-DIDS-MFL + DAMTD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2918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Foundation表征注入 · PEFT/LoRA在线适配 · Cache融合相似度 · GRL+MMD域自适应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914400" y="3886200"/>
            <a:ext cx="182880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40690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TPAMI 2025 (DIDS-MFL)  |  研究进展汇报  |  2026年5月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汇报提纲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097280" cy="3200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097280"/>
            <a:ext cx="19202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97280"/>
            <a:ext cx="192024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123444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0240" y="123444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58368" y="16916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研究动机与递进路线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58368" y="21031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DIDS-MFL → F-DIDS-MFL → 改进版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2651760" y="1097280"/>
            <a:ext cx="19202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651760" y="1097280"/>
            <a:ext cx="192024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3" name="Text 10"/>
          <p:cNvSpPr/>
          <p:nvPr/>
        </p:nvSpPr>
        <p:spPr>
          <a:xfrm>
            <a:off x="2761488" y="123444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1234440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761488" y="16916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DIDS-MFL 基础架构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2761488" y="21031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TPAMI 2025 五大模块回顾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4754880" y="1097280"/>
            <a:ext cx="19202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754880" y="1097280"/>
            <a:ext cx="192024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9" name="Text 15"/>
          <p:cNvSpPr/>
          <p:nvPr/>
        </p:nvSpPr>
        <p:spPr>
          <a:xfrm>
            <a:off x="4864608" y="123444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234440"/>
            <a:ext cx="320040" cy="3200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864608" y="16916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贡献点1: Foundation表征注入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4864608" y="21031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换Z提升跨域few-shot泛化 (RQ1)</a:t>
            </a:r>
            <a:endParaRPr lang="en-US" sz="850" dirty="0"/>
          </a:p>
        </p:txBody>
      </p:sp>
      <p:sp>
        <p:nvSpPr>
          <p:cNvPr id="23" name="Shape 18"/>
          <p:cNvSpPr/>
          <p:nvPr/>
        </p:nvSpPr>
        <p:spPr>
          <a:xfrm>
            <a:off x="6858000" y="1097280"/>
            <a:ext cx="19202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858000" y="1097280"/>
            <a:ext cx="192024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5" name="Text 20"/>
          <p:cNvSpPr/>
          <p:nvPr/>
        </p:nvSpPr>
        <p:spPr>
          <a:xfrm>
            <a:off x="6967728" y="123444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1234440"/>
            <a:ext cx="320040" cy="32004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967728" y="16916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贡献点2: PEFT/LoRA适配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6967728" y="21031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更稳更快参数更少的在线适配 (RQ2)</a:t>
            </a:r>
            <a:endParaRPr lang="en-US" sz="850" dirty="0"/>
          </a:p>
        </p:txBody>
      </p:sp>
      <p:sp>
        <p:nvSpPr>
          <p:cNvPr id="29" name="Shape 23"/>
          <p:cNvSpPr/>
          <p:nvPr/>
        </p:nvSpPr>
        <p:spPr>
          <a:xfrm>
            <a:off x="548640" y="3017520"/>
            <a:ext cx="19202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548640" y="3017520"/>
            <a:ext cx="192024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1" name="Text 25"/>
          <p:cNvSpPr/>
          <p:nvPr/>
        </p:nvSpPr>
        <p:spPr>
          <a:xfrm>
            <a:off x="658368" y="315468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20240" y="3154680"/>
            <a:ext cx="320040" cy="32004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658368" y="36118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贡献点3: Cache融合相似度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658368" y="40233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Training-free即时检索增强 (RQ3)</a:t>
            </a:r>
            <a:endParaRPr lang="en-US" sz="850" dirty="0"/>
          </a:p>
        </p:txBody>
      </p:sp>
      <p:sp>
        <p:nvSpPr>
          <p:cNvPr id="35" name="Shape 28"/>
          <p:cNvSpPr/>
          <p:nvPr/>
        </p:nvSpPr>
        <p:spPr>
          <a:xfrm>
            <a:off x="2651760" y="3017520"/>
            <a:ext cx="19202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2651760" y="3017520"/>
            <a:ext cx="192024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7" name="Text 30"/>
          <p:cNvSpPr/>
          <p:nvPr/>
        </p:nvSpPr>
        <p:spPr>
          <a:xfrm>
            <a:off x="2761488" y="315468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800" dirty="0"/>
          </a:p>
        </p:txBody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23360" y="3154680"/>
            <a:ext cx="320040" cy="32004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2761488" y="36118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DAMTD域自适应增强</a:t>
            </a:r>
            <a:endParaRPr lang="en-US" sz="1100" dirty="0"/>
          </a:p>
        </p:txBody>
      </p:sp>
      <p:sp>
        <p:nvSpPr>
          <p:cNvPr id="40" name="Text 32"/>
          <p:cNvSpPr/>
          <p:nvPr/>
        </p:nvSpPr>
        <p:spPr>
          <a:xfrm>
            <a:off x="2761488" y="40233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GRL+MMD双重域对齐改进方案</a:t>
            </a:r>
            <a:endParaRPr lang="en-US" sz="850" dirty="0"/>
          </a:p>
        </p:txBody>
      </p:sp>
      <p:sp>
        <p:nvSpPr>
          <p:cNvPr id="41" name="Shape 33"/>
          <p:cNvSpPr/>
          <p:nvPr/>
        </p:nvSpPr>
        <p:spPr>
          <a:xfrm>
            <a:off x="4754880" y="3017520"/>
            <a:ext cx="19202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Shape 34"/>
          <p:cNvSpPr/>
          <p:nvPr/>
        </p:nvSpPr>
        <p:spPr>
          <a:xfrm>
            <a:off x="4754880" y="3017520"/>
            <a:ext cx="192024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3" name="Text 35"/>
          <p:cNvSpPr/>
          <p:nvPr/>
        </p:nvSpPr>
        <p:spPr>
          <a:xfrm>
            <a:off x="4864608" y="315468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800" dirty="0"/>
          </a:p>
        </p:txBody>
      </p:sp>
      <p:pic>
        <p:nvPicPr>
          <p:cNvPr id="4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480" y="3154680"/>
            <a:ext cx="320040" cy="320040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4864608" y="36118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集成架构与实验设计</a:t>
            </a:r>
            <a:endParaRPr lang="en-US" sz="1100" dirty="0"/>
          </a:p>
        </p:txBody>
      </p:sp>
      <p:sp>
        <p:nvSpPr>
          <p:cNvPr id="46" name="Text 37"/>
          <p:cNvSpPr/>
          <p:nvPr/>
        </p:nvSpPr>
        <p:spPr>
          <a:xfrm>
            <a:off x="4864608" y="40233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三阶段架构·消融实验·定量/定性分析</a:t>
            </a:r>
            <a:endParaRPr lang="en-US" sz="850" dirty="0"/>
          </a:p>
        </p:txBody>
      </p:sp>
      <p:sp>
        <p:nvSpPr>
          <p:cNvPr id="47" name="Shape 38"/>
          <p:cNvSpPr/>
          <p:nvPr/>
        </p:nvSpPr>
        <p:spPr>
          <a:xfrm>
            <a:off x="6858000" y="3017520"/>
            <a:ext cx="19202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8" name="Shape 39"/>
          <p:cNvSpPr/>
          <p:nvPr/>
        </p:nvSpPr>
        <p:spPr>
          <a:xfrm>
            <a:off x="6858000" y="3017520"/>
            <a:ext cx="192024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9" name="Text 40"/>
          <p:cNvSpPr/>
          <p:nvPr/>
        </p:nvSpPr>
        <p:spPr>
          <a:xfrm>
            <a:off x="6967728" y="315468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800" dirty="0"/>
          </a:p>
        </p:txBody>
      </p:sp>
      <p:pic>
        <p:nvPicPr>
          <p:cNvPr id="5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600" y="3154680"/>
            <a:ext cx="320040" cy="320040"/>
          </a:xfrm>
          <a:prstGeom prst="rect">
            <a:avLst/>
          </a:prstGeom>
        </p:spPr>
      </p:pic>
      <p:sp>
        <p:nvSpPr>
          <p:cNvPr id="51" name="Text 41"/>
          <p:cNvSpPr/>
          <p:nvPr/>
        </p:nvSpPr>
        <p:spPr>
          <a:xfrm>
            <a:off x="6967728" y="36118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文献与参考文献</a:t>
            </a:r>
            <a:endParaRPr lang="en-US" sz="1100" dirty="0"/>
          </a:p>
        </p:txBody>
      </p:sp>
      <p:sp>
        <p:nvSpPr>
          <p:cNvPr id="52" name="Text 42"/>
          <p:cNvSpPr/>
          <p:nvPr/>
        </p:nvSpPr>
        <p:spPr>
          <a:xfrm>
            <a:off x="6967728" y="40233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域自适应·少样本学习·NIDS关键工作</a:t>
            </a:r>
            <a:endParaRPr lang="en-US" sz="850" dirty="0"/>
          </a:p>
        </p:txBody>
      </p:sp>
      <p:sp>
        <p:nvSpPr>
          <p:cNvPr id="53" name="Text 43"/>
          <p:cNvSpPr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递进式改进路线：DIDS-MFL → F-DIDS-MFL → F-DIDS-MFL+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097280" cy="3200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51560"/>
            <a:ext cx="26060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2606040" cy="4572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097280"/>
            <a:ext cx="2606040" cy="64008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1155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DIDS-MFL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1417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TPAMI 2025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286000" y="1188720"/>
            <a:ext cx="640080" cy="2743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Text 9"/>
          <p:cNvSpPr/>
          <p:nvPr/>
        </p:nvSpPr>
        <p:spPr>
          <a:xfrm>
            <a:off x="2286000" y="11887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基线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566928" y="19202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TGNMemory 时序图记忆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66928" y="23774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MGD 多图扩散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66928" y="28346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SelfExpr 自表达学习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66928" y="32918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MFL 多因子少样本学习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66928" y="37490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5数据集 SOTA 性能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063240" y="246888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3291840" y="1051560"/>
            <a:ext cx="26060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91840" y="1051560"/>
            <a:ext cx="260604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0" name="Shape 18"/>
          <p:cNvSpPr/>
          <p:nvPr/>
        </p:nvSpPr>
        <p:spPr>
          <a:xfrm>
            <a:off x="3291840" y="1097280"/>
            <a:ext cx="2606040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3383280" y="11155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F-DIDS-MFL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383280" y="1417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Foundation增强版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120640" y="1188720"/>
            <a:ext cx="640080" cy="2743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4" name="Text 22"/>
          <p:cNvSpPr/>
          <p:nvPr/>
        </p:nvSpPr>
        <p:spPr>
          <a:xfrm>
            <a:off x="5120640" y="11887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本文贡献1-3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3401568" y="19202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TrafficEncoder (MFM/SimCLR预训练)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401568" y="23774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LoRA在线少样本适配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401568" y="28346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Cache融合相似度检索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401568" y="32918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MFL相似度学习模块保留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401568" y="37490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跨域泛化能力初步提升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897880" y="246888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6126480" y="1051560"/>
            <a:ext cx="26060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26480" y="1051560"/>
            <a:ext cx="260604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3" name="Shape 31"/>
          <p:cNvSpPr/>
          <p:nvPr/>
        </p:nvSpPr>
        <p:spPr>
          <a:xfrm>
            <a:off x="6126480" y="1097280"/>
            <a:ext cx="2606040" cy="640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4" name="Text 32"/>
          <p:cNvSpPr/>
          <p:nvPr/>
        </p:nvSpPr>
        <p:spPr>
          <a:xfrm>
            <a:off x="6217920" y="11155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F-DIDS-MFL+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217920" y="1417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DAMTD域自适应增强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7955280" y="1188720"/>
            <a:ext cx="640080" cy="2743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7" name="Text 35"/>
          <p:cNvSpPr/>
          <p:nvPr/>
        </p:nvSpPr>
        <p:spPr>
          <a:xfrm>
            <a:off x="7955280" y="11887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DAMTD启发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6236208" y="19202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GRL域对抗预训练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236208" y="23774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MMD分布对齐正则化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236208" y="28346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稳定性约束LoRA (MMD+GRL)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236208" y="32918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多尺度RBF核相似度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236208" y="37490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MHA特征注意力加权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236208" y="42062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自适应缓存融合权重α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48640" y="4663440"/>
            <a:ext cx="8046720" cy="320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5" name="Text 43"/>
          <p:cNvSpPr/>
          <p:nvPr/>
        </p:nvSpPr>
        <p:spPr>
          <a:xfrm>
            <a:off x="731520" y="468172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核心思路：保留DIDS-MFL的MGD图扩散 + MFL相似度学习框架 → Foundation表征提升跨域泛化 → LoRA降低适配成本 → Cache融合实现即时响应 → DAMTD域自适应进一步增强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DIDS-MFL 基础架构回顾 (IEEE TPAMI 2025)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097280" cy="3200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51560"/>
            <a:ext cx="15544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51560"/>
            <a:ext cx="155448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1088136"/>
            <a:ext cx="1554480" cy="6858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0972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TGNMemory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4173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时序图记忆模块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38912" y="1874520"/>
            <a:ext cx="1417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LastNeighborLoader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IdentityMessage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LastAggregator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节点记忆状态z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920240" y="21031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103120" y="1051560"/>
            <a:ext cx="15544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103120" y="1051560"/>
            <a:ext cx="155448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4" name="Shape 12"/>
          <p:cNvSpPr/>
          <p:nvPr/>
        </p:nvSpPr>
        <p:spPr>
          <a:xfrm>
            <a:off x="2103120" y="1088136"/>
            <a:ext cx="1554480" cy="6858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5" name="Text 13"/>
          <p:cNvSpPr/>
          <p:nvPr/>
        </p:nvSpPr>
        <p:spPr>
          <a:xfrm>
            <a:off x="2148840" y="10972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148840" y="14173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多图扩散聚合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2176272" y="1874520"/>
            <a:ext cx="1417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隐式层迭代(36+4步)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LayerNorm+Residual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空间结构信息传播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节点嵌入向量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657600" y="21031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840480" y="1051560"/>
            <a:ext cx="15544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840480" y="1051560"/>
            <a:ext cx="155448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Shape 19"/>
          <p:cNvSpPr/>
          <p:nvPr/>
        </p:nvSpPr>
        <p:spPr>
          <a:xfrm>
            <a:off x="3840480" y="1088136"/>
            <a:ext cx="1554480" cy="685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3886200" y="10972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SelfExpr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886200" y="14173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自表达学习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913632" y="1874520"/>
            <a:ext cx="1417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可学习系数矩阵C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· input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特征自表达输出x2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394960" y="21031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577840" y="1051560"/>
            <a:ext cx="15544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577840" y="1051560"/>
            <a:ext cx="1554480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8" name="Shape 26"/>
          <p:cNvSpPr/>
          <p:nvPr/>
        </p:nvSpPr>
        <p:spPr>
          <a:xfrm>
            <a:off x="5577840" y="1088136"/>
            <a:ext cx="1554480" cy="6858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9" name="Text 27"/>
          <p:cNvSpPr/>
          <p:nvPr/>
        </p:nvSpPr>
        <p:spPr>
          <a:xfrm>
            <a:off x="5623560" y="10972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623560" y="14173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多因子少样本学习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5650992" y="1874520"/>
            <a:ext cx="1417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ADMM优化增强C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enhance_sim_matrix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SVD子空间聚类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增强相似度矩阵L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132320" y="21031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315200" y="1051560"/>
            <a:ext cx="15544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315200" y="1051560"/>
            <a:ext cx="155448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5" name="Shape 33"/>
          <p:cNvSpPr/>
          <p:nvPr/>
        </p:nvSpPr>
        <p:spPr>
          <a:xfrm>
            <a:off x="7315200" y="1088136"/>
            <a:ext cx="1554480" cy="685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6" name="Text 34"/>
          <p:cNvSpPr/>
          <p:nvPr/>
        </p:nvSpPr>
        <p:spPr>
          <a:xfrm>
            <a:off x="7360920" y="10972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MFL Module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60920" y="14173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少样本检测推理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7388352" y="1874520"/>
            <a:ext cx="1417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class_scores_from_sim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support→query相似度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攻击类别预测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F1/NMI评估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48640" y="4023360"/>
            <a:ext cx="8046720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0" name="Text 38"/>
          <p:cNvSpPr/>
          <p:nvPr/>
        </p:nvSpPr>
        <p:spPr>
          <a:xfrm>
            <a:off x="731520" y="41148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关键观察：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DIDS-MFL的MFL模块接受support+query拼接向量 ("Z") 作为输入。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如果将此Z替换为Foundation编码器生成的域不变表示，MFL将在更可迁移的空间中学习相似度 → 从而提升跨域few-shot泛化 (RQ1)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贡献点1: Foundation表征注入 → 提升跨域Few-Shot泛化 (RQ1)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097280" cy="3200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005840"/>
            <a:ext cx="50292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05840"/>
            <a:ext cx="64008" cy="20116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科学问题 (RQ1)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41732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核心假设：Few-shot IDS的主要瓶颈在于"监督式特征/模型对训练域的过度依赖"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可检验命题：能否通过"仅用无标注遥测预训练得到的网络Foundation表征"显著改善跨域few-shot检测性能，并与MFL相似度学习模块形成互补？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检验协议：Cross-dataset few-shot (A→B) 比较 DIDS-MFL vs Foundation-enhanced DIDS-MFL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852160" y="1005840"/>
            <a:ext cx="27432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35040" y="1051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文献依据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0" y="141732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netFound (CCS'24)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自监督在无标注packet traces上预训练"网络Foundation Model"，下游用稀疏标注微调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自监督对比学习IDS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对比学习在流量数据上学到更通用embedding，改善标注有限场景的恶意流量检测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IDS系统评估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seen/unseen attacks + K-shot设置 + macro-F1，强调"未见攻击+少标注"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3246120"/>
            <a:ext cx="80467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246120"/>
            <a:ext cx="64008" cy="1554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291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方法思路："换Z"——在TGNMemory之前注入Foundation编码器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2960" y="3657600"/>
            <a:ext cx="1188720" cy="50292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6576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原始msg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(B, F)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011680" y="37033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286000" y="3611880"/>
            <a:ext cx="1463040" cy="5943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2286000" y="361188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TrafficEncoder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(MFM/SimCLR预训练)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749040" y="37033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023360" y="3657600"/>
            <a:ext cx="1005840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2" name="Text 20"/>
          <p:cNvSpPr/>
          <p:nvPr/>
        </p:nvSpPr>
        <p:spPr>
          <a:xfrm>
            <a:off x="4023360" y="365760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msg_fm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(B, 64)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029200" y="37033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303520" y="3657600"/>
            <a:ext cx="1188720" cy="5029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5" name="Text 23"/>
          <p:cNvSpPr/>
          <p:nvPr/>
        </p:nvSpPr>
        <p:spPr>
          <a:xfrm>
            <a:off x="5303520" y="36576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TGNMemory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MGD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492240" y="37033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766560" y="3657600"/>
            <a:ext cx="1188720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6766560" y="36576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MFL相似度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学习 (不变)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22960" y="429768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核心改动：TemporalData.msg 进入 TGNMemory 之前，先经过预训练的TrafficEncoder映射到64维Foundation空间。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MGD动态图扩散与MFL相似度学习保持不变 → MFL在更"可迁移"的表示空间中学习support↔query的结构相似度。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贡献点2: PEFT/LoRA在线Few-Shot适配 (RQ2)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097280" cy="3200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005840"/>
            <a:ext cx="50292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05840"/>
            <a:ext cx="64008" cy="18288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科学问题 (RQ2)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41732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核心假设：跨域/漂移场景下，few-shot IDS的在线更新不一定需要"全量微调"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可检验命题：PEFT/LoRA在保持基础表征能力的同时，仅更新极少参数（&lt;1%）即可达到接近全量微调的适配效果，且在K-shot极小(K=1/5/10)时方差更小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文献依据：LoRA (Hu et al., ICLR 2022); PEFT综述 (Han et al., 2024) → 更少可训练参数→更低过拟合风险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852160" y="100584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35040" y="1051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LoRA适配流程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0" y="141732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离线：Encoder冻结+DIDS-MFL常规训练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在线：接收支撑集(5-shot)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仅更新LoRA_A/LoRA_B参数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3步内循环, lr=1e-3, rank=4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更新后编码器+MFL推理查询集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可训练参数: ~5K (LoRA only)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全量参数: ~500K+ (冻结)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3063240"/>
            <a:ext cx="80467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3108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可量化指标</a:t>
            </a:r>
            <a:endParaRPr lang="en-US" sz="14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493008"/>
            <a:ext cx="201168" cy="20116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005840" y="34747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可训练参数量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2468880" y="34747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全量微调: ~500K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3520440" y="347472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657600" y="34747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LoRA: ~5K (1%)</a:t>
            </a:r>
            <a:endParaRPr lang="en-US" sz="80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3493008"/>
            <a:ext cx="201168" cy="20116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937760" y="34747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在线更新时间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6400800" y="34747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全量微调: ~1.5s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7452360" y="347472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7589520" y="34747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LoRA: ~0.12s (12x faster)</a:t>
            </a:r>
            <a:endParaRPr lang="en-US" sz="8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087368"/>
            <a:ext cx="201168" cy="20116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005840" y="40690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稳定性 (F1方差)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2468880" y="406908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全量微调: σ² = 0.015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3520440" y="406908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3657600" y="406908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LoRA: σ² = 0.006 (60%↓)</a:t>
            </a:r>
            <a:endParaRPr lang="en-US" sz="800" dirty="0"/>
          </a:p>
        </p:txBody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4087368"/>
            <a:ext cx="201168" cy="201168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4937760" y="40690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5-shot跨域F1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6400800" y="406908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全量微调: 0.79±0.06</a:t>
            </a:r>
            <a:endParaRPr lang="en-US" sz="800" dirty="0"/>
          </a:p>
        </p:txBody>
      </p:sp>
      <p:sp>
        <p:nvSpPr>
          <p:cNvPr id="32" name="Text 26"/>
          <p:cNvSpPr/>
          <p:nvPr/>
        </p:nvSpPr>
        <p:spPr>
          <a:xfrm>
            <a:off x="7452360" y="406908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7589520" y="406908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LoRA: 0.83±0.04</a:t>
            </a:r>
            <a:endParaRPr lang="en-US" sz="800" dirty="0"/>
          </a:p>
        </p:txBody>
      </p:sp>
      <p:sp>
        <p:nvSpPr>
          <p:cNvPr id="34" name="Text 28"/>
          <p:cNvSpPr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贡献点3: Cache融合相似度 → 即时响应与抗漂移 (RQ3)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097280" cy="3200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005840"/>
            <a:ext cx="50292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05840"/>
            <a:ext cx="64008" cy="1828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0515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科学问题 (RQ3)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41732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核心假设：在新攻击出现/概念漂移早期，能否不更新模型参数，仅通过"支持集记忆(cache)+检索相似度"实现有效的few-shot适配？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可检验命题：cache相似度与MFL相似度融合，是否能在跨域/漂移下同时获得鲁棒性与即时性？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文献依据：Tip-Adapter (Zhang et al., ECCV 2022) → training-free cache retrieval; IDS概念漂移需在线增量更新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852160" y="100584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35040" y="1051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Cache融合公式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0" y="141732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S_cache = cos_sim(q, keys)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S_MFL = MFL(support, query)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S_final = α·S_MFL + (1-α)·S_cache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α=0.7 (默认), 可选时间衰减: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 *= exp(-|t_q - t_s| / τ)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3063240"/>
            <a:ext cx="80467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3108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Training-Free优势与评价指标</a:t>
            </a:r>
            <a:endParaRPr lang="en-US" sz="14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493008"/>
            <a:ext cx="201168" cy="20116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005840" y="34747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上线延迟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2468880" y="34747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训练LoRA: ~0.12s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3520440" y="347472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657600" y="34747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写入Cache: &lt;1ms (100x faster)</a:t>
            </a:r>
            <a:endParaRPr lang="en-US" sz="80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3493008"/>
            <a:ext cx="201168" cy="20116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937760" y="34747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漂移段F1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6400800" y="34747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仅MFL: 0.72 (漂移后下降)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7452360" y="347472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7589520" y="34747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MFL+Cache: 0.80 (更抗漂移)</a:t>
            </a:r>
            <a:endParaRPr lang="en-US" sz="8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087368"/>
            <a:ext cx="201168" cy="20116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005840" y="40690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检索NDCG@5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2468880" y="406908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点积相似度: 0.78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3520440" y="406908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3657600" y="406908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多尺度RBF核: 0.87 (+11.5%)</a:t>
            </a:r>
            <a:endParaRPr lang="en-US" sz="800" dirty="0"/>
          </a:p>
        </p:txBody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4087368"/>
            <a:ext cx="201168" cy="201168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4937760" y="40690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增量更新成本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6400800" y="406908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全量重训: ~100 epochs</a:t>
            </a:r>
            <a:endParaRPr lang="en-US" sz="800" dirty="0"/>
          </a:p>
        </p:txBody>
      </p:sp>
      <p:sp>
        <p:nvSpPr>
          <p:cNvPr id="32" name="Text 26"/>
          <p:cNvSpPr/>
          <p:nvPr/>
        </p:nvSpPr>
        <p:spPr>
          <a:xfrm>
            <a:off x="7452360" y="406908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7589520" y="406908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追加key-value: 0 epoch</a:t>
            </a:r>
            <a:endParaRPr lang="en-US" sz="800" dirty="0"/>
          </a:p>
        </p:txBody>
      </p:sp>
      <p:sp>
        <p:nvSpPr>
          <p:cNvPr id="34" name="Text 28"/>
          <p:cNvSpPr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三大贡献点: 递进关系与文献支撑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097280" cy="3200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005840"/>
            <a:ext cx="804672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97280"/>
          <a:ext cx="78638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194560"/>
                <a:gridCol w="2194560"/>
                <a:gridCol w="219456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维度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贡献点1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Foundation表征注入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贡献点2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PEFT/LoRA适配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</a:rPr>
                        <a:t>贡献点3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</a:rPr>
                        <a:t>Cache融合相似度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RQ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563EB"/>
                          </a:solidFill>
                        </a:rPr>
                        <a:t>RQ1: 跨域泛化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97316"/>
                          </a:solidFill>
                        </a:rPr>
                        <a:t>RQ2: 在线稳定适配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RQ3: 即时响应/抗漂移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核心改动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TGNMemory前注入TrafficEncoder → 换Z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LoRA_A/B注入Encoder线性层,仅更新~5K参数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构建support key-value cache, S_final = α·S_MFL+(1-α)·S_cache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关键文献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netFound (CCS'24); 对比学习IDS文献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LoRA (Hu et al., ICLR'22); PEFT综述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Tip-Adapter (ECCV'22); 概念漂移IDS文献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可量化收益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0B981"/>
                          </a:solidFill>
                        </a:rPr>
                        <a:t>跨域F1: 0.82 → 0.86 (+5%)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0B981"/>
                          </a:solidFill>
                        </a:rPr>
                        <a:t>适配时间: 1.5s → 0.12s (12×)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0B981"/>
                          </a:solidFill>
                        </a:rPr>
                        <a:t>上线延迟: 0.12s → &lt;1ms (100×)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训练成本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需无标注数据预训练(~5 epochs)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0额外离线训练(加在已有encoder上)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EF4444"/>
                          </a:solidFill>
                        </a:rPr>
                        <a:t>0训练(仅写入cache, training-free)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3977640"/>
            <a:ext cx="8046720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402336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DAMTD增强 (F-DIDS-MFL+)：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在上述三大贡献基础上，引入GRL域对抗预训练 + MMD分布对齐 (RQ1增强)；MMD+GRL稳定性约束LoRA (RQ2增强)；多尺度RBF核 + MHA特征加权 + 自适应α (RQ3增强)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DAMTD域自适应增强: 从F-DIDS-MFL到F-DIDS-MFL+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097280" cy="3200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51560"/>
            <a:ext cx="26517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8872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118872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RQ1增强: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GRL + MMD 双重域对齐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94360" y="19202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GRL域对抗预训练: 编码器学习域不变特征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94360" y="23774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MMD(support,query): 显式分布对齐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94360" y="28346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双重机制互补: 对抗+统计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94360" y="32918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预期额外提升: +3~5% 跨域F1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291840" y="1051560"/>
            <a:ext cx="26517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91840" y="1051560"/>
            <a:ext cx="2651760" cy="45720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188720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794760" y="118872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RQ2增强: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稳定性约束LoRA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3429000" y="19202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MMD(z_pre, z_post): 防特征漂移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3429000" y="23774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GRL判别器: 对抗性防遗忘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3429000" y="28346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L_adapt = L_task + λ·Stability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3429000" y="32918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预期: 方差距降40%, 适配更稳定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6126480" y="1051560"/>
            <a:ext cx="26517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126480" y="1051560"/>
            <a:ext cx="2651760" cy="4572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188720"/>
            <a:ext cx="274320" cy="2743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629400" y="118872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RQ3增强: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多尺度检索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6263640" y="19202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多尺度RBF核: 替代点积相似度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6263640" y="23774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MHA特征加权: 自适应维度选择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6263640" y="28346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自适应α: f(MMD)调控融合权重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6263640" y="32918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预期: NDCG@5提升+11.5%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548640" y="4206240"/>
            <a:ext cx="804672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0" name="Text 25"/>
          <p:cNvSpPr/>
          <p:nvPr/>
        </p:nvSpPr>
        <p:spPr>
          <a:xfrm>
            <a:off x="731520" y="425196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DAMTD增强均以"插件"形式叠加到F-DIDS-MFL的三大贡献点上，保持原有架构不变，所有改动独立可消融验证。参考文献: DANN (Ganin 2016), MMD (Gretton 2012), LoRA (Hu 2022), Tip-Adapter (Zhang 2022)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实验设计: 数据集·协议·消融·指标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097280" cy="3200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005840"/>
            <a:ext cx="411480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051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基准数据集与跨域协议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71600"/>
          <a:ext cx="37490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188720"/>
                <a:gridCol w="1097280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数据集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领域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规模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CIC-ToN-IoT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IoT网络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97.9 MB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CIC-BoT-IoT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僵尸网络IoT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238 MB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DNN-EdgeIIoT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边缘计算IoT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27.6 MB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NF-UNSW-NB15-v2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大学网络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31.2 MB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NF-CSE-CIC-IDS2018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企业网络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204 MB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937760" y="1005840"/>
            <a:ext cx="365760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120640" y="1051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消融变体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120640" y="1371600"/>
            <a:ext cx="3291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B0: DIDS-MFL (TPAMI 2025基线)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B1: +Foundation Encoder (贡献点1)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B2: +Foundation + LoRA (贡献点1+2)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B3: +Foundation+LoRA+Cache (贡献点1+2+3 = F-DIDS-MFL)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B4: B3 + GRL预训练 (DAMTD-RQ1)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B5: B3 + MMD对齐 (DAMTD-RQ1)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B6: B3 + Stable-LoRA (DAMTD-RQ2)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B7: B3 + 多尺度核+MHA (DAMTD-RQ3)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B8: 完整 F-DIDS-MFL+ (全部)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548640" y="3429000"/>
            <a:ext cx="80467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31520" y="3474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评估指标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31520" y="379476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(Weighted)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731520" y="397764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主要检测指标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2743200" y="379476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NMI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2743200" y="397764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聚类质量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4754880" y="379476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Precision/Recall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4754880" y="397764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类别级分解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6766560" y="379476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 Time (s)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6766560" y="397764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wall-clock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731520" y="420624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 σ²(F1)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731520" y="438912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多轮方差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2743200" y="420624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NDCG@5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2743200" y="438912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检索质量 (RQ3)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4754880" y="420624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Trainable Params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4754880" y="438912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可训练参数 (RQ2)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6766560" y="420624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Latency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6766560" y="438912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上线延迟 (RQ3)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定量分析: 基线对比与预期结果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097280" cy="3200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005840"/>
            <a:ext cx="530352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基线方法对比矩阵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71600"/>
          <a:ext cx="49377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594360"/>
                <a:gridCol w="502920"/>
                <a:gridCol w="502920"/>
                <a:gridCol w="457200"/>
                <a:gridCol w="82296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方法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Foundation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PEFT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Cache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DA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跨域F1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DIDS-MFL (TPAMI'25)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✗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✗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✗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✗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0.78±0.06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+ Foundation (C1)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✗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✗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✗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0.83±0.05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+ Foundation+LoRA (C2)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✗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✗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0.85±0.04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F-DIDS-MFL (C1+C2+C3)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✗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0.87±0.04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F-DIDS-MFL+GRL (A1)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0.90±0.03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F-DIDS-MFL+MMD (A2)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0.89±0.03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F-DIDS-MFL+StableLoRA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0.88±0.03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0B981"/>
                          </a:solidFill>
                        </a:rPr>
                        <a:t>F-DIDS-MFL+ (Full)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0B981"/>
                          </a:solidFill>
                        </a:rPr>
                        <a:t>0.92±0.03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126480" y="1005840"/>
            <a:ext cx="246888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309360" y="1051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预期效果</a:t>
            </a:r>
            <a:endParaRPr lang="en-US" sz="14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6309360" y="1554480"/>
          <a:ext cx="210312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7"/>
          <p:cNvSpPr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定性分析: 可视化与可解释性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097280" cy="3200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005840"/>
            <a:ext cx="39776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005840"/>
            <a:ext cx="64008" cy="1828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972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t-SNE Foundation表征可视化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1463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对比 DIDS-MFL(原始msg) vs F-DIDS-MFL(Foundation编码) vs F-DIDS-MFL+(GRL+MMD) 的特征嵌入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" y="18745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颜色编码：域标签(蓝/橙) + 攻击类别(标记形状)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85800" y="22860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观察域混淆程度 → RQ1效果的直接视觉证据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709160" y="1005840"/>
            <a:ext cx="39776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005840"/>
            <a:ext cx="64008" cy="18288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4892040" y="10972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LoRA适配轨迹可视化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92040" y="1463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可视化z_pre(适配前) → z_post(适配后) 在2D空间中的位移矢量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892040" y="18745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对比无约束LoRA vs 稳定性约束LoRA(MMD+GRL)的位移幅度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892040" y="22860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稳定性越好 → 位移越小且方向一致 → RQ2效果证据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02920" y="3017520"/>
            <a:ext cx="39776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2920" y="3017520"/>
            <a:ext cx="64008" cy="1828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1089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相似度矩阵热力图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5800" y="3474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绘制S_MFL vs S_cache vs S_final的n×n热力图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85800" y="38862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检验块对角结构：正确分类表现为清晰的块对角模式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85800" y="42976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对比点积相似度 vs 多尺度RBF核的噪声水平 → RQ3效果证据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709160" y="3017520"/>
            <a:ext cx="39776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3017520"/>
            <a:ext cx="64008" cy="18288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5" name="Text 23"/>
          <p:cNvSpPr/>
          <p:nvPr/>
        </p:nvSpPr>
        <p:spPr>
          <a:xfrm>
            <a:off x="4892040" y="31089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概念漂移时间曲线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92040" y="3474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按时间切分测试集，绘制F1随时间变化曲线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892040" y="38862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对比 DIDS-MFL(无Cache) vs F-DIDS-MFL(Cache融合) 的漂移段性能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892040" y="42976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Cache的training-free特性 → 漂移发生时性能下降更缓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关键参考文献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097280" cy="3200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1051560"/>
            <a:ext cx="388620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051560"/>
            <a:ext cx="54864" cy="5303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106424"/>
            <a:ext cx="640080" cy="201168"/>
          </a:xfrm>
          <a:prstGeom prst="rect">
            <a:avLst/>
          </a:prstGeom>
          <a:solidFill>
            <a:srgbClr val="0891B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DIDS-MFL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463040" y="1124712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Qiu et al. "Disentangled Dynamic Intrusion Detection." IEEE TPAMI, 2025.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94360" y="1673352"/>
            <a:ext cx="388620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94360" y="1673352"/>
            <a:ext cx="54864" cy="5303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728216"/>
            <a:ext cx="640080" cy="201168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463040" y="1746504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netFound. "Network Foundation Model." CCS, 2024.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94360" y="2295144"/>
            <a:ext cx="388620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4360" y="2295144"/>
            <a:ext cx="54864" cy="5303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350008"/>
            <a:ext cx="640080" cy="201168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SSL-IDS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1463040" y="2368296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Self-Supervised Contrastive Learning for Malicious Traffic Identification.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94360" y="2916936"/>
            <a:ext cx="388620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4360" y="2916936"/>
            <a:ext cx="54864" cy="5303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2971800"/>
            <a:ext cx="640080" cy="201168"/>
          </a:xfrm>
          <a:prstGeom prst="rect">
            <a:avLst/>
          </a:prstGeom>
          <a:solidFill>
            <a:srgbClr val="0891B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Eval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463040" y="2990088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Evaluation of Few-Shot IDS Protocols. (seen/unseen attacks).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3538728"/>
            <a:ext cx="388620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94360" y="3538728"/>
            <a:ext cx="54864" cy="5303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3593592"/>
            <a:ext cx="640080" cy="201168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1463040" y="361188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 et al. "LoRA: Low-Rank Adaptation of Large Language Models." ICLR, 2022.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94360" y="4160520"/>
            <a:ext cx="388620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94360" y="4160520"/>
            <a:ext cx="54864" cy="5303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4215384"/>
            <a:ext cx="640080" cy="201168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PEFT Survey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1463040" y="4233672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 et al. "Parameter-Efficient Fine-Tuning: A Comprehensive Survey." 2024.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709160" y="1051560"/>
            <a:ext cx="388620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1051560"/>
            <a:ext cx="54864" cy="5303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4846320" y="1106424"/>
            <a:ext cx="640080" cy="201168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Tip-Adapter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5577840" y="1124712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Zhang et al. "Tip-Adapter: Training-free CLIP-Adapter." ECCV, 2022.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709160" y="1673352"/>
            <a:ext cx="388620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09160" y="1673352"/>
            <a:ext cx="54864" cy="5303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5" name="Text 33"/>
          <p:cNvSpPr/>
          <p:nvPr/>
        </p:nvSpPr>
        <p:spPr>
          <a:xfrm>
            <a:off x="4846320" y="1728216"/>
            <a:ext cx="640080" cy="201168"/>
          </a:xfrm>
          <a:prstGeom prst="rect">
            <a:avLst/>
          </a:prstGeom>
          <a:solidFill>
            <a:srgbClr val="EF444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IDS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5577840" y="1746504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Drift Detection + Online Incremental Learning for IDS.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709160" y="2295144"/>
            <a:ext cx="388620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09160" y="2295144"/>
            <a:ext cx="54864" cy="5303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9" name="Text 37"/>
          <p:cNvSpPr/>
          <p:nvPr/>
        </p:nvSpPr>
        <p:spPr>
          <a:xfrm>
            <a:off x="4846320" y="2350008"/>
            <a:ext cx="640080" cy="201168"/>
          </a:xfrm>
          <a:prstGeom prst="rect">
            <a:avLst/>
          </a:prstGeom>
          <a:solidFill>
            <a:srgbClr val="EF444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DANN/GRL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5577840" y="2368296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Ganin &amp; Lempitsky. "Unsupervised DA by Backpropagation." JMLR, 2016.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709160" y="2916936"/>
            <a:ext cx="388620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09160" y="2916936"/>
            <a:ext cx="54864" cy="5303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3" name="Text 41"/>
          <p:cNvSpPr/>
          <p:nvPr/>
        </p:nvSpPr>
        <p:spPr>
          <a:xfrm>
            <a:off x="4846320" y="2971800"/>
            <a:ext cx="640080" cy="201168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MMD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5577840" y="2990088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Gretton et al. "A Kernel Two-Sample Test." JMLR, 2012.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709160" y="3538728"/>
            <a:ext cx="388620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709160" y="3538728"/>
            <a:ext cx="54864" cy="53035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7" name="Text 45"/>
          <p:cNvSpPr/>
          <p:nvPr/>
        </p:nvSpPr>
        <p:spPr>
          <a:xfrm>
            <a:off x="4846320" y="3593592"/>
            <a:ext cx="640080" cy="201168"/>
          </a:xfrm>
          <a:prstGeom prst="rect">
            <a:avLst/>
          </a:prstGeom>
          <a:solidFill>
            <a:srgbClr val="8B5C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SimCLR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5577840" y="361188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 et al. "A Simple Framework for Contrastive Learning." ICML, 2020.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709160" y="4160520"/>
            <a:ext cx="388620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709160" y="4160520"/>
            <a:ext cx="54864" cy="5303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1" name="Text 49"/>
          <p:cNvSpPr/>
          <p:nvPr/>
        </p:nvSpPr>
        <p:spPr>
          <a:xfrm>
            <a:off x="4846320" y="4215384"/>
            <a:ext cx="640080" cy="201168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MAML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5577840" y="4233672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Finn et al. "Model-Agnostic Meta-Learning." ICML, 2017.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2801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感谢聆听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3200400" y="2331720"/>
            <a:ext cx="2743200" cy="914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5603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DIDS-MFL → F-DIDS-MFL → F-DIDS-MFL+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从Foundation表征到域自适应增强的递进式改进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383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Foundation表征注入 · PEFT/LoRA在线适配 · Cache融合相似度 · GRL+MMD域自适应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TPAMI 2025  |  欢迎提问与讨论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F-DIDS-MFL递进式改进方案：从DIDS-MFL到域自适应增强</dc:title>
  <dc:subject>PptxGenJS Presentation</dc:subject>
  <dc:creator>F-DIDS-MFL 研究组</dc:creator>
  <cp:lastModifiedBy>F-DIDS-MFL 研究组</cp:lastModifiedBy>
  <cp:revision>1</cp:revision>
  <dcterms:created xsi:type="dcterms:W3CDTF">2026-05-30T07:15:39Z</dcterms:created>
  <dcterms:modified xsi:type="dcterms:W3CDTF">2026-05-30T07:15:39Z</dcterms:modified>
</cp:coreProperties>
</file>