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7D12A"/>
          </a:solidFill>
          <a:ln w="12700">
            <a:solidFill>
              <a:srgbClr val="B7D12A"/>
            </a:solidFill>
            <a:prstDash val="solid"/>
          </a:ln>
        </p:spPr>
      </p:sp>
      <p:pic>
        <p:nvPicPr>
          <p:cNvPr id="3" name="Image 0" descr="F:\泉城实验室\二期\论文\异常检测\综合分析\generated_assets\ai_detection_architecture_imageg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0"/>
            <a:ext cx="601675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669280" y="0"/>
            <a:ext cx="6583680" cy="6858000"/>
          </a:xfrm>
          <a:prstGeom prst="rect">
            <a:avLst/>
          </a:prstGeom>
          <a:solidFill>
            <a:srgbClr val="17212B">
              <a:alpha val="76000"/>
            </a:srgbClr>
          </a:solidFill>
          <a:ln w="12700">
            <a:solidFill>
              <a:srgbClr val="17212B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14300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园区网络流量智能检测与分析专题汇报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49808" y="2514600"/>
            <a:ext cx="5440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DCE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从全流量采集分析平台到 AI 驱动检测、论文代码复用与验收证据闭环</a:t>
            </a:r>
            <a:endParaRPr lang="en-US" sz="1420" dirty="0"/>
          </a:p>
        </p:txBody>
      </p:sp>
      <p:sp>
        <p:nvSpPr>
          <p:cNvPr id="7" name="Shape 4"/>
          <p:cNvSpPr/>
          <p:nvPr/>
        </p:nvSpPr>
        <p:spPr>
          <a:xfrm>
            <a:off x="822960" y="3657600"/>
            <a:ext cx="5166360" cy="438912"/>
          </a:xfrm>
          <a:prstGeom prst="rect">
            <a:avLst/>
          </a:prstGeom>
          <a:solidFill>
            <a:srgbClr val="1B2A34"/>
          </a:solidFill>
          <a:ln w="8890">
            <a:solidFill>
              <a:srgbClr val="2A455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3657600"/>
            <a:ext cx="73152" cy="43891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3803904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B7D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远程系统</a:t>
            </a:r>
            <a:endParaRPr lang="en-US" sz="970" dirty="0"/>
          </a:p>
        </p:txBody>
      </p:sp>
      <p:sp>
        <p:nvSpPr>
          <p:cNvPr id="10" name="Text 7"/>
          <p:cNvSpPr/>
          <p:nvPr/>
        </p:nvSpPr>
        <p:spPr>
          <a:xfrm>
            <a:off x="1024128" y="4133088"/>
            <a:ext cx="483717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CE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/home/wangwt/phase_2/code/traffic-analysis-platform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822960" y="4315968"/>
            <a:ext cx="5166360" cy="438912"/>
          </a:xfrm>
          <a:prstGeom prst="rect">
            <a:avLst/>
          </a:prstGeom>
          <a:solidFill>
            <a:srgbClr val="1B2A34"/>
          </a:solidFill>
          <a:ln w="8890">
            <a:solidFill>
              <a:srgbClr val="2A455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4315968"/>
            <a:ext cx="73152" cy="438912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24128" y="4462272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资料基线</a:t>
            </a:r>
            <a:endParaRPr lang="en-US" sz="970" dirty="0"/>
          </a:p>
        </p:txBody>
      </p:sp>
      <p:sp>
        <p:nvSpPr>
          <p:cNvPr id="14" name="Text 11"/>
          <p:cNvSpPr/>
          <p:nvPr/>
        </p:nvSpPr>
        <p:spPr>
          <a:xfrm>
            <a:off x="1024128" y="4791456"/>
            <a:ext cx="483717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CE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858 篇论文 + 145 条代码候选 + 127 个已下载仓库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822960" y="4974336"/>
            <a:ext cx="5166360" cy="438912"/>
          </a:xfrm>
          <a:prstGeom prst="rect">
            <a:avLst/>
          </a:prstGeom>
          <a:solidFill>
            <a:srgbClr val="1B2A34"/>
          </a:solidFill>
          <a:ln w="8890">
            <a:solidFill>
              <a:srgbClr val="2A455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" y="4974336"/>
            <a:ext cx="73152" cy="438912"/>
          </a:xfrm>
          <a:prstGeom prst="rect">
            <a:avLst/>
          </a:prstGeom>
          <a:solidFill>
            <a:srgbClr val="D89614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24128" y="5120640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生成资产</a:t>
            </a:r>
            <a:endParaRPr lang="en-US" sz="970" dirty="0"/>
          </a:p>
        </p:txBody>
      </p:sp>
      <p:sp>
        <p:nvSpPr>
          <p:cNvPr id="18" name="Text 15"/>
          <p:cNvSpPr/>
          <p:nvPr/>
        </p:nvSpPr>
        <p:spPr>
          <a:xfrm>
            <a:off x="1024128" y="5449824"/>
            <a:ext cx="483717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CE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产品架构 / 技术架构 / 部署拓扑 / AI 检测实现底图</a:t>
            </a:r>
            <a:endParaRPr lang="en-US" sz="940" dirty="0"/>
          </a:p>
        </p:txBody>
      </p:sp>
      <p:sp>
        <p:nvSpPr>
          <p:cNvPr id="19" name="Text 16"/>
          <p:cNvSpPr/>
          <p:nvPr/>
        </p:nvSpPr>
        <p:spPr>
          <a:xfrm>
            <a:off x="411480" y="651052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9BD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园区网络流量智能检测与分析专题汇报 | 数据来源：远程 traffic-analysis-platform + 本地 858 篇论文/代码分析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11292840" y="64556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9BD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汇报结论：这是一个“可运营、可学习、可验收”的全流量安全闭环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49808" y="1325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87E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858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49808" y="1920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已分析论文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2331720" y="1325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E85D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439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2331720" y="19202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强相关论文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4069080" y="13258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6557D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127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4069080" y="19202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本地可用代码仓库记录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6400800" y="1325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F6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6400800" y="19202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 Ready 节点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8138160" y="1325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D8961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8138160" y="19202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traffic-analysis Running Pods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49808" y="2633472"/>
            <a:ext cx="3429000" cy="19202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2633472"/>
            <a:ext cx="73152" cy="192024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2779776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系统真实主链路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950976" y="3108960"/>
            <a:ext cx="3099816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Rust Probe -&gt; Ingest Gateway -&gt; Kafka -&gt; Flink -&gt; 多存储 -&gt; Go APIs -&gt; Web UI -&gt; 反馈/MLOps。远程代码和 K8s 清单均可追踪。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07408" y="2633472"/>
            <a:ext cx="3429000" cy="19202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07408" y="2633472"/>
            <a:ext cx="73152" cy="1920240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8576" y="2779776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检测落点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4608576" y="3108960"/>
            <a:ext cx="3099816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当前工程已有规则、行为、CEP、告警、反馈和 XGBoost/LightGBM MLOps；DA-FDIDS 等论文模型应作为插件化增强接入。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8065008" y="2633472"/>
            <a:ext cx="3429000" cy="19202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65008" y="2633472"/>
            <a:ext cx="73152" cy="1920240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66176" y="2779776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汇报口径边界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8266176" y="3108960"/>
            <a:ext cx="3099816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功能链路具备强证据；10x100Gbps、512Mpps、P95&lt;=60s、95%准确率/误报率&lt;5%仍需专项验收和第三方盲测。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987552" y="5257800"/>
            <a:ext cx="10287000" cy="621792"/>
          </a:xfrm>
          <a:prstGeom prst="rect">
            <a:avLst/>
          </a:prstGeom>
          <a:solidFill>
            <a:srgbClr val="17212B"/>
          </a:solidFill>
          <a:ln w="8890">
            <a:solidFill>
              <a:srgbClr val="1721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7552" y="5257800"/>
            <a:ext cx="73152" cy="621792"/>
          </a:xfrm>
          <a:prstGeom prst="rect">
            <a:avLst/>
          </a:prstGeom>
          <a:solidFill>
            <a:srgbClr val="B7D12A"/>
          </a:solidFill>
          <a:ln w="12700">
            <a:solidFill>
              <a:srgbClr val="B7D1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8720" y="5404104"/>
            <a:ext cx="9957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B7D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最终呈现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1188720" y="5733288"/>
            <a:ext cx="99578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一套真实可演示的园区全流量采集分析平台 + 一条可解释、可反馈、可灰度发布的 AI 检测闭环 + 一份可复测的论文/代码/模型/验收证据包。</a:t>
            </a:r>
            <a:endParaRPr lang="en-US" sz="1160" dirty="0"/>
          </a:p>
        </p:txBody>
      </p:sp>
      <p:sp>
        <p:nvSpPr>
          <p:cNvPr id="31" name="Text 29"/>
          <p:cNvSpPr/>
          <p:nvPr/>
        </p:nvSpPr>
        <p:spPr>
          <a:xfrm>
            <a:off x="411480" y="651052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园区网络流量智能检测与分析专题汇报 | 数据来源：远程 traffic-analysis-platform + 本地 858 篇论文/代码分析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11292840" y="64556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汇报结构：先讲系统，再讲 AI，再讲论文代码如何转化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41248" y="1325880"/>
            <a:ext cx="10469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527048"/>
            <a:ext cx="530352" cy="27432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604772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828800" y="14904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系统整体介绍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86200" y="1490472"/>
            <a:ext cx="6720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定位、产品能力、业务闭环、当前工程证据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841248" y="2286000"/>
            <a:ext cx="10469880" cy="685800"/>
          </a:xfrm>
          <a:prstGeom prst="rect">
            <a:avLst/>
          </a:prstGeom>
          <a:solidFill>
            <a:srgbClr val="EEF6F5"/>
          </a:solidFill>
          <a:ln w="12700">
            <a:solidFill>
              <a:srgbClr val="D8E1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2487168"/>
            <a:ext cx="530352" cy="274320"/>
          </a:xfrm>
          <a:prstGeom prst="rect">
            <a:avLst/>
          </a:prstGeom>
          <a:solidFill>
            <a:srgbClr val="6557D2"/>
          </a:solidFill>
          <a:ln w="6350">
            <a:solidFill>
              <a:srgbClr val="6557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2564892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28800" y="24505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真实架构拆解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86200" y="2450592"/>
            <a:ext cx="6720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产品架构、技术架构、部署拓扑、核心实现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841248" y="3246120"/>
            <a:ext cx="10469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3447288"/>
            <a:ext cx="530352" cy="274320"/>
          </a:xfrm>
          <a:prstGeom prst="rect">
            <a:avLst/>
          </a:prstGeom>
          <a:solidFill>
            <a:srgbClr val="E85D3D"/>
          </a:solidFill>
          <a:ln w="6350">
            <a:solidFill>
              <a:srgbClr val="E85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3525012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28800" y="34107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检测实现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86200" y="3410712"/>
            <a:ext cx="6720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流式推理、图/开放集增强、反馈学习、MLOps 热更新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841248" y="4206240"/>
            <a:ext cx="10469880" cy="685800"/>
          </a:xfrm>
          <a:prstGeom prst="rect">
            <a:avLst/>
          </a:prstGeom>
          <a:solidFill>
            <a:srgbClr val="EEF6F5"/>
          </a:solidFill>
          <a:ln w="12700">
            <a:solidFill>
              <a:srgbClr val="D8E1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1560" y="4407408"/>
            <a:ext cx="530352" cy="274320"/>
          </a:xfrm>
          <a:prstGeom prst="rect">
            <a:avLst/>
          </a:prstGeom>
          <a:solidFill>
            <a:srgbClr val="D89614"/>
          </a:solidFill>
          <a:ln w="6350">
            <a:solidFill>
              <a:srgbClr val="D896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4485132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828800" y="43708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858 篇论文与代码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86200" y="4370832"/>
            <a:ext cx="6720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研究地图、强相关优先级、开源代码复用路线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841248" y="5166360"/>
            <a:ext cx="10469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1560" y="5367528"/>
            <a:ext cx="530352" cy="274320"/>
          </a:xfrm>
          <a:prstGeom prst="rect">
            <a:avLst/>
          </a:prstGeom>
          <a:solidFill>
            <a:srgbClr val="2F6BFF"/>
          </a:solidFill>
          <a:ln w="6350">
            <a:solidFill>
              <a:srgbClr val="2F6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15568" y="5445252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28800" y="53309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最终交付形态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86200" y="5330952"/>
            <a:ext cx="6720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演示系统、算法插件、论文专利、验收证据与路线图</a:t>
            </a:r>
            <a:endParaRPr lang="en-US" sz="1130" dirty="0"/>
          </a:p>
        </p:txBody>
      </p:sp>
      <p:sp>
        <p:nvSpPr>
          <p:cNvPr id="30" name="Text 28"/>
          <p:cNvSpPr/>
          <p:nvPr/>
        </p:nvSpPr>
        <p:spPr>
          <a:xfrm>
            <a:off x="411480" y="651052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园区网络流量智能检测与分析专题汇报 | 数据来源：远程 traffic-analysis-platform + 本地 858 篇论文/代码分析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11292840" y="64556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POSITIONING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系统定位：不是抓包工具，而是园区全流量安全运营闭环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75488" y="1417320"/>
            <a:ext cx="1005840" cy="27432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1495044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全流量可见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1517904" y="1554480"/>
            <a:ext cx="292608" cy="0"/>
          </a:xfrm>
          <a:prstGeom prst="line">
            <a:avLst/>
          </a:prstGeom>
          <a:noFill/>
          <a:ln w="1524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892808" y="1417320"/>
            <a:ext cx="1005840" cy="274320"/>
          </a:xfrm>
          <a:prstGeom prst="rect">
            <a:avLst/>
          </a:prstGeom>
          <a:solidFill>
            <a:srgbClr val="2F6BFF"/>
          </a:solidFill>
          <a:ln w="6350">
            <a:solidFill>
              <a:srgbClr val="2F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56816" y="1495044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多源融合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2935224" y="1554480"/>
            <a:ext cx="292608" cy="0"/>
          </a:xfrm>
          <a:prstGeom prst="line">
            <a:avLst/>
          </a:prstGeom>
          <a:noFill/>
          <a:ln w="1524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10128" y="1417320"/>
            <a:ext cx="1005840" cy="274320"/>
          </a:xfrm>
          <a:prstGeom prst="rect">
            <a:avLst/>
          </a:prstGeom>
          <a:solidFill>
            <a:srgbClr val="6557D2"/>
          </a:solidFill>
          <a:ln w="6350">
            <a:solidFill>
              <a:srgbClr val="6557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74136" y="1495044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智能检测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352544" y="1554480"/>
            <a:ext cx="292608" cy="0"/>
          </a:xfrm>
          <a:prstGeom prst="line">
            <a:avLst/>
          </a:prstGeom>
          <a:noFill/>
          <a:ln w="1524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727448" y="1417320"/>
            <a:ext cx="1005840" cy="274320"/>
          </a:xfrm>
          <a:prstGeom prst="rect">
            <a:avLst/>
          </a:prstGeom>
          <a:solidFill>
            <a:srgbClr val="E85D3D"/>
          </a:solidFill>
          <a:ln w="6350">
            <a:solidFill>
              <a:srgbClr val="E85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91456" y="1495044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告警研判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5769864" y="1554480"/>
            <a:ext cx="292608" cy="0"/>
          </a:xfrm>
          <a:prstGeom prst="line">
            <a:avLst/>
          </a:prstGeom>
          <a:noFill/>
          <a:ln w="1524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44768" y="1417320"/>
            <a:ext cx="1234440" cy="274320"/>
          </a:xfrm>
          <a:prstGeom prst="rect">
            <a:avLst/>
          </a:prstGeom>
          <a:solidFill>
            <a:srgbClr val="D89614"/>
          </a:solidFill>
          <a:ln w="6350">
            <a:solidFill>
              <a:srgbClr val="D896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08776" y="1495044"/>
            <a:ext cx="11064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PCAP/图谱取证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7415784" y="1554480"/>
            <a:ext cx="292608" cy="0"/>
          </a:xfrm>
          <a:prstGeom prst="line">
            <a:avLst/>
          </a:prstGeom>
          <a:noFill/>
          <a:ln w="1524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562088" y="1417320"/>
            <a:ext cx="1005840" cy="274320"/>
          </a:xfrm>
          <a:prstGeom prst="rect">
            <a:avLst/>
          </a:prstGeom>
          <a:solidFill>
            <a:srgbClr val="00A3A3"/>
          </a:solidFill>
          <a:ln w="6350">
            <a:solidFill>
              <a:srgbClr val="00A3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6096" y="1495044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反馈学习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8604504" y="1554480"/>
            <a:ext cx="292608" cy="0"/>
          </a:xfrm>
          <a:prstGeom prst="line">
            <a:avLst/>
          </a:prstGeom>
          <a:noFill/>
          <a:ln w="1524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979408" y="1417320"/>
            <a:ext cx="1234440" cy="274320"/>
          </a:xfrm>
          <a:prstGeom prst="rect">
            <a:avLst/>
          </a:prstGeom>
          <a:solidFill>
            <a:srgbClr val="B7D12A"/>
          </a:solidFill>
          <a:ln w="6350">
            <a:solidFill>
              <a:srgbClr val="B7D1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43416" y="1495044"/>
            <a:ext cx="11064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规则/模型治理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10250424" y="1554480"/>
            <a:ext cx="292608" cy="0"/>
          </a:xfrm>
          <a:prstGeom prst="line">
            <a:avLst/>
          </a:prstGeom>
          <a:noFill/>
          <a:ln w="1524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396728" y="1417320"/>
            <a:ext cx="1005840" cy="274320"/>
          </a:xfrm>
          <a:prstGeom prst="rect">
            <a:avLst/>
          </a:prstGeom>
          <a:solidFill>
            <a:srgbClr val="111827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60736" y="1495044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验收证据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85800" y="2487168"/>
            <a:ext cx="3200400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" y="2487168"/>
            <a:ext cx="73152" cy="107899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" y="2633472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高带宽看不清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886968" y="2962656"/>
            <a:ext cx="287121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探针、会话化、流量态势、采集健康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62272" y="2487168"/>
            <a:ext cx="3200400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62272" y="2487168"/>
            <a:ext cx="73152" cy="1078992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2633472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告警多而不准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4663440" y="2962656"/>
            <a:ext cx="287121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 + 行为模型 + CEP + 多源上下文 + 反馈学习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38744" y="2487168"/>
            <a:ext cx="3200400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38744" y="2487168"/>
            <a:ext cx="73152" cy="1078992"/>
          </a:xfrm>
          <a:prstGeom prst="rect">
            <a:avLst/>
          </a:prstGeom>
          <a:solidFill>
            <a:srgbClr val="D89614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39912" y="2633472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证据难回放</a:t>
            </a:r>
            <a:endParaRPr lang="en-US" sz="1220" dirty="0"/>
          </a:p>
        </p:txBody>
      </p:sp>
      <p:sp>
        <p:nvSpPr>
          <p:cNvPr id="39" name="Text 37"/>
          <p:cNvSpPr/>
          <p:nvPr/>
        </p:nvSpPr>
        <p:spPr>
          <a:xfrm>
            <a:off x="8439912" y="2962656"/>
            <a:ext cx="287121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Evidence、PCAP 索引/裁剪、对象 hash、下载审计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5800" y="4343400"/>
            <a:ext cx="3200400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5800" y="4343400"/>
            <a:ext cx="73152" cy="1078992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6968" y="4489704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关联依赖专家</a:t>
            </a:r>
            <a:endParaRPr lang="en-US" sz="1220" dirty="0"/>
          </a:p>
        </p:txBody>
      </p:sp>
      <p:sp>
        <p:nvSpPr>
          <p:cNvPr id="43" name="Text 41"/>
          <p:cNvSpPr/>
          <p:nvPr/>
        </p:nvSpPr>
        <p:spPr>
          <a:xfrm>
            <a:off x="886968" y="4818888"/>
            <a:ext cx="287121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攻击链、实体图谱、资产/用户/日志上下文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462272" y="4343400"/>
            <a:ext cx="3200400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462272" y="4343400"/>
            <a:ext cx="73152" cy="107899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4489704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验收难闭环</a:t>
            </a:r>
            <a:endParaRPr lang="en-US" sz="1220" dirty="0"/>
          </a:p>
        </p:txBody>
      </p:sp>
      <p:sp>
        <p:nvSpPr>
          <p:cNvPr id="47" name="Text 45"/>
          <p:cNvSpPr/>
          <p:nvPr/>
        </p:nvSpPr>
        <p:spPr>
          <a:xfrm>
            <a:off x="4663440" y="4818888"/>
            <a:ext cx="287121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指标追溯、证据包、试点材料、第三方测试口径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11480" y="651052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园区网络流量智能检测与分析专题汇报 | 数据来源：远程 traffic-analysis-platform + 本地 858 篇论文/代码分析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11292840" y="64556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泉城实验室\二期\论文\异常检测\综合分析\generated_assets\product_architecture_imageg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23160" y="25603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园区网络全流量采集与分析系统产品架构图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310896" y="841248"/>
            <a:ext cx="1645920" cy="402336"/>
          </a:xfrm>
          <a:prstGeom prst="rect">
            <a:avLst/>
          </a:prstGeom>
          <a:solidFill>
            <a:srgbClr val="17212B"/>
          </a:solidFill>
          <a:ln w="6350">
            <a:solidFill>
              <a:srgbClr val="1721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74904" y="965972"/>
            <a:ext cx="1517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园区网络 / TAP-SPAN / 终端与服务器</a:t>
            </a:r>
            <a:endParaRPr lang="en-US" sz="780" dirty="0"/>
          </a:p>
        </p:txBody>
      </p:sp>
      <p:sp>
        <p:nvSpPr>
          <p:cNvPr id="6" name="Shape 3"/>
          <p:cNvSpPr/>
          <p:nvPr/>
        </p:nvSpPr>
        <p:spPr>
          <a:xfrm>
            <a:off x="2240280" y="2423160"/>
            <a:ext cx="987552" cy="27432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304288" y="2500884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采集接入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4160520" y="187452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综合态势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114800" y="2185416"/>
            <a:ext cx="11704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Dashboard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态势大屏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专题入口</a:t>
            </a:r>
            <a:endParaRPr lang="en-US" sz="820" dirty="0"/>
          </a:p>
        </p:txBody>
      </p:sp>
      <p:sp>
        <p:nvSpPr>
          <p:cNvPr id="10" name="Text 7"/>
          <p:cNvSpPr/>
          <p:nvPr/>
        </p:nvSpPr>
        <p:spPr>
          <a:xfrm>
            <a:off x="5897880" y="187452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采集监测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852160" y="2185416"/>
            <a:ext cx="11704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探针健康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链路延迟</a:t>
            </a:r>
            <a:endParaRPr lang="en-US" sz="820" dirty="0"/>
          </a:p>
        </p:txBody>
      </p:sp>
      <p:sp>
        <p:nvSpPr>
          <p:cNvPr id="12" name="Text 9"/>
          <p:cNvSpPr/>
          <p:nvPr/>
        </p:nvSpPr>
        <p:spPr>
          <a:xfrm>
            <a:off x="7635240" y="187452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威胁分析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589520" y="2185416"/>
            <a:ext cx="11704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告警中心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攻击链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加密专题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4160520" y="38862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资产图谱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114800" y="4197096"/>
            <a:ext cx="11704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资产台账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通信关系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基线画像</a:t>
            </a: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5897880" y="38862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检测运营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852160" y="4197096"/>
            <a:ext cx="11704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规则/模型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MLOps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7635240" y="38862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审计配置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589520" y="4197096"/>
            <a:ext cx="11704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合规审计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通知策略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系统治理</a:t>
            </a:r>
            <a:endParaRPr lang="en-US" sz="820" dirty="0"/>
          </a:p>
        </p:txBody>
      </p:sp>
      <p:sp>
        <p:nvSpPr>
          <p:cNvPr id="20" name="Shape 17"/>
          <p:cNvSpPr/>
          <p:nvPr/>
        </p:nvSpPr>
        <p:spPr>
          <a:xfrm>
            <a:off x="2423160" y="5532120"/>
            <a:ext cx="841248" cy="27432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487168" y="5609844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全流量可见</a:t>
            </a:r>
            <a:endParaRPr lang="en-US" sz="730" dirty="0"/>
          </a:p>
        </p:txBody>
      </p:sp>
      <p:sp>
        <p:nvSpPr>
          <p:cNvPr id="22" name="Shape 19"/>
          <p:cNvSpPr/>
          <p:nvPr/>
        </p:nvSpPr>
        <p:spPr>
          <a:xfrm>
            <a:off x="3483864" y="5532120"/>
            <a:ext cx="841248" cy="274320"/>
          </a:xfrm>
          <a:prstGeom prst="rect">
            <a:avLst/>
          </a:prstGeom>
          <a:solidFill>
            <a:srgbClr val="00A3A3"/>
          </a:solidFill>
          <a:ln w="6350">
            <a:solidFill>
              <a:srgbClr val="00A3A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47872" y="5609844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多源融合</a:t>
            </a:r>
            <a:endParaRPr lang="en-US" sz="730" dirty="0"/>
          </a:p>
        </p:txBody>
      </p:sp>
      <p:sp>
        <p:nvSpPr>
          <p:cNvPr id="24" name="Shape 21"/>
          <p:cNvSpPr/>
          <p:nvPr/>
        </p:nvSpPr>
        <p:spPr>
          <a:xfrm>
            <a:off x="4544568" y="5532120"/>
            <a:ext cx="841248" cy="274320"/>
          </a:xfrm>
          <a:prstGeom prst="rect">
            <a:avLst/>
          </a:prstGeom>
          <a:solidFill>
            <a:srgbClr val="6557D2"/>
          </a:solidFill>
          <a:ln w="6350">
            <a:solidFill>
              <a:srgbClr val="6557D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08576" y="5609844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智能检测</a:t>
            </a:r>
            <a:endParaRPr lang="en-US" sz="730" dirty="0"/>
          </a:p>
        </p:txBody>
      </p:sp>
      <p:sp>
        <p:nvSpPr>
          <p:cNvPr id="26" name="Shape 23"/>
          <p:cNvSpPr/>
          <p:nvPr/>
        </p:nvSpPr>
        <p:spPr>
          <a:xfrm>
            <a:off x="5605272" y="5532120"/>
            <a:ext cx="841248" cy="274320"/>
          </a:xfrm>
          <a:prstGeom prst="rect">
            <a:avLst/>
          </a:prstGeom>
          <a:solidFill>
            <a:srgbClr val="B7D12A"/>
          </a:solidFill>
          <a:ln w="6350">
            <a:solidFill>
              <a:srgbClr val="B7D12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69280" y="5609844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告警研判</a:t>
            </a:r>
            <a:endParaRPr lang="en-US" sz="730" dirty="0"/>
          </a:p>
        </p:txBody>
      </p:sp>
      <p:sp>
        <p:nvSpPr>
          <p:cNvPr id="28" name="Shape 25"/>
          <p:cNvSpPr/>
          <p:nvPr/>
        </p:nvSpPr>
        <p:spPr>
          <a:xfrm>
            <a:off x="6665976" y="5532120"/>
            <a:ext cx="841248" cy="274320"/>
          </a:xfrm>
          <a:prstGeom prst="rect">
            <a:avLst/>
          </a:prstGeom>
          <a:solidFill>
            <a:srgbClr val="D89614"/>
          </a:solidFill>
          <a:ln w="6350">
            <a:solidFill>
              <a:srgbClr val="D8961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29984" y="5609844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取证回放</a:t>
            </a:r>
            <a:endParaRPr lang="en-US" sz="730" dirty="0"/>
          </a:p>
        </p:txBody>
      </p:sp>
      <p:sp>
        <p:nvSpPr>
          <p:cNvPr id="30" name="Shape 27"/>
          <p:cNvSpPr/>
          <p:nvPr/>
        </p:nvSpPr>
        <p:spPr>
          <a:xfrm>
            <a:off x="7726680" y="5532120"/>
            <a:ext cx="841248" cy="274320"/>
          </a:xfrm>
          <a:prstGeom prst="rect">
            <a:avLst/>
          </a:prstGeom>
          <a:solidFill>
            <a:srgbClr val="E85D3D"/>
          </a:solidFill>
          <a:ln w="6350">
            <a:solidFill>
              <a:srgbClr val="E85D3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90688" y="5609844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反馈学习</a:t>
            </a:r>
            <a:endParaRPr lang="en-US" sz="730" dirty="0"/>
          </a:p>
        </p:txBody>
      </p:sp>
      <p:sp>
        <p:nvSpPr>
          <p:cNvPr id="32" name="Shape 29"/>
          <p:cNvSpPr/>
          <p:nvPr/>
        </p:nvSpPr>
        <p:spPr>
          <a:xfrm>
            <a:off x="8787384" y="5532120"/>
            <a:ext cx="1024128" cy="274320"/>
          </a:xfrm>
          <a:prstGeom prst="rect">
            <a:avLst/>
          </a:prstGeom>
          <a:solidFill>
            <a:srgbClr val="2F6BFF"/>
          </a:solidFill>
          <a:ln w="6350">
            <a:solidFill>
              <a:srgbClr val="2F6B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851392" y="5609844"/>
            <a:ext cx="896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规则/模型治理</a:t>
            </a:r>
            <a:endParaRPr lang="en-US" sz="730" dirty="0"/>
          </a:p>
        </p:txBody>
      </p:sp>
      <p:sp>
        <p:nvSpPr>
          <p:cNvPr id="34" name="Shape 31"/>
          <p:cNvSpPr/>
          <p:nvPr/>
        </p:nvSpPr>
        <p:spPr>
          <a:xfrm>
            <a:off x="9893808" y="1143000"/>
            <a:ext cx="1207008" cy="27432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957816" y="1220724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运营驾驶舱</a:t>
            </a:r>
            <a:endParaRPr lang="en-US" sz="840" dirty="0"/>
          </a:p>
        </p:txBody>
      </p:sp>
      <p:sp>
        <p:nvSpPr>
          <p:cNvPr id="36" name="Shape 33"/>
          <p:cNvSpPr/>
          <p:nvPr/>
        </p:nvSpPr>
        <p:spPr>
          <a:xfrm>
            <a:off x="9893808" y="5166360"/>
            <a:ext cx="1207008" cy="274320"/>
          </a:xfrm>
          <a:prstGeom prst="rect">
            <a:avLst/>
          </a:prstGeom>
          <a:solidFill>
            <a:srgbClr val="E85D3D"/>
          </a:solidFill>
          <a:ln w="6350">
            <a:solidFill>
              <a:srgbClr val="E85D3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957816" y="5244084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验收证据包</a:t>
            </a:r>
            <a:endParaRPr lang="en-US" sz="840" dirty="0"/>
          </a:p>
        </p:txBody>
      </p:sp>
      <p:sp>
        <p:nvSpPr>
          <p:cNvPr id="38" name="Text 35"/>
          <p:cNvSpPr/>
          <p:nvPr/>
        </p:nvSpPr>
        <p:spPr>
          <a:xfrm>
            <a:off x="411480" y="651052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9BD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园区网络流量智能检测与分析专题汇报 | 数据来源：远程 traffic-analysis-platform + 本地 858 篇论文/代码分析</a:t>
            </a:r>
            <a:endParaRPr lang="en-US" sz="820" dirty="0"/>
          </a:p>
        </p:txBody>
      </p:sp>
      <p:sp>
        <p:nvSpPr>
          <p:cNvPr id="39" name="Text 36"/>
          <p:cNvSpPr/>
          <p:nvPr/>
        </p:nvSpPr>
        <p:spPr>
          <a:xfrm>
            <a:off x="11292840" y="64556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9BD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 CAPABILITY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产品能力：六大业务域承接“发现-研判-取证-优化-验收”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029200" cy="102412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417320"/>
            <a:ext cx="73152" cy="1024128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63624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综合态势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6968" y="1892808"/>
            <a:ext cx="470001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Dashboard、SituationalScreen、加密隧道/数据外传/APT 专题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029200" cy="102412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417320"/>
            <a:ext cx="73152" cy="10241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1563624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采集监测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19088" y="1892808"/>
            <a:ext cx="470001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Probe 管理、DataQuality、吞吐/丢包/延迟/DLQ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685800" y="2898648"/>
            <a:ext cx="5029200" cy="102412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2898648"/>
            <a:ext cx="73152" cy="1024128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3044952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威胁分析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968" y="3374136"/>
            <a:ext cx="470001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Alerts、Campaigns、AttackChain、EncryptedTraffic、Forensics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6217920" y="2898648"/>
            <a:ext cx="5029200" cy="102412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2898648"/>
            <a:ext cx="73152" cy="1024128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3044952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资产图谱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19088" y="3374136"/>
            <a:ext cx="470001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AssetInventory、Graph、Fusion、Baselines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685800" y="4379976"/>
            <a:ext cx="5029200" cy="102412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5800" y="4379976"/>
            <a:ext cx="73152" cy="1024128"/>
          </a:xfrm>
          <a:prstGeom prst="rect">
            <a:avLst/>
          </a:prstGeom>
          <a:solidFill>
            <a:srgbClr val="D89614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" y="4526280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检测运营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86968" y="4855464"/>
            <a:ext cx="470001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Rules、Whitelist、Deployments、Models、MLOps、Playbooks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6217920" y="4379976"/>
            <a:ext cx="5029200" cy="102412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4379976"/>
            <a:ext cx="73152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19088" y="4526280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审计配置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19088" y="4855464"/>
            <a:ext cx="470001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Compliance、AuditLog、Notifications、Settings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987552" y="5897880"/>
            <a:ext cx="10287000" cy="384048"/>
          </a:xfrm>
          <a:prstGeom prst="rect">
            <a:avLst/>
          </a:prstGeom>
          <a:solidFill>
            <a:srgbClr val="17212B"/>
          </a:solidFill>
          <a:ln w="8890">
            <a:solidFill>
              <a:srgbClr val="1721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7552" y="5897880"/>
            <a:ext cx="73152" cy="384048"/>
          </a:xfrm>
          <a:prstGeom prst="rect">
            <a:avLst/>
          </a:prstGeom>
          <a:solidFill>
            <a:srgbClr val="B7D12A"/>
          </a:solidFill>
          <a:ln w="12700">
            <a:solidFill>
              <a:srgbClr val="B7D1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0" y="6044184"/>
            <a:ext cx="9957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B7D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界面原则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1188720" y="6373368"/>
            <a:ext cx="99578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一级菜单按业务域组织；闭环阶段用于流程、状态机和验收 ID，不直接作为导航标签。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411480" y="651052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园区网络流量智能检测与分析专题汇报 | 数据来源：远程 traffic-analysis-platform + 本地 858 篇论文/代码分析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11292840" y="64556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REMOTE CODE EVIDENCE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远程代码实证：仓库是多语言工程系统，不是单点算法 Demo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58368" y="1234440"/>
            <a:ext cx="1234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234440"/>
            <a:ext cx="54864" cy="53035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3807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Rust 探针</a:t>
            </a:r>
            <a:endParaRPr lang="en-US" sz="970" dirty="0"/>
          </a:p>
        </p:txBody>
      </p:sp>
      <p:sp>
        <p:nvSpPr>
          <p:cNvPr id="8" name="Shape 6"/>
          <p:cNvSpPr/>
          <p:nvPr/>
        </p:nvSpPr>
        <p:spPr>
          <a:xfrm>
            <a:off x="1892808" y="1234440"/>
            <a:ext cx="2240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02536" y="138074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rust/probe-agent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133088" y="1234440"/>
            <a:ext cx="7589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42816" y="1380744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AF_XDP/AF_PACKET/PCAP 离线采集、流聚合、PCAP 归档、DNS/DHCP/ARP 解析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58368" y="1993392"/>
            <a:ext cx="1234440" cy="530352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1993392"/>
            <a:ext cx="54864" cy="53035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13969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控制面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1892808" y="1993392"/>
            <a:ext cx="2240280" cy="530352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02536" y="213969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go/control-plane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133088" y="1993392"/>
            <a:ext cx="7589520" cy="530352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42816" y="213969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ingest、auth、alert、rule、asset、graph、forensics、threat-intel 等 API 服务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58368" y="2752344"/>
            <a:ext cx="1234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2752344"/>
            <a:ext cx="54864" cy="530352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289864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Flink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1892808" y="2752344"/>
            <a:ext cx="2240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02536" y="28986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557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java/flink-jobs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4133088" y="2752344"/>
            <a:ext cx="7589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42816" y="289864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session、feature、rule、behavior、CEP、alert-generator、log、pcap-index、user-behavior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58368" y="3511296"/>
            <a:ext cx="1234440" cy="530352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3511296"/>
            <a:ext cx="54864" cy="530352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" y="36576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UI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1892808" y="3511296"/>
            <a:ext cx="2240280" cy="530352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02536" y="3657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85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web/ui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4133088" y="3511296"/>
            <a:ext cx="7589520" cy="530352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42816" y="36576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 + React + Ant Design + ECharts，30 个页面，真实 API 优先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658368" y="4270248"/>
            <a:ext cx="1234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" y="4270248"/>
            <a:ext cx="54864" cy="530352"/>
          </a:xfrm>
          <a:prstGeom prst="rect">
            <a:avLst/>
          </a:prstGeom>
          <a:solidFill>
            <a:srgbClr val="D89614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" y="441655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MLOps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1892808" y="4270248"/>
            <a:ext cx="2240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02536" y="44165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89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mlops + argo-events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4133088" y="4270248"/>
            <a:ext cx="7589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42816" y="441655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ClickHouse 特征提取、XGBoost/LightGBM、评估、注册、Kafka model-updates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658368" y="5029200"/>
            <a:ext cx="1234440" cy="530352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8368" y="5029200"/>
            <a:ext cx="54864" cy="530352"/>
          </a:xfrm>
          <a:prstGeom prst="rect">
            <a:avLst/>
          </a:prstGeom>
          <a:solidFill>
            <a:srgbClr val="B7D12A"/>
          </a:solidFill>
          <a:ln w="12700">
            <a:solidFill>
              <a:srgbClr val="B7D1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096" y="51755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部署/契约</a:t>
            </a:r>
            <a:endParaRPr lang="en-US" sz="970" dirty="0"/>
          </a:p>
        </p:txBody>
      </p:sp>
      <p:sp>
        <p:nvSpPr>
          <p:cNvPr id="43" name="Shape 41"/>
          <p:cNvSpPr/>
          <p:nvPr/>
        </p:nvSpPr>
        <p:spPr>
          <a:xfrm>
            <a:off x="1892808" y="5029200"/>
            <a:ext cx="2240280" cy="530352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02536" y="517550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B7D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deployments + proto + common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4133088" y="5029200"/>
            <a:ext cx="7589520" cy="530352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42816" y="5175504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 清单、APISIX、Kafka topic、CH/PG DDL、跨语言 Protobuf 真源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841248" y="5870448"/>
            <a:ext cx="1060704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1248" y="5870448"/>
            <a:ext cx="73152" cy="384048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42416" y="6016752"/>
            <a:ext cx="10277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注意口径</a:t>
            </a:r>
            <a:endParaRPr lang="en-US" sz="1220" dirty="0"/>
          </a:p>
        </p:txBody>
      </p:sp>
      <p:sp>
        <p:nvSpPr>
          <p:cNvPr id="50" name="Text 48"/>
          <p:cNvSpPr/>
          <p:nvPr/>
        </p:nvSpPr>
        <p:spPr>
          <a:xfrm>
            <a:off x="1042416" y="6345936"/>
            <a:ext cx="102778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本页为静态代码/部署清单和 kubectl 快照归纳；性能、算法质量、第三方验收不由代码存在本身推出。</a:t>
            </a:r>
            <a:endParaRPr lang="en-US" sz="930" dirty="0"/>
          </a:p>
        </p:txBody>
      </p:sp>
      <p:sp>
        <p:nvSpPr>
          <p:cNvPr id="51" name="Text 49"/>
          <p:cNvSpPr/>
          <p:nvPr/>
        </p:nvSpPr>
        <p:spPr>
          <a:xfrm>
            <a:off x="411480" y="651052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园区网络流量智能检测与分析专题汇报 | 数据来源：远程 traffic-analysis-platform + 本地 858 篇论文/代码分析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11292840" y="64556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主数据链路：从包到告警，再回到规则和模型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572768" cy="15727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828800"/>
            <a:ext cx="73152" cy="1572768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97510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Rust Probe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8096" y="2304288"/>
            <a:ext cx="1243584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镜像/TAP/SPAN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流聚合/PCAP归档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2176272" y="2578608"/>
            <a:ext cx="256032" cy="0"/>
          </a:xfrm>
          <a:prstGeom prst="line">
            <a:avLst/>
          </a:prstGeom>
          <a:noFill/>
          <a:ln w="2540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68880" y="1828800"/>
            <a:ext cx="1572768" cy="1572768"/>
          </a:xfrm>
          <a:prstGeom prst="rect">
            <a:avLst/>
          </a:prstGeom>
          <a:solidFill>
            <a:srgbClr val="EEF6F5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828800"/>
            <a:ext cx="73152" cy="157276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0048" y="197510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Ingest Gateway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70048" y="2304288"/>
            <a:ext cx="1243584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gRPC + mTLS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批量接入/限流/DLQ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4078224" y="2578608"/>
            <a:ext cx="256032" cy="0"/>
          </a:xfrm>
          <a:prstGeom prst="line">
            <a:avLst/>
          </a:prstGeom>
          <a:noFill/>
          <a:ln w="2540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70832" y="1828800"/>
            <a:ext cx="1572768" cy="15727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70832" y="1828800"/>
            <a:ext cx="73152" cy="1572768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97510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Kafka Topics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0" y="2304288"/>
            <a:ext cx="1243584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flow/session/feature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alerts/feedback/model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5980176" y="2578608"/>
            <a:ext cx="256032" cy="0"/>
          </a:xfrm>
          <a:prstGeom prst="line">
            <a:avLst/>
          </a:prstGeom>
          <a:noFill/>
          <a:ln w="2540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72784" y="1828800"/>
            <a:ext cx="1572768" cy="1572768"/>
          </a:xfrm>
          <a:prstGeom prst="rect">
            <a:avLst/>
          </a:prstGeom>
          <a:solidFill>
            <a:srgbClr val="EEF6F5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72784" y="1828800"/>
            <a:ext cx="73152" cy="1572768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197510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Flink Jobs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73952" y="2304288"/>
            <a:ext cx="1243584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会话化/特征/规则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行为/CEP/告警生成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882128" y="2578608"/>
            <a:ext cx="256032" cy="0"/>
          </a:xfrm>
          <a:prstGeom prst="line">
            <a:avLst/>
          </a:prstGeom>
          <a:noFill/>
          <a:ln w="2540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174736" y="1828800"/>
            <a:ext cx="1572768" cy="15727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74736" y="1828800"/>
            <a:ext cx="73152" cy="1572768"/>
          </a:xfrm>
          <a:prstGeom prst="rect">
            <a:avLst/>
          </a:prstGeom>
          <a:solidFill>
            <a:srgbClr val="D89614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75904" y="197510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Stores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75904" y="2304288"/>
            <a:ext cx="1243584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CH/PG/OS/Nebula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Redis/MinIO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9784080" y="2578608"/>
            <a:ext cx="256032" cy="0"/>
          </a:xfrm>
          <a:prstGeom prst="line">
            <a:avLst/>
          </a:prstGeom>
          <a:noFill/>
          <a:ln w="2540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076688" y="1828800"/>
            <a:ext cx="1572768" cy="1572768"/>
          </a:xfrm>
          <a:prstGeom prst="rect">
            <a:avLst/>
          </a:prstGeom>
          <a:solidFill>
            <a:srgbClr val="EEF6F5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076688" y="1828800"/>
            <a:ext cx="73152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77856" y="197510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APIs + UI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277856" y="2304288"/>
            <a:ext cx="1243584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告警/图谱/取证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运营与验收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9189720" y="3703320"/>
            <a:ext cx="-6217920" cy="1188720"/>
          </a:xfrm>
          <a:prstGeom prst="line">
            <a:avLst/>
          </a:prstGeom>
          <a:noFill/>
          <a:ln w="27940">
            <a:solidFill>
              <a:srgbClr val="E85D3D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514600" y="4800600"/>
            <a:ext cx="7223760" cy="777240"/>
          </a:xfrm>
          <a:prstGeom prst="rect">
            <a:avLst/>
          </a:prstGeom>
          <a:solidFill>
            <a:srgbClr val="FBEAE6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4800600"/>
            <a:ext cx="73152" cy="777240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15768" y="4946904"/>
            <a:ext cx="6894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反馈闭环</a:t>
            </a:r>
            <a:endParaRPr lang="en-US" sz="1220" dirty="0"/>
          </a:p>
        </p:txBody>
      </p:sp>
      <p:sp>
        <p:nvSpPr>
          <p:cNvPr id="38" name="Text 36"/>
          <p:cNvSpPr/>
          <p:nvPr/>
        </p:nvSpPr>
        <p:spPr>
          <a:xfrm>
            <a:off x="2715768" y="5276088"/>
            <a:ext cx="6894576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Alert Feedback / Whitelist / Rule Review / MLOps 产出 rule.updates 和 model-updates，Flink 热更新后重新进入在线检测链路。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411480" y="651052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园区网络流量智能检测与分析专题汇报 | 数据来源：远程 traffic-analysis-platform + 本地 858 篇论文/代码分析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11292840" y="64556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泉城实验室\二期\论文\异常检测\综合分析\generated_assets\technical_architecture_imageg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" y="749808"/>
            <a:ext cx="1298448" cy="402336"/>
          </a:xfrm>
          <a:prstGeom prst="rect">
            <a:avLst/>
          </a:prstGeom>
          <a:solidFill>
            <a:srgbClr val="17212B"/>
          </a:solidFill>
          <a:ln w="6350">
            <a:solidFill>
              <a:srgbClr val="1721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92608" y="874532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采集层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Rust Probe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228600" y="1645920"/>
            <a:ext cx="1298448" cy="402336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92608" y="1770644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接入安全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Ingest/mTLS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228600" y="2542032"/>
            <a:ext cx="1298448" cy="402336"/>
          </a:xfrm>
          <a:prstGeom prst="rect">
            <a:avLst/>
          </a:prstGeom>
          <a:solidFill>
            <a:srgbClr val="2F6BFF"/>
          </a:solidFill>
          <a:ln w="6350">
            <a:solidFill>
              <a:srgbClr val="2F6B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666756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消息总线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Kafka Topics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28600" y="3429000"/>
            <a:ext cx="1298448" cy="402336"/>
          </a:xfrm>
          <a:prstGeom prst="rect">
            <a:avLst/>
          </a:prstGeom>
          <a:solidFill>
            <a:srgbClr val="6557D2"/>
          </a:solidFill>
          <a:ln w="6350">
            <a:solidFill>
              <a:srgbClr val="6557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" y="3553724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流计算层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Flink Jobs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28600" y="4315968"/>
            <a:ext cx="1298448" cy="402336"/>
          </a:xfrm>
          <a:prstGeom prst="rect">
            <a:avLst/>
          </a:prstGeom>
          <a:solidFill>
            <a:srgbClr val="D89614"/>
          </a:solidFill>
          <a:ln w="6350">
            <a:solidFill>
              <a:srgbClr val="D8961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" y="4440692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存储层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多模态证据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28600" y="5212080"/>
            <a:ext cx="1298448" cy="402336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2608" y="5336804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API层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Services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228600" y="6089904"/>
            <a:ext cx="1298448" cy="402336"/>
          </a:xfrm>
          <a:prstGeom prst="rect">
            <a:avLst/>
          </a:prstGeom>
          <a:solidFill>
            <a:srgbClr val="E85D3D"/>
          </a:solidFill>
          <a:ln w="6350">
            <a:solidFill>
              <a:srgbClr val="E85D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2608" y="6214628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反馈/MLOps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热更新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2834640" y="621792"/>
            <a:ext cx="3063240" cy="310896"/>
          </a:xfrm>
          <a:prstGeom prst="rect">
            <a:avLst/>
          </a:prstGeom>
          <a:solidFill>
            <a:srgbClr val="17212B"/>
          </a:solidFill>
          <a:ln w="6350">
            <a:solidFill>
              <a:srgbClr val="1721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898648" y="718170"/>
            <a:ext cx="2935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AF_XDP / AF_PACKET / PCAP / DNS-DHCP-ARP</a:t>
            </a:r>
            <a:endParaRPr lang="en-US" sz="730" dirty="0"/>
          </a:p>
        </p:txBody>
      </p:sp>
      <p:sp>
        <p:nvSpPr>
          <p:cNvPr id="19" name="Shape 16"/>
          <p:cNvSpPr/>
          <p:nvPr/>
        </p:nvSpPr>
        <p:spPr>
          <a:xfrm>
            <a:off x="6400800" y="621792"/>
            <a:ext cx="2240280" cy="310896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64808" y="718170"/>
            <a:ext cx="2112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Ingest Gateway -&gt; Kafka</a:t>
            </a:r>
            <a:endParaRPr lang="en-US" sz="730" dirty="0"/>
          </a:p>
        </p:txBody>
      </p:sp>
      <p:sp>
        <p:nvSpPr>
          <p:cNvPr id="21" name="Shape 18"/>
          <p:cNvSpPr/>
          <p:nvPr/>
        </p:nvSpPr>
        <p:spPr>
          <a:xfrm>
            <a:off x="2148840" y="2788920"/>
            <a:ext cx="6217920" cy="310896"/>
          </a:xfrm>
          <a:prstGeom prst="rect">
            <a:avLst/>
          </a:prstGeom>
          <a:solidFill>
            <a:srgbClr val="6557D2"/>
          </a:solidFill>
          <a:ln w="6350">
            <a:solidFill>
              <a:srgbClr val="6557D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212848" y="2885298"/>
            <a:ext cx="6089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 / Feature / Rule / Behavior / CEP / Alert / Log / PCAP Index / User Behavior</a:t>
            </a:r>
            <a:endParaRPr lang="en-US" sz="730" dirty="0"/>
          </a:p>
        </p:txBody>
      </p:sp>
      <p:sp>
        <p:nvSpPr>
          <p:cNvPr id="23" name="Shape 20"/>
          <p:cNvSpPr/>
          <p:nvPr/>
        </p:nvSpPr>
        <p:spPr>
          <a:xfrm>
            <a:off x="2148840" y="4462272"/>
            <a:ext cx="6217920" cy="310896"/>
          </a:xfrm>
          <a:prstGeom prst="rect">
            <a:avLst/>
          </a:prstGeom>
          <a:solidFill>
            <a:srgbClr val="D89614"/>
          </a:solidFill>
          <a:ln w="6350">
            <a:solidFill>
              <a:srgbClr val="D8961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212848" y="4558650"/>
            <a:ext cx="6089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ClickHouse / PostgreSQL / OpenSearch / NebulaGraph / Redis / MinIO</a:t>
            </a:r>
            <a:endParaRPr lang="en-US" sz="730" dirty="0"/>
          </a:p>
        </p:txBody>
      </p:sp>
      <p:sp>
        <p:nvSpPr>
          <p:cNvPr id="25" name="Shape 22"/>
          <p:cNvSpPr/>
          <p:nvPr/>
        </p:nvSpPr>
        <p:spPr>
          <a:xfrm>
            <a:off x="2148840" y="5440680"/>
            <a:ext cx="6217920" cy="310896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212848" y="5537058"/>
            <a:ext cx="6089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Auth / Alert / Rule / Asset / Graph / Forensics / Ingest / Threat Intel</a:t>
            </a:r>
            <a:endParaRPr lang="en-US" sz="730" dirty="0"/>
          </a:p>
        </p:txBody>
      </p:sp>
      <p:sp>
        <p:nvSpPr>
          <p:cNvPr id="27" name="Shape 24"/>
          <p:cNvSpPr/>
          <p:nvPr/>
        </p:nvSpPr>
        <p:spPr>
          <a:xfrm>
            <a:off x="8869680" y="3749040"/>
            <a:ext cx="1965960" cy="310896"/>
          </a:xfrm>
          <a:prstGeom prst="rect">
            <a:avLst/>
          </a:prstGeom>
          <a:solidFill>
            <a:srgbClr val="E85D3D"/>
          </a:solidFill>
          <a:ln w="6350">
            <a:solidFill>
              <a:srgbClr val="E85D3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933688" y="3845418"/>
            <a:ext cx="1837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UI + Feedback + Whitelist + Rule Review + MLOps</a:t>
            </a:r>
            <a:endParaRPr lang="en-US" sz="730" dirty="0"/>
          </a:p>
        </p:txBody>
      </p:sp>
      <p:sp>
        <p:nvSpPr>
          <p:cNvPr id="29" name="Text 26"/>
          <p:cNvSpPr/>
          <p:nvPr/>
        </p:nvSpPr>
        <p:spPr>
          <a:xfrm>
            <a:off x="411480" y="651052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园区网络流量智能检测与分析专题汇报 | 数据来源：远程 traffic-analysis-platform + 本地 858 篇论文/代码分析</a:t>
            </a:r>
            <a:endParaRPr lang="en-US" sz="820" dirty="0"/>
          </a:p>
        </p:txBody>
      </p:sp>
      <p:sp>
        <p:nvSpPr>
          <p:cNvPr id="30" name="Text 27"/>
          <p:cNvSpPr/>
          <p:nvPr/>
        </p:nvSpPr>
        <p:spPr>
          <a:xfrm>
            <a:off x="11292840" y="64556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TECHNICAL DECOMPOSITION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技术架构拆解：每层都有可追踪代码、契约和部署对象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353312"/>
            <a:ext cx="420624" cy="420624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72184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252728" y="1298448"/>
            <a:ext cx="10177272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2728" y="1298448"/>
            <a:ext cx="73152" cy="57607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53896" y="1444752"/>
            <a:ext cx="9848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采集与聚合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1453896" y="1773936"/>
            <a:ext cx="984808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hostNetwork + privileged Probe DaemonSet；接口 ens9f0、af_packet、flow_capacity 250000、batch_size 100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685800" y="2304288"/>
            <a:ext cx="420624" cy="420624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23160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252728" y="2249424"/>
            <a:ext cx="10177272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2728" y="2249424"/>
            <a:ext cx="73152" cy="57607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53896" y="2395728"/>
            <a:ext cx="9848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消息与流计算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1453896" y="2724912"/>
            <a:ext cx="984808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Kafka topic 初始化覆盖 flow/session/feature/detections/alerts/feedback/rule/model/dlq；Flink 9 类作业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685800" y="3255264"/>
            <a:ext cx="420624" cy="420624"/>
          </a:xfrm>
          <a:prstGeom prst="ellipse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374136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252728" y="3200400"/>
            <a:ext cx="10177272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2728" y="3200400"/>
            <a:ext cx="73152" cy="576072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53896" y="3346704"/>
            <a:ext cx="9848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存储与检索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1453896" y="3675888"/>
            <a:ext cx="984808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ClickHouse 2 shard x 2 replica + 3 Keeper；PG 元数据；OpenSearch 全文；Nebula 关系；Redis 缓存；MinIO PCAP/模型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685800" y="4206240"/>
            <a:ext cx="420624" cy="420624"/>
          </a:xfrm>
          <a:prstGeom prst="ellipse">
            <a:avLst/>
          </a:prstGeom>
          <a:solidFill>
            <a:srgbClr val="D89614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325112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252728" y="4151376"/>
            <a:ext cx="10177272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2728" y="4151376"/>
            <a:ext cx="73152" cy="576072"/>
          </a:xfrm>
          <a:prstGeom prst="rect">
            <a:avLst/>
          </a:prstGeom>
          <a:solidFill>
            <a:srgbClr val="D89614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53896" y="4297680"/>
            <a:ext cx="9848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控制面服务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1453896" y="4626864"/>
            <a:ext cx="984808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服务按 api/service/repository/config 分层，承接告警、规则、资产、图谱、取证、认证、威胁情报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685800" y="5157216"/>
            <a:ext cx="420624" cy="420624"/>
          </a:xfrm>
          <a:prstGeom prst="ellipse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276088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252728" y="5102352"/>
            <a:ext cx="10177272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52728" y="5102352"/>
            <a:ext cx="73152" cy="576072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53896" y="5248656"/>
            <a:ext cx="9848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可观测与安全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1453896" y="5577840"/>
            <a:ext cx="984808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APISIX NodePort 30180；Kafka SASL_SSL；mTLS 探针接入；Keycloak/OIDC；Grafana/Loki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411480" y="651052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园区网络流量智能检测与分析专题汇报 | 数据来源：远程 traffic-analysis-platform + 本地 858 篇论文/代码分析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11292840" y="64556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泉城实验室\二期\论文\异常检测\综合分析\generated_assets\deployment_topology_imageg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274320"/>
            <a:ext cx="1444752" cy="27432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84048" y="35204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园区网络 / TAP-SPAN 镜像</a:t>
            </a:r>
            <a:endParaRPr lang="en-US" sz="740" dirty="0"/>
          </a:p>
        </p:txBody>
      </p:sp>
      <p:sp>
        <p:nvSpPr>
          <p:cNvPr id="5" name="Shape 2"/>
          <p:cNvSpPr/>
          <p:nvPr/>
        </p:nvSpPr>
        <p:spPr>
          <a:xfrm>
            <a:off x="2176272" y="960120"/>
            <a:ext cx="1051560" cy="274320"/>
          </a:xfrm>
          <a:prstGeom prst="rect">
            <a:avLst/>
          </a:prstGeom>
          <a:solidFill>
            <a:srgbClr val="E85D3D"/>
          </a:solidFill>
          <a:ln w="6350">
            <a:solidFill>
              <a:srgbClr val="E85D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40280" y="1037844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Probe Agent DaemonSet</a:t>
            </a:r>
            <a:endParaRPr lang="en-US" sz="720" dirty="0"/>
          </a:p>
        </p:txBody>
      </p:sp>
      <p:sp>
        <p:nvSpPr>
          <p:cNvPr id="7" name="Shape 4"/>
          <p:cNvSpPr/>
          <p:nvPr/>
        </p:nvSpPr>
        <p:spPr>
          <a:xfrm>
            <a:off x="4069080" y="292608"/>
            <a:ext cx="5074920" cy="274320"/>
          </a:xfrm>
          <a:prstGeom prst="rect">
            <a:avLst/>
          </a:prstGeom>
          <a:solidFill>
            <a:srgbClr val="2F6BFF"/>
          </a:solidFill>
          <a:ln w="6350">
            <a:solidFill>
              <a:srgbClr val="2F6B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33088" y="370332"/>
            <a:ext cx="4946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集群：8-2tb(10.0.5.8) + zeus-server(10.0.5.9)</a:t>
            </a:r>
            <a:endParaRPr lang="en-US" sz="830" dirty="0"/>
          </a:p>
        </p:txBody>
      </p:sp>
      <p:sp>
        <p:nvSpPr>
          <p:cNvPr id="9" name="Shape 6"/>
          <p:cNvSpPr/>
          <p:nvPr/>
        </p:nvSpPr>
        <p:spPr>
          <a:xfrm>
            <a:off x="9738360" y="960120"/>
            <a:ext cx="1298448" cy="274320"/>
          </a:xfrm>
          <a:prstGeom prst="rect">
            <a:avLst/>
          </a:prstGeom>
          <a:solidFill>
            <a:srgbClr val="E85D3D"/>
          </a:solidFill>
          <a:ln w="6350">
            <a:solidFill>
              <a:srgbClr val="E85D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02368" y="1037844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APISIX NodePort 30180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3858768" y="1572768"/>
            <a:ext cx="2788920" cy="27432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22776" y="1650492"/>
            <a:ext cx="2660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traffic-analysis: Go APIs / Web UI / Probe / Queue</a:t>
            </a:r>
            <a:endParaRPr lang="en-US" sz="710" dirty="0"/>
          </a:p>
        </p:txBody>
      </p:sp>
      <p:sp>
        <p:nvSpPr>
          <p:cNvPr id="13" name="Shape 10"/>
          <p:cNvSpPr/>
          <p:nvPr/>
        </p:nvSpPr>
        <p:spPr>
          <a:xfrm>
            <a:off x="3858768" y="2907792"/>
            <a:ext cx="2057400" cy="274320"/>
          </a:xfrm>
          <a:prstGeom prst="rect">
            <a:avLst/>
          </a:prstGeom>
          <a:solidFill>
            <a:srgbClr val="6557D2"/>
          </a:solidFill>
          <a:ln w="6350">
            <a:solidFill>
              <a:srgbClr val="6557D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22776" y="2985516"/>
            <a:ext cx="1929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flink: JobManager + TaskManagers</a:t>
            </a:r>
            <a:endParaRPr lang="en-US" sz="710" dirty="0"/>
          </a:p>
        </p:txBody>
      </p:sp>
      <p:sp>
        <p:nvSpPr>
          <p:cNvPr id="15" name="Shape 12"/>
          <p:cNvSpPr/>
          <p:nvPr/>
        </p:nvSpPr>
        <p:spPr>
          <a:xfrm>
            <a:off x="3657600" y="4462272"/>
            <a:ext cx="2999232" cy="274320"/>
          </a:xfrm>
          <a:prstGeom prst="rect">
            <a:avLst/>
          </a:prstGeom>
          <a:solidFill>
            <a:srgbClr val="D89614"/>
          </a:solidFill>
          <a:ln w="6350">
            <a:solidFill>
              <a:srgbClr val="D8961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21608" y="4539996"/>
            <a:ext cx="2871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middleware/databases/minio/iam/observability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9921240" y="2359152"/>
            <a:ext cx="1234440" cy="274320"/>
          </a:xfrm>
          <a:prstGeom prst="rect">
            <a:avLst/>
          </a:prstGeom>
          <a:solidFill>
            <a:srgbClr val="17212B"/>
          </a:solidFill>
          <a:ln w="6350">
            <a:solidFill>
              <a:srgbClr val="1721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985248" y="2436876"/>
            <a:ext cx="11064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浏览器/运维/验收人员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9646920" y="4846320"/>
            <a:ext cx="1554480" cy="27432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710928" y="4924044"/>
            <a:ext cx="1426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证据包 / 报告 / PCAP / 模型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11480" y="651052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园区网络流量智能检测与分析专题汇报 | 数据来源：远程 traffic-analysis-platform + 本地 858 篇论文/代码分析</a:t>
            </a:r>
            <a:endParaRPr lang="en-US" sz="820" dirty="0"/>
          </a:p>
        </p:txBody>
      </p:sp>
      <p:sp>
        <p:nvSpPr>
          <p:cNvPr id="22" name="Text 19"/>
          <p:cNvSpPr/>
          <p:nvPr/>
        </p:nvSpPr>
        <p:spPr>
          <a:xfrm>
            <a:off x="11292840" y="64556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 FACTS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当前部署快照：两节点 Ready，业务服务以 K8s 工作负载运行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13232" y="1325880"/>
            <a:ext cx="5303520" cy="1097280"/>
          </a:xfrm>
          <a:prstGeom prst="rect">
            <a:avLst/>
          </a:prstGeom>
          <a:solidFill>
            <a:srgbClr val="EEF6F5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325880"/>
            <a:ext cx="73152" cy="109728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72184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914400" y="1801368"/>
            <a:ext cx="497433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8-2tb 10.0.5.8（control-plane）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zeus-server 10.0.5.9（worker）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v1.29.15 / openEuler 22.03 / containerd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272784" y="1325880"/>
            <a:ext cx="5303520" cy="1097280"/>
          </a:xfrm>
          <a:prstGeom prst="rect">
            <a:avLst/>
          </a:prstGeom>
          <a:solidFill>
            <a:srgbClr val="EEF6F5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72784" y="1325880"/>
            <a:ext cx="73152" cy="109728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1472184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traffic-analysis namespace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6473952" y="1801368"/>
            <a:ext cx="497433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个 Running Pod：alert、asset、auth、forensics、graph、ingest、probe(2)、rule、threat-intel、web-ui 等。另有历史 Completed/Error pod 记录，不作为现行服务能力声称。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713232" y="2971800"/>
            <a:ext cx="3246120" cy="530352"/>
          </a:xfrm>
          <a:prstGeom prst="rect">
            <a:avLst/>
          </a:prstGeom>
          <a:solidFill>
            <a:srgbClr val="EEF6F5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971800"/>
            <a:ext cx="73152" cy="53035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118104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914400" y="3447288"/>
            <a:ext cx="291693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gateway/apisix NodePort 30180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4443984" y="2971800"/>
            <a:ext cx="32461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43984" y="2971800"/>
            <a:ext cx="73152" cy="530352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3118104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645152" y="3447288"/>
            <a:ext cx="291693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middleware/kafka-0/1/2 + bootstrap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8174736" y="2971800"/>
            <a:ext cx="3246120" cy="530352"/>
          </a:xfrm>
          <a:prstGeom prst="rect">
            <a:avLst/>
          </a:prstGeom>
          <a:solidFill>
            <a:srgbClr val="EEF6F5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74736" y="2971800"/>
            <a:ext cx="73152" cy="530352"/>
          </a:xfrm>
          <a:prstGeom prst="rect">
            <a:avLst/>
          </a:prstGeom>
          <a:solidFill>
            <a:srgbClr val="D89614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75904" y="3118104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流计算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8375904" y="3447288"/>
            <a:ext cx="291693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flink JobManager / TaskManager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713232" y="3776472"/>
            <a:ext cx="32461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3776472"/>
            <a:ext cx="73152" cy="53035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922776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OLAP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914400" y="4251960"/>
            <a:ext cx="291693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ClickHouse 1/2 + Keeper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4443984" y="3776472"/>
            <a:ext cx="3246120" cy="530352"/>
          </a:xfrm>
          <a:prstGeom prst="rect">
            <a:avLst/>
          </a:prstGeom>
          <a:solidFill>
            <a:srgbClr val="EEF6F5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43984" y="3776472"/>
            <a:ext cx="73152" cy="530352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45152" y="3922776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4645152" y="4251960"/>
            <a:ext cx="291693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primary/replica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8174736" y="3776472"/>
            <a:ext cx="32461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74736" y="3776472"/>
            <a:ext cx="73152" cy="530352"/>
          </a:xfrm>
          <a:prstGeom prst="rect">
            <a:avLst/>
          </a:prstGeom>
          <a:solidFill>
            <a:srgbClr val="D89614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75904" y="3922776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对象/证据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8375904" y="4251960"/>
            <a:ext cx="291693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MinIO + minio-proxy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713232" y="4581144"/>
            <a:ext cx="3246120" cy="530352"/>
          </a:xfrm>
          <a:prstGeom prst="rect">
            <a:avLst/>
          </a:prstGeom>
          <a:solidFill>
            <a:srgbClr val="EEF6F5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3232" y="4581144"/>
            <a:ext cx="73152" cy="53035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4727448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914400" y="5056632"/>
            <a:ext cx="291693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Nebula meta/storage/graph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4443984" y="4581144"/>
            <a:ext cx="32461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43984" y="4581144"/>
            <a:ext cx="73152" cy="530352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45152" y="4727448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4645152" y="5056632"/>
            <a:ext cx="291693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Keycloak / OIDC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8174736" y="4581144"/>
            <a:ext cx="3246120" cy="530352"/>
          </a:xfrm>
          <a:prstGeom prst="rect">
            <a:avLst/>
          </a:prstGeom>
          <a:solidFill>
            <a:srgbClr val="EEF6F5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74736" y="4581144"/>
            <a:ext cx="73152" cy="530352"/>
          </a:xfrm>
          <a:prstGeom prst="rect">
            <a:avLst/>
          </a:prstGeom>
          <a:solidFill>
            <a:srgbClr val="D89614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75904" y="4727448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</a:t>
            </a:r>
            <a:endParaRPr lang="en-US" sz="920" dirty="0"/>
          </a:p>
        </p:txBody>
      </p:sp>
      <p:sp>
        <p:nvSpPr>
          <p:cNvPr id="48" name="Text 46"/>
          <p:cNvSpPr/>
          <p:nvPr/>
        </p:nvSpPr>
        <p:spPr>
          <a:xfrm>
            <a:off x="8375904" y="5056632"/>
            <a:ext cx="291693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Grafana / Loki</a:t>
            </a:r>
            <a:endParaRPr lang="en-US" sz="860" dirty="0"/>
          </a:p>
        </p:txBody>
      </p:sp>
      <p:sp>
        <p:nvSpPr>
          <p:cNvPr id="49" name="Text 47"/>
          <p:cNvSpPr/>
          <p:nvPr/>
        </p:nvSpPr>
        <p:spPr>
          <a:xfrm>
            <a:off x="411480" y="651052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园区网络流量智能检测与分析专题汇报 | 数据来源：远程 traffic-analysis-platform + 本地 858 篇论文/代码分析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11292840" y="64556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泉城实验室\二期\论文\异常检测\综合分析\generated_assets\ai_detection_architecture_imageg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80160" y="237744"/>
            <a:ext cx="1755648" cy="27432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344168" y="315468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在线流式检测</a:t>
            </a:r>
            <a:endParaRPr lang="en-US" sz="820" dirty="0"/>
          </a:p>
        </p:txBody>
      </p:sp>
      <p:sp>
        <p:nvSpPr>
          <p:cNvPr id="5" name="Shape 2"/>
          <p:cNvSpPr/>
          <p:nvPr/>
        </p:nvSpPr>
        <p:spPr>
          <a:xfrm>
            <a:off x="3794760" y="237744"/>
            <a:ext cx="1691640" cy="27432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858768" y="315468"/>
            <a:ext cx="1563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特征工程 / 表征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6355080" y="237744"/>
            <a:ext cx="1691640" cy="27432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19088" y="315468"/>
            <a:ext cx="1563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模型决策与解释</a:t>
            </a:r>
            <a:endParaRPr lang="en-US" sz="820" dirty="0"/>
          </a:p>
        </p:txBody>
      </p:sp>
      <p:sp>
        <p:nvSpPr>
          <p:cNvPr id="9" name="Shape 6"/>
          <p:cNvSpPr/>
          <p:nvPr/>
        </p:nvSpPr>
        <p:spPr>
          <a:xfrm>
            <a:off x="2880360" y="3246120"/>
            <a:ext cx="4251960" cy="329184"/>
          </a:xfrm>
          <a:prstGeom prst="rect">
            <a:avLst/>
          </a:prstGeom>
          <a:solidFill>
            <a:srgbClr val="6557D2"/>
          </a:solidFill>
          <a:ln w="6350">
            <a:solidFill>
              <a:srgbClr val="6557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44368" y="3348167"/>
            <a:ext cx="4123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 / 行为 / CEP / 图上下文 / 开放集评分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3566160" y="4572000"/>
            <a:ext cx="1965960" cy="274320"/>
          </a:xfrm>
          <a:prstGeom prst="rect">
            <a:avLst/>
          </a:prstGeom>
          <a:solidFill>
            <a:srgbClr val="E85D3D"/>
          </a:solidFill>
          <a:ln w="6350">
            <a:solidFill>
              <a:srgbClr val="E85D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30168" y="4649724"/>
            <a:ext cx="1837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TP/FP 反馈与人工审核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1005840" y="5532120"/>
            <a:ext cx="4023360" cy="274320"/>
          </a:xfrm>
          <a:prstGeom prst="rect">
            <a:avLst/>
          </a:prstGeom>
          <a:solidFill>
            <a:srgbClr val="D89614"/>
          </a:solidFill>
          <a:ln w="6350">
            <a:solidFill>
              <a:srgbClr val="D8961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9848" y="5609844"/>
            <a:ext cx="3895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MLOps：抽取 -&gt; 训练 -&gt; 评估 -&gt; 注册 -&gt; 发布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6080760" y="5715000"/>
            <a:ext cx="2103120" cy="274320"/>
          </a:xfrm>
          <a:prstGeom prst="rect">
            <a:avLst/>
          </a:prstGeom>
          <a:solidFill>
            <a:srgbClr val="D89614"/>
          </a:solidFill>
          <a:ln w="6350">
            <a:solidFill>
              <a:srgbClr val="D8961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44768" y="5792724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Kafka model-updates / Flink 热更新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10149840" y="713232"/>
            <a:ext cx="1234440" cy="274320"/>
          </a:xfrm>
          <a:prstGeom prst="rect">
            <a:avLst/>
          </a:prstGeom>
          <a:solidFill>
            <a:srgbClr val="2F6BFF"/>
          </a:solidFill>
          <a:ln w="6350">
            <a:solidFill>
              <a:srgbClr val="2F6B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213848" y="790956"/>
            <a:ext cx="11064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论文与代码资产库</a:t>
            </a:r>
            <a:endParaRPr lang="en-US" sz="720" dirty="0"/>
          </a:p>
        </p:txBody>
      </p:sp>
      <p:sp>
        <p:nvSpPr>
          <p:cNvPr id="19" name="Shape 16"/>
          <p:cNvSpPr/>
          <p:nvPr/>
        </p:nvSpPr>
        <p:spPr>
          <a:xfrm>
            <a:off x="9692640" y="5285232"/>
            <a:ext cx="1737360" cy="402336"/>
          </a:xfrm>
          <a:prstGeom prst="rect">
            <a:avLst/>
          </a:prstGeom>
          <a:solidFill>
            <a:srgbClr val="B7D12A"/>
          </a:solidFill>
          <a:ln w="6350">
            <a:solidFill>
              <a:srgbClr val="B7D1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756648" y="5409956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 / 候选算法 / 预处理复用 / 验收证据</a:t>
            </a:r>
            <a:endParaRPr lang="en-US" sz="640" dirty="0"/>
          </a:p>
        </p:txBody>
      </p:sp>
      <p:sp>
        <p:nvSpPr>
          <p:cNvPr id="21" name="Text 18"/>
          <p:cNvSpPr/>
          <p:nvPr/>
        </p:nvSpPr>
        <p:spPr>
          <a:xfrm>
            <a:off x="411480" y="651052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9BD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园区网络流量智能检测与分析专题汇报 | 数据来源：远程 traffic-analysis-platform + 本地 858 篇论文/代码分析</a:t>
            </a:r>
            <a:endParaRPr lang="en-US" sz="820" dirty="0"/>
          </a:p>
        </p:txBody>
      </p:sp>
      <p:sp>
        <p:nvSpPr>
          <p:cNvPr id="22" name="Text 19"/>
          <p:cNvSpPr/>
          <p:nvPr/>
        </p:nvSpPr>
        <p:spPr>
          <a:xfrm>
            <a:off x="11292840" y="64556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9BD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IMPLEMENTATION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驱动检测：当前已具备工程闭环，重点补强模型质量与开放集能力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246120" cy="4370832"/>
          </a:xfrm>
          <a:prstGeom prst="rect">
            <a:avLst/>
          </a:prstGeom>
          <a:solidFill>
            <a:srgbClr val="E9F7EF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417320"/>
            <a:ext cx="73152" cy="437083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63624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当前已有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41832" y="2057400"/>
            <a:ext cx="2697480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0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规则检测、行为检测、CEP、Alert Generator</a:t>
            </a:r>
            <a:endParaRPr lang="en-US" sz="1020" dirty="0"/>
          </a:p>
          <a:p>
            <a:pPr marL="165100" indent="-165100">
              <a:buSzPct val="100000"/>
              <a:buChar char="•"/>
            </a:pPr>
            <a:r>
              <a:rPr lang="en-US" sz="10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Alert Feedback、Whitelist、Rule Review</a:t>
            </a:r>
            <a:endParaRPr lang="en-US" sz="1020" dirty="0"/>
          </a:p>
          <a:p>
            <a:pPr marL="165100" indent="-165100">
              <a:buSzPct val="100000"/>
              <a:buChar char="•"/>
            </a:pPr>
            <a:r>
              <a:rPr lang="en-US" sz="10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MLOps：extract/train/evaluate/register</a:t>
            </a:r>
            <a:endParaRPr lang="en-US" sz="1020" dirty="0"/>
          </a:p>
          <a:p>
            <a:pPr marL="165100" indent="-165100">
              <a:buSzPct val="100000"/>
              <a:buChar char="•"/>
            </a:pPr>
            <a:r>
              <a:rPr lang="en-US" sz="10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XGBoost/LightGBM + F1/Precision/Recall/AUC</a:t>
            </a:r>
            <a:endParaRPr lang="en-US" sz="1020" dirty="0"/>
          </a:p>
          <a:p>
            <a:pPr marL="165100" indent="-165100">
              <a:buSzPct val="100000"/>
              <a:buChar char="•"/>
            </a:pPr>
            <a:r>
              <a:rPr lang="en-US" sz="10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MinIO/模型注册/ Kafka model-updates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507992" y="1417320"/>
            <a:ext cx="3246120" cy="4370832"/>
          </a:xfrm>
          <a:prstGeom prst="rect">
            <a:avLst/>
          </a:prstGeom>
          <a:solidFill>
            <a:srgbClr val="EEF6F5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1417320"/>
            <a:ext cx="73152" cy="4370832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563624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需要补强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64024" y="2057400"/>
            <a:ext cx="2697480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0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DA-FDIDS 动态图/少样本/域适应插件</a:t>
            </a:r>
            <a:endParaRPr lang="en-US" sz="1020" dirty="0"/>
          </a:p>
          <a:p>
            <a:pPr marL="165100" indent="-165100">
              <a:buSzPct val="100000"/>
              <a:buChar char="•"/>
            </a:pPr>
            <a:r>
              <a:rPr lang="en-US" sz="10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开放集拒识与 Unknown Recall</a:t>
            </a:r>
            <a:endParaRPr lang="en-US" sz="1020" dirty="0"/>
          </a:p>
          <a:p>
            <a:pPr marL="165100" indent="-165100">
              <a:buSzPct val="100000"/>
              <a:buChar char="•"/>
            </a:pPr>
            <a:r>
              <a:rPr lang="en-US" sz="10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图上下文与多源融合消融</a:t>
            </a:r>
            <a:endParaRPr lang="en-US" sz="1020" dirty="0"/>
          </a:p>
          <a:p>
            <a:pPr marL="165100" indent="-165100">
              <a:buSzPct val="100000"/>
              <a:buChar char="•"/>
            </a:pPr>
            <a:r>
              <a:rPr lang="en-US" sz="10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冻结盲测包与阈值锁</a:t>
            </a:r>
            <a:endParaRPr lang="en-US" sz="1020" dirty="0"/>
          </a:p>
          <a:p>
            <a:pPr marL="165100" indent="-165100">
              <a:buSzPct val="100000"/>
              <a:buChar char="•"/>
            </a:pPr>
            <a:r>
              <a:rPr lang="en-US" sz="10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Python/Java/Flink 离在线一致性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330184" y="1417320"/>
            <a:ext cx="3246120" cy="4370832"/>
          </a:xfrm>
          <a:prstGeom prst="rect">
            <a:avLst/>
          </a:prstGeom>
          <a:solidFill>
            <a:srgbClr val="FBEAE6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30184" y="1417320"/>
            <a:ext cx="73152" cy="4370832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31352" y="1563624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验收落点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586216" y="2057400"/>
            <a:ext cx="2697480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0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准确率、误报率、Unknown Recall</a:t>
            </a:r>
            <a:endParaRPr lang="en-US" sz="1020" dirty="0"/>
          </a:p>
          <a:p>
            <a:pPr marL="165100" indent="-165100">
              <a:buSzPct val="100000"/>
              <a:buChar char="•"/>
            </a:pPr>
            <a:r>
              <a:rPr lang="en-US" sz="10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P95 端到端延迟</a:t>
            </a:r>
            <a:endParaRPr lang="en-US" sz="1020" dirty="0"/>
          </a:p>
          <a:p>
            <a:pPr marL="165100" indent="-165100">
              <a:buSzPct val="100000"/>
              <a:buChar char="•"/>
            </a:pPr>
            <a:r>
              <a:rPr lang="en-US" sz="10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模型版本、灰度、回滚、审计</a:t>
            </a:r>
            <a:endParaRPr lang="en-US" sz="1020" dirty="0"/>
          </a:p>
          <a:p>
            <a:pPr marL="165100" indent="-165100">
              <a:buSzPct val="100000"/>
              <a:buChar char="•"/>
            </a:pPr>
            <a:r>
              <a:rPr lang="en-US" sz="10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PCAP/证据/相似样本解释</a:t>
            </a:r>
            <a:endParaRPr lang="en-US" sz="1020" dirty="0"/>
          </a:p>
          <a:p>
            <a:pPr marL="165100" indent="-165100">
              <a:buSzPct val="100000"/>
              <a:buChar char="•"/>
            </a:pPr>
            <a:r>
              <a:rPr lang="en-US" sz="10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第三方可复测报告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411480" y="651052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园区网络流量智能检测与分析专题汇报 | 数据来源：远程 traffic-analysis-platform + 本地 858 篇论文/代码分析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11292840" y="64556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MLOPS LOOP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MLOps 实现链路：从告警反馈到模型热更新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58368" y="1600200"/>
            <a:ext cx="1874520" cy="292608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600200"/>
            <a:ext cx="73152" cy="292608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746504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数据提取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59536" y="2075688"/>
            <a:ext cx="1545336" cy="2359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ClickHouse features_stat + alerts + alert_feedback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train/test parquet 与 metadata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78608" y="2999232"/>
            <a:ext cx="292608" cy="0"/>
          </a:xfrm>
          <a:prstGeom prst="line">
            <a:avLst/>
          </a:prstGeom>
          <a:noFill/>
          <a:ln w="2540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62656" y="1600200"/>
            <a:ext cx="1874520" cy="2926080"/>
          </a:xfrm>
          <a:prstGeom prst="rect">
            <a:avLst/>
          </a:prstGeom>
          <a:solidFill>
            <a:srgbClr val="EEF6F5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62656" y="1600200"/>
            <a:ext cx="73152" cy="292608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63824" y="1746504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模型训练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163824" y="2075688"/>
            <a:ext cx="1545336" cy="2359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XGBoost / LightGBM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类别不平衡、早停、5 折交叉验证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82896" y="2999232"/>
            <a:ext cx="292608" cy="0"/>
          </a:xfrm>
          <a:prstGeom prst="line">
            <a:avLst/>
          </a:prstGeom>
          <a:noFill/>
          <a:ln w="2540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66944" y="1600200"/>
            <a:ext cx="1874520" cy="292608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66944" y="1600200"/>
            <a:ext cx="73152" cy="2926080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68112" y="1746504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模型评估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68112" y="2075688"/>
            <a:ext cx="1545336" cy="2359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Accuracy / Precision / Recall / F1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AUC-ROC / AUC-PR / 混淆矩阵 / 阈值分析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87184" y="2999232"/>
            <a:ext cx="292608" cy="0"/>
          </a:xfrm>
          <a:prstGeom prst="line">
            <a:avLst/>
          </a:prstGeom>
          <a:noFill/>
          <a:ln w="2540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571232" y="1600200"/>
            <a:ext cx="1874520" cy="2926080"/>
          </a:xfrm>
          <a:prstGeom prst="rect">
            <a:avLst/>
          </a:prstGeom>
          <a:solidFill>
            <a:srgbClr val="EEF6F5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71232" y="1600200"/>
            <a:ext cx="73152" cy="2926080"/>
          </a:xfrm>
          <a:prstGeom prst="rect">
            <a:avLst/>
          </a:prstGeom>
          <a:solidFill>
            <a:srgbClr val="D89614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1746504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模型注册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72400" y="2075688"/>
            <a:ext cx="1545336" cy="2359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MinIO artifact_uri + Model Registry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版本、指标、状态和审计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491472" y="2999232"/>
            <a:ext cx="292608" cy="0"/>
          </a:xfrm>
          <a:prstGeom prst="line">
            <a:avLst/>
          </a:prstGeom>
          <a:noFill/>
          <a:ln w="2540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875520" y="1600200"/>
            <a:ext cx="1874520" cy="292608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875520" y="1600200"/>
            <a:ext cx="73152" cy="2926080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76688" y="1746504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 热更新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076688" y="2075688"/>
            <a:ext cx="1545336" cy="2359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Kafka model-updates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Flink 监听并重载模型/阈值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97280" y="5257800"/>
            <a:ext cx="9921240" cy="566928"/>
          </a:xfrm>
          <a:prstGeom prst="rect">
            <a:avLst/>
          </a:prstGeom>
          <a:solidFill>
            <a:srgbClr val="17212B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97280" y="5257800"/>
            <a:ext cx="73152" cy="566928"/>
          </a:xfrm>
          <a:prstGeom prst="rect">
            <a:avLst/>
          </a:prstGeom>
          <a:solidFill>
            <a:srgbClr val="B7D12A"/>
          </a:solidFill>
          <a:ln w="12700">
            <a:solidFill>
              <a:srgbClr val="B7D1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98448" y="5404104"/>
            <a:ext cx="9592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B7D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1298448" y="5733288"/>
            <a:ext cx="95920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结果必须可解释、可回放、可灰度、可回滚；不能只把离线模型分数堆到告警页面。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411480" y="651052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园区网络流量智能检测与分析专题汇报 | 数据来源：远程 traffic-analysis-platform + 本地 858 篇论文/代码分析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11292840" y="64556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DA-FDIDS POSITION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DA-FDIDS 的正确落点：AI 检测模型插件，而不是全流量平台本身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493776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1143000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563624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模型定位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978408" y="1892808"/>
            <a:ext cx="460857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域自适应基础表征增强的少样本动态网络入侵检测模型；在 DIDS-MFL 基线基础上增强 LoRA、cache、GRL、MMD、Stable-LoRA、RBF cache、MHA feature weighting。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493776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417320"/>
            <a:ext cx="73152" cy="1143000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1563624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谨慎口径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6464808" y="1892808"/>
            <a:ext cx="460857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当前代码更接近 few-shot episode 分类；若称开放集/基础模型，需要补齐未知类拒识、真实预训练 checkpoint、host/time/domain-disjoint 实验。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9808" y="3154680"/>
            <a:ext cx="3218688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154680"/>
            <a:ext cx="73152" cy="62179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300984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TrafficEncoder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950976" y="3630168"/>
            <a:ext cx="28895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统一流量表征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517136" y="3154680"/>
            <a:ext cx="3218688" cy="621792"/>
          </a:xfrm>
          <a:prstGeom prst="rect">
            <a:avLst/>
          </a:prstGeom>
          <a:solidFill>
            <a:srgbClr val="EEF6F5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17136" y="3154680"/>
            <a:ext cx="73152" cy="62179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8304" y="3300984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LoRA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4718304" y="3630168"/>
            <a:ext cx="28895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支持集快速适配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8284464" y="3154680"/>
            <a:ext cx="3218688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84464" y="3154680"/>
            <a:ext cx="73152" cy="621792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5632" y="3300984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Cache Fusion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8485632" y="3630168"/>
            <a:ext cx="28895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相似样本检索增强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49808" y="4142232"/>
            <a:ext cx="3218688" cy="621792"/>
          </a:xfrm>
          <a:prstGeom prst="rect">
            <a:avLst/>
          </a:prstGeom>
          <a:solidFill>
            <a:srgbClr val="EEF6F5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" y="4142232"/>
            <a:ext cx="73152" cy="621792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976" y="4288536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GRL/MMD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950976" y="4617720"/>
            <a:ext cx="28895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域对抗与分布对齐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4517136" y="4142232"/>
            <a:ext cx="3218688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17136" y="4142232"/>
            <a:ext cx="73152" cy="621792"/>
          </a:xfrm>
          <a:prstGeom prst="rect">
            <a:avLst/>
          </a:prstGeom>
          <a:solidFill>
            <a:srgbClr val="D89614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8304" y="4288536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Stable-LoRA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4718304" y="4617720"/>
            <a:ext cx="28895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稳定性约束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8284464" y="4142232"/>
            <a:ext cx="3218688" cy="621792"/>
          </a:xfrm>
          <a:prstGeom prst="rect">
            <a:avLst/>
          </a:prstGeom>
          <a:solidFill>
            <a:srgbClr val="EEF6F5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84464" y="4142232"/>
            <a:ext cx="73152" cy="621792"/>
          </a:xfrm>
          <a:prstGeom prst="rect">
            <a:avLst/>
          </a:prstGeom>
          <a:solidFill>
            <a:srgbClr val="B7D12A"/>
          </a:solidFill>
          <a:ln w="12700">
            <a:solidFill>
              <a:srgbClr val="B7D1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85632" y="4288536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RBF/MHA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8485632" y="4617720"/>
            <a:ext cx="28895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漂移下特征加权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1005840" y="5623560"/>
            <a:ext cx="1010412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5840" y="5623560"/>
            <a:ext cx="73152" cy="4572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07008" y="5769864"/>
            <a:ext cx="9774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工程接入方式</a:t>
            </a:r>
            <a:endParaRPr lang="en-US" sz="1220" dirty="0"/>
          </a:p>
        </p:txBody>
      </p:sp>
      <p:sp>
        <p:nvSpPr>
          <p:cNvPr id="40" name="Text 38"/>
          <p:cNvSpPr/>
          <p:nvPr/>
        </p:nvSpPr>
        <p:spPr>
          <a:xfrm>
            <a:off x="1207008" y="6099048"/>
            <a:ext cx="977493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 DA-FDIDS 作为候选模型服务/离线训练插件接入 FeatureStat/FeatureSeq，输出 DetectionBatch/Evidence，由 MLOps 管版本、阈值、灰度和回滚。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11480" y="651052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园区网络流量智能检测与分析专题汇报 | 数据来源：远程 traffic-analysis-platform + 本地 858 篇论文/代码分析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11292840" y="64556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PAPER 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858 篇论文研究地图：强相关主体集中在流量识别与 NIDS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49808" y="12344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87E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194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49808" y="18288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加密流量分类与应用识别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3063240" y="12344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E85D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184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3063240" y="18288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入侵检测与网络异常检测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394960" y="12344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6557D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68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5394960" y="18288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恶意流量、暗网与攻击检测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7543800" y="1234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D8961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63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7543800" y="18288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图学习、知识图谱与威胁情报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9921240" y="12344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F6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9921240" y="18288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时序/日志/KPI/云原生异常</a:t>
            </a:r>
            <a:endParaRPr lang="en-US" sz="980" dirty="0"/>
          </a:p>
        </p:txBody>
      </p:sp>
      <p:pic>
        <p:nvPicPr>
          <p:cNvPr id="15" name="Image 0" descr="F:\泉城实验室\二期\论文\异常检测\综合分析\图表\大类归类统计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2514600"/>
            <a:ext cx="5394960" cy="3154680"/>
          </a:xfrm>
          <a:prstGeom prst="rect">
            <a:avLst/>
          </a:prstGeom>
        </p:spPr>
      </p:pic>
      <p:pic>
        <p:nvPicPr>
          <p:cNvPr id="16" name="Image 1" descr="F:\泉城实验室\二期\论文\异常检测\综合分析\图表\年度趋势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46520" y="2514600"/>
            <a:ext cx="4846320" cy="31546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11480" y="651052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园区网络流量智能检测与分析专题汇报 | 数据来源：远程 traffic-analysis-platform + 本地 858 篇论文/代码分析</a:t>
            </a:r>
            <a:endParaRPr lang="en-US" sz="820" dirty="0"/>
          </a:p>
        </p:txBody>
      </p:sp>
      <p:sp>
        <p:nvSpPr>
          <p:cNvPr id="18" name="Text 14"/>
          <p:cNvSpPr/>
          <p:nvPr/>
        </p:nvSpPr>
        <p:spPr>
          <a:xfrm>
            <a:off x="11292840" y="64556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RELEVANCE &amp; CODE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论文使用优先级：439 篇强相关，120 篇已有可用代码覆盖</a:t>
            </a:r>
            <a:endParaRPr lang="en-US" sz="2500" dirty="0"/>
          </a:p>
        </p:txBody>
      </p:sp>
      <p:pic>
        <p:nvPicPr>
          <p:cNvPr id="5" name="Image 0" descr="F:\泉城实验室\二期\论文\异常检测\综合分析\图表\相关性分布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417320"/>
            <a:ext cx="4892040" cy="2880360"/>
          </a:xfrm>
          <a:prstGeom prst="rect">
            <a:avLst/>
          </a:prstGeom>
        </p:spPr>
      </p:pic>
      <p:pic>
        <p:nvPicPr>
          <p:cNvPr id="6" name="Image 1" descr="F:\泉城实验室\二期\论文\异常检测\综合分析\图表\代码状态分布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46520" y="1417320"/>
            <a:ext cx="4709160" cy="28803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14400" y="4736592"/>
            <a:ext cx="1143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14400" y="4736592"/>
            <a:ext cx="54864" cy="329184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24128" y="488289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强相关</a:t>
            </a:r>
            <a:endParaRPr lang="en-US" sz="970" dirty="0"/>
          </a:p>
        </p:txBody>
      </p:sp>
      <p:sp>
        <p:nvSpPr>
          <p:cNvPr id="10" name="Shape 6"/>
          <p:cNvSpPr/>
          <p:nvPr/>
        </p:nvSpPr>
        <p:spPr>
          <a:xfrm>
            <a:off x="2057400" y="4736592"/>
            <a:ext cx="1737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167128" y="488289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439 篇</a:t>
            </a:r>
            <a:endParaRPr lang="en-US" sz="920" dirty="0"/>
          </a:p>
        </p:txBody>
      </p:sp>
      <p:sp>
        <p:nvSpPr>
          <p:cNvPr id="12" name="Shape 8"/>
          <p:cNvSpPr/>
          <p:nvPr/>
        </p:nvSpPr>
        <p:spPr>
          <a:xfrm>
            <a:off x="3794760" y="4736592"/>
            <a:ext cx="74980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904488" y="488289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优先进入模型候选、基线复现、benchmark 与系统增强</a:t>
            </a:r>
            <a:endParaRPr lang="en-US" sz="920" dirty="0"/>
          </a:p>
        </p:txBody>
      </p:sp>
      <p:sp>
        <p:nvSpPr>
          <p:cNvPr id="14" name="Shape 10"/>
          <p:cNvSpPr/>
          <p:nvPr/>
        </p:nvSpPr>
        <p:spPr>
          <a:xfrm>
            <a:off x="914400" y="5120640"/>
            <a:ext cx="1143000" cy="329184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5120640"/>
            <a:ext cx="54864" cy="32918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24128" y="526694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中相关</a:t>
            </a:r>
            <a:endParaRPr lang="en-US" sz="970" dirty="0"/>
          </a:p>
        </p:txBody>
      </p:sp>
      <p:sp>
        <p:nvSpPr>
          <p:cNvPr id="17" name="Shape 13"/>
          <p:cNvSpPr/>
          <p:nvPr/>
        </p:nvSpPr>
        <p:spPr>
          <a:xfrm>
            <a:off x="2057400" y="5120640"/>
            <a:ext cx="1737360" cy="329184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167128" y="526694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251 篇</a:t>
            </a:r>
            <a:endParaRPr lang="en-US" sz="920" dirty="0"/>
          </a:p>
        </p:txBody>
      </p:sp>
      <p:sp>
        <p:nvSpPr>
          <p:cNvPr id="19" name="Shape 15"/>
          <p:cNvSpPr/>
          <p:nvPr/>
        </p:nvSpPr>
        <p:spPr>
          <a:xfrm>
            <a:off x="3794760" y="5120640"/>
            <a:ext cx="7498080" cy="329184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904488" y="526694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用于图关联、时序日志、联邦协同、边缘部署等模块迁移</a:t>
            </a:r>
            <a:endParaRPr lang="en-US" sz="920" dirty="0"/>
          </a:p>
        </p:txBody>
      </p:sp>
      <p:sp>
        <p:nvSpPr>
          <p:cNvPr id="21" name="Shape 17"/>
          <p:cNvSpPr/>
          <p:nvPr/>
        </p:nvSpPr>
        <p:spPr>
          <a:xfrm>
            <a:off x="914400" y="5504688"/>
            <a:ext cx="1143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14400" y="5504688"/>
            <a:ext cx="54864" cy="329184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024128" y="565099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弱相关</a:t>
            </a:r>
            <a:endParaRPr lang="en-US" sz="970" dirty="0"/>
          </a:p>
        </p:txBody>
      </p:sp>
      <p:sp>
        <p:nvSpPr>
          <p:cNvPr id="24" name="Shape 20"/>
          <p:cNvSpPr/>
          <p:nvPr/>
        </p:nvSpPr>
        <p:spPr>
          <a:xfrm>
            <a:off x="2057400" y="5504688"/>
            <a:ext cx="1737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167128" y="56509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557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168 篇</a:t>
            </a:r>
            <a:endParaRPr lang="en-US" sz="920" dirty="0"/>
          </a:p>
        </p:txBody>
      </p:sp>
      <p:sp>
        <p:nvSpPr>
          <p:cNvPr id="26" name="Shape 22"/>
          <p:cNvSpPr/>
          <p:nvPr/>
        </p:nvSpPr>
        <p:spPr>
          <a:xfrm>
            <a:off x="3794760" y="5504688"/>
            <a:ext cx="74980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904488" y="565099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主要服务背景综述、异常检测通用范式和评审补充</a:t>
            </a:r>
            <a:endParaRPr lang="en-US" sz="920" dirty="0"/>
          </a:p>
        </p:txBody>
      </p:sp>
      <p:sp>
        <p:nvSpPr>
          <p:cNvPr id="28" name="Shape 24"/>
          <p:cNvSpPr/>
          <p:nvPr/>
        </p:nvSpPr>
        <p:spPr>
          <a:xfrm>
            <a:off x="914400" y="5888736"/>
            <a:ext cx="1143000" cy="329184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914400" y="5888736"/>
            <a:ext cx="54864" cy="329184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024128" y="603504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代码状态</a:t>
            </a:r>
            <a:endParaRPr lang="en-US" sz="970" dirty="0"/>
          </a:p>
        </p:txBody>
      </p:sp>
      <p:sp>
        <p:nvSpPr>
          <p:cNvPr id="31" name="Shape 27"/>
          <p:cNvSpPr/>
          <p:nvPr/>
        </p:nvSpPr>
        <p:spPr>
          <a:xfrm>
            <a:off x="2057400" y="5888736"/>
            <a:ext cx="1737360" cy="329184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167128" y="603504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85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127 个已下载仓库记录</a:t>
            </a:r>
            <a:endParaRPr lang="en-US" sz="920" dirty="0"/>
          </a:p>
        </p:txBody>
      </p:sp>
      <p:sp>
        <p:nvSpPr>
          <p:cNvPr id="33" name="Shape 29"/>
          <p:cNvSpPr/>
          <p:nvPr/>
        </p:nvSpPr>
        <p:spPr>
          <a:xfrm>
            <a:off x="3794760" y="5888736"/>
            <a:ext cx="7498080" cy="329184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904488" y="60350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120 篇论文；145 条代码候选用于持续核验</a:t>
            </a:r>
            <a:endParaRPr lang="en-US" sz="920" dirty="0"/>
          </a:p>
        </p:txBody>
      </p:sp>
      <p:sp>
        <p:nvSpPr>
          <p:cNvPr id="35" name="Text 31"/>
          <p:cNvSpPr/>
          <p:nvPr/>
        </p:nvSpPr>
        <p:spPr>
          <a:xfrm>
            <a:off x="411480" y="651052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园区网络流量智能检测与分析专题汇报 | 数据来源：远程 traffic-analysis-platform + 本地 858 篇论文/代码分析</a:t>
            </a:r>
            <a:endParaRPr lang="en-US" sz="820" dirty="0"/>
          </a:p>
        </p:txBody>
      </p:sp>
      <p:sp>
        <p:nvSpPr>
          <p:cNvPr id="36" name="Text 32"/>
          <p:cNvSpPr/>
          <p:nvPr/>
        </p:nvSpPr>
        <p:spPr>
          <a:xfrm>
            <a:off x="11292840" y="64556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RESEARCH SIGNALS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论文启示：工程系统必须同时处理可观测缺失、实时约束和真实漂移</a:t>
            </a:r>
            <a:endParaRPr lang="en-US" sz="2500" dirty="0"/>
          </a:p>
        </p:txBody>
      </p:sp>
      <p:pic>
        <p:nvPicPr>
          <p:cNvPr id="5" name="Image 0" descr="F:\泉城实验室\二期\论文\异常检测\综合分析\图表\创新点分布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298448"/>
            <a:ext cx="5303520" cy="3246120"/>
          </a:xfrm>
          <a:prstGeom prst="rect">
            <a:avLst/>
          </a:prstGeom>
        </p:spPr>
      </p:pic>
      <p:pic>
        <p:nvPicPr>
          <p:cNvPr id="6" name="Image 1" descr="F:\泉城实验室\二期\论文\异常检测\综合分析\图表\科学问题分布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72784" y="1298448"/>
            <a:ext cx="5349240" cy="32461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74920"/>
            <a:ext cx="3337560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22960" y="5074920"/>
            <a:ext cx="73152" cy="694944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24128" y="5221224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表征学习</a:t>
            </a:r>
            <a:endParaRPr lang="en-US" sz="1220" dirty="0"/>
          </a:p>
        </p:txBody>
      </p:sp>
      <p:sp>
        <p:nvSpPr>
          <p:cNvPr id="10" name="Text 6"/>
          <p:cNvSpPr/>
          <p:nvPr/>
        </p:nvSpPr>
        <p:spPr>
          <a:xfrm>
            <a:off x="1024128" y="5550408"/>
            <a:ext cx="300837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字节/包/流/图统一表征，适合进入 FeatureSeq 与模型插件。</a:t>
            </a:r>
            <a:endParaRPr lang="en-US" sz="880" dirty="0"/>
          </a:p>
        </p:txBody>
      </p:sp>
      <p:sp>
        <p:nvSpPr>
          <p:cNvPr id="11" name="Shape 7"/>
          <p:cNvSpPr/>
          <p:nvPr/>
        </p:nvSpPr>
        <p:spPr>
          <a:xfrm>
            <a:off x="4434840" y="5074920"/>
            <a:ext cx="3337560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434840" y="5074920"/>
            <a:ext cx="73152" cy="694944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636008" y="5221224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开放世界</a:t>
            </a:r>
            <a:endParaRPr lang="en-US" sz="1220" dirty="0"/>
          </a:p>
        </p:txBody>
      </p:sp>
      <p:sp>
        <p:nvSpPr>
          <p:cNvPr id="14" name="Text 10"/>
          <p:cNvSpPr/>
          <p:nvPr/>
        </p:nvSpPr>
        <p:spPr>
          <a:xfrm>
            <a:off x="4636008" y="5550408"/>
            <a:ext cx="300837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未知攻击、低误报、漂移适配需要独立指标和阈值锁。</a:t>
            </a:r>
            <a:endParaRPr lang="en-US" sz="880" dirty="0"/>
          </a:p>
        </p:txBody>
      </p:sp>
      <p:sp>
        <p:nvSpPr>
          <p:cNvPr id="15" name="Shape 11"/>
          <p:cNvSpPr/>
          <p:nvPr/>
        </p:nvSpPr>
        <p:spPr>
          <a:xfrm>
            <a:off x="8046720" y="5074920"/>
            <a:ext cx="3337560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46720" y="5074920"/>
            <a:ext cx="73152" cy="694944"/>
          </a:xfrm>
          <a:prstGeom prst="rect">
            <a:avLst/>
          </a:prstGeom>
          <a:solidFill>
            <a:srgbClr val="D89614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47888" y="5221224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系统评测</a:t>
            </a:r>
            <a:endParaRPr lang="en-US" sz="1220" dirty="0"/>
          </a:p>
        </p:txBody>
      </p:sp>
      <p:sp>
        <p:nvSpPr>
          <p:cNvPr id="18" name="Text 14"/>
          <p:cNvSpPr/>
          <p:nvPr/>
        </p:nvSpPr>
        <p:spPr>
          <a:xfrm>
            <a:off x="8247888" y="5550408"/>
            <a:ext cx="300837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Benchmark、回放、第三方盲测比单点高分更重要。</a:t>
            </a:r>
            <a:endParaRPr lang="en-US" sz="880" dirty="0"/>
          </a:p>
        </p:txBody>
      </p:sp>
      <p:sp>
        <p:nvSpPr>
          <p:cNvPr id="19" name="Text 15"/>
          <p:cNvSpPr/>
          <p:nvPr/>
        </p:nvSpPr>
        <p:spPr>
          <a:xfrm>
            <a:off x="411480" y="651052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园区网络流量智能检测与分析专题汇报 | 数据来源：远程 traffic-analysis-platform + 本地 858 篇论文/代码分析</a:t>
            </a:r>
            <a:endParaRPr lang="en-US" sz="820" dirty="0"/>
          </a:p>
        </p:txBody>
      </p:sp>
      <p:sp>
        <p:nvSpPr>
          <p:cNvPr id="20" name="Text 16"/>
          <p:cNvSpPr/>
          <p:nvPr/>
        </p:nvSpPr>
        <p:spPr>
          <a:xfrm>
            <a:off x="11292840" y="64556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PAPER-TO-SYSTEM FRAMES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逐帧使用论文：从“读文献”转成“系统组件证据链”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420624" cy="420624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44752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252728" y="1271016"/>
            <a:ext cx="1014984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2728" y="1271016"/>
            <a:ext cx="73152" cy="57607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53896" y="1417320"/>
            <a:ext cx="9820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Frame 1  需求与科学问题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1453896" y="1746504"/>
            <a:ext cx="98206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10 类科学问题解释为什么需要加密流量表征、图融合、开放集和持续学习。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685800" y="2258568"/>
            <a:ext cx="420624" cy="420624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77440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252728" y="2203704"/>
            <a:ext cx="1014984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2728" y="2203704"/>
            <a:ext cx="73152" cy="57607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53896" y="2350008"/>
            <a:ext cx="9820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Frame 2  技术路线筛选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1453896" y="2679192"/>
            <a:ext cx="98206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强相关论文先进入加密流量、NIDS、恶意流量、图学习、在线部署五个技术簇。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685800" y="3191256"/>
            <a:ext cx="420624" cy="420624"/>
          </a:xfrm>
          <a:prstGeom prst="ellipse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310128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252728" y="3136392"/>
            <a:ext cx="1014984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2728" y="3136392"/>
            <a:ext cx="73152" cy="576072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53896" y="3282696"/>
            <a:ext cx="9820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Frame 3  模型与基线复现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1453896" y="3611880"/>
            <a:ext cx="98206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优先复现强相关 + 已下载代码，形成 FS-Net/ET-BERT/TrafficFormer/FIR-GNN/HyperVision 等 benchmark。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685800" y="4123944"/>
            <a:ext cx="420624" cy="420624"/>
          </a:xfrm>
          <a:prstGeom prst="ellipse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242816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252728" y="4069080"/>
            <a:ext cx="1014984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2728" y="4069080"/>
            <a:ext cx="73152" cy="576072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53896" y="4215384"/>
            <a:ext cx="9820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Frame 4  工程接入设计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1453896" y="4544568"/>
            <a:ext cx="98206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把论文方法映射到 FeatureStat/FeatureSeq、DetectionBatch、Evidence、MLOps、model-updates。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685800" y="5056632"/>
            <a:ext cx="420624" cy="420624"/>
          </a:xfrm>
          <a:prstGeom prst="ellipse">
            <a:avLst/>
          </a:prstGeom>
          <a:solidFill>
            <a:srgbClr val="D89614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175504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252728" y="5001768"/>
            <a:ext cx="1014984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52728" y="5001768"/>
            <a:ext cx="73152" cy="576072"/>
          </a:xfrm>
          <a:prstGeom prst="rect">
            <a:avLst/>
          </a:prstGeom>
          <a:solidFill>
            <a:srgbClr val="D89614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53896" y="5148072"/>
            <a:ext cx="9820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Frame 5  验收与论文输出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1453896" y="5477256"/>
            <a:ext cx="98206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冻结盲测包、复现表、消融、错误分析、第三方报告共同支撑论文/专利/软著/验收。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411480" y="651052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园区网络流量智能检测与分析专题汇报 | 数据来源：远程 traffic-analysis-platform + 本地 858 篇论文/代码分析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11292840" y="64556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SOURCE REUSE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开源代码使用方式：不是直接搬模型，而是形成可复现组件库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58368" y="1234440"/>
            <a:ext cx="1417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234440"/>
            <a:ext cx="54864" cy="62179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38074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表征与预训练</a:t>
            </a:r>
            <a:endParaRPr lang="en-US" sz="970" dirty="0"/>
          </a:p>
        </p:txBody>
      </p:sp>
      <p:sp>
        <p:nvSpPr>
          <p:cNvPr id="8" name="Shape 6"/>
          <p:cNvSpPr/>
          <p:nvPr/>
        </p:nvSpPr>
        <p:spPr>
          <a:xfrm>
            <a:off x="2075688" y="1234440"/>
            <a:ext cx="3703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85416" y="138074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ET-BERT、TrafficFormer、TrafficLLM、YaTC、UniNet、FS-Net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779008" y="1234440"/>
            <a:ext cx="56235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88736" y="138074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构建字节/包/流序列表征、tokenizer、预训练/微调基线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58368" y="2194560"/>
            <a:ext cx="1417320" cy="621792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194560"/>
            <a:ext cx="54864" cy="621792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34086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图与开放集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2075688" y="2194560"/>
            <a:ext cx="3703320" cy="621792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85416" y="234086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557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FIR-GNN、HyperVision、DawnGuard、ERFS、FeCoGraph、Sieve、Open-Detect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779008" y="2194560"/>
            <a:ext cx="5623560" cy="621792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88736" y="234086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抽取图构造、few-shot、未知/噪声标签处理和关系建模方法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58368" y="3154680"/>
            <a:ext cx="1417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3154680"/>
            <a:ext cx="54864" cy="621792"/>
          </a:xfrm>
          <a:prstGeom prst="rect">
            <a:avLst/>
          </a:prstGeom>
          <a:solidFill>
            <a:srgbClr val="D89614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33009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实时与工具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2075688" y="3154680"/>
            <a:ext cx="3703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85416" y="330098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89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Marina、NTLFlowLyzer、FastTraffic、CENTIME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5779008" y="3154680"/>
            <a:ext cx="56235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88736" y="33009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复用高性能特征、流量切分、轻量分类和数据集生成思路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58368" y="4114800"/>
            <a:ext cx="1417320" cy="621792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114800"/>
            <a:ext cx="54864" cy="621792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" y="426110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漂移与鲁棒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2075688" y="4114800"/>
            <a:ext cx="3703320" cy="621792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85416" y="426110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85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Rosetta、Argus、ReCDA、PANTS、MAML-Training-ETC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5779008" y="4114800"/>
            <a:ext cx="5623560" cy="621792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88736" y="426110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支撑跨域、漂移、自适应、对抗鲁棒和动态网络实验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658368" y="5074920"/>
            <a:ext cx="1417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" y="5074920"/>
            <a:ext cx="54864" cy="62179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" y="522122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知识与取证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2075688" y="5074920"/>
            <a:ext cx="3703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85416" y="522122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Open-CyKG、Krystal、TeRed、TraceCluster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5779008" y="5074920"/>
            <a:ext cx="56235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88736" y="522122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补强图谱、威胁情报、因果/溯源和证据解释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896112" y="5989320"/>
            <a:ext cx="1019556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6112" y="5989320"/>
            <a:ext cx="73152" cy="384048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97280" y="6135624"/>
            <a:ext cx="9866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使用原则</a:t>
            </a:r>
            <a:endParaRPr lang="en-US" sz="1220" dirty="0"/>
          </a:p>
        </p:txBody>
      </p:sp>
      <p:sp>
        <p:nvSpPr>
          <p:cNvPr id="43" name="Text 41"/>
          <p:cNvSpPr/>
          <p:nvPr/>
        </p:nvSpPr>
        <p:spPr>
          <a:xfrm>
            <a:off x="1097280" y="6464808"/>
            <a:ext cx="986637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先做统一数据适配与指标复现，再做模型裁剪和在线接入；不把论文仓库原样放进生产链路。</a:t>
            </a:r>
            <a:endParaRPr lang="en-US" sz="940" dirty="0"/>
          </a:p>
        </p:txBody>
      </p:sp>
      <p:sp>
        <p:nvSpPr>
          <p:cNvPr id="44" name="Text 42"/>
          <p:cNvSpPr/>
          <p:nvPr/>
        </p:nvSpPr>
        <p:spPr>
          <a:xfrm>
            <a:off x="411480" y="651052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园区网络流量智能检测与分析专题汇报 | 数据来源：远程 traffic-analysis-platform + 本地 858 篇论文/代码分析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11292840" y="64556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PRIORITY PAPERS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强相关优先清单：先打通对系统最有价值的复现闭环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58368" y="1234440"/>
            <a:ext cx="14173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234440"/>
            <a:ext cx="54864" cy="493776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38074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DawnGuard</a:t>
            </a:r>
            <a:endParaRPr lang="en-US" sz="970" dirty="0"/>
          </a:p>
        </p:txBody>
      </p:sp>
      <p:sp>
        <p:nvSpPr>
          <p:cNvPr id="8" name="Shape 6"/>
          <p:cNvSpPr/>
          <p:nvPr/>
        </p:nvSpPr>
        <p:spPr>
          <a:xfrm>
            <a:off x="2075688" y="1234440"/>
            <a:ext cx="41605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85416" y="138074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多流时序图，早期加密恶意流量检测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236208" y="1234440"/>
            <a:ext cx="52120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5936" y="138074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图/早期检测/恶意加密流量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58368" y="1947672"/>
            <a:ext cx="1417320" cy="493776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1947672"/>
            <a:ext cx="54864" cy="493776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09397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SnifferDog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2075688" y="1947672"/>
            <a:ext cx="4160520" cy="493776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85416" y="209397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异构特征综合学习识别恶意流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236208" y="1947672"/>
            <a:ext cx="5212080" cy="493776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209397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多视图特征融合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58368" y="2660904"/>
            <a:ext cx="14173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2660904"/>
            <a:ext cx="54864" cy="493776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280720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FIR-GNN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2075688" y="2660904"/>
            <a:ext cx="41605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85416" y="280720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557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基于流交互关系的图神经网络 IDS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6236208" y="2660904"/>
            <a:ext cx="52120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45936" y="280720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图结构入侵检测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58368" y="3374136"/>
            <a:ext cx="1417320" cy="493776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3374136"/>
            <a:ext cx="54864" cy="493776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" y="35204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HyperVision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2075688" y="3374136"/>
            <a:ext cx="4160520" cy="493776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85416" y="352044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85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未知加密恶意流量实时图分析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6236208" y="3374136"/>
            <a:ext cx="5212080" cy="493776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45936" y="352044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开放集/未知攻击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658368" y="4087368"/>
            <a:ext cx="14173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" y="4087368"/>
            <a:ext cx="54864" cy="493776"/>
          </a:xfrm>
          <a:prstGeom prst="rect">
            <a:avLst/>
          </a:prstGeom>
          <a:solidFill>
            <a:srgbClr val="D89614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" y="423367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Marina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2075688" y="4087368"/>
            <a:ext cx="41605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85416" y="423367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89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Terabit 级 ML 驱动实时网络监测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6236208" y="4087368"/>
            <a:ext cx="52120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45936" y="423367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高速监测工程参考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658368" y="4800600"/>
            <a:ext cx="1417320" cy="493776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8368" y="4800600"/>
            <a:ext cx="54864" cy="493776"/>
          </a:xfrm>
          <a:prstGeom prst="rect">
            <a:avLst/>
          </a:prstGeom>
          <a:solidFill>
            <a:srgbClr val="B7D12A"/>
          </a:solidFill>
          <a:ln w="12700">
            <a:solidFill>
              <a:srgbClr val="B7D1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096" y="494690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TrafficLLM</a:t>
            </a:r>
            <a:endParaRPr lang="en-US" sz="970" dirty="0"/>
          </a:p>
        </p:txBody>
      </p:sp>
      <p:sp>
        <p:nvSpPr>
          <p:cNvPr id="43" name="Shape 41"/>
          <p:cNvSpPr/>
          <p:nvPr/>
        </p:nvSpPr>
        <p:spPr>
          <a:xfrm>
            <a:off x="2075688" y="4800600"/>
            <a:ext cx="4160520" cy="493776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85416" y="49469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B7D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面向网络流量分析的大模型表征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6236208" y="4800600"/>
            <a:ext cx="5212080" cy="493776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45936" y="494690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LLM/通用表示扩展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914400" y="5742432"/>
            <a:ext cx="1024128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4400" y="5742432"/>
            <a:ext cx="73152" cy="475488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15568" y="5888736"/>
            <a:ext cx="9912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复现产物</a:t>
            </a:r>
            <a:endParaRPr lang="en-US" sz="1220" dirty="0"/>
          </a:p>
        </p:txBody>
      </p:sp>
      <p:sp>
        <p:nvSpPr>
          <p:cNvPr id="50" name="Text 48"/>
          <p:cNvSpPr/>
          <p:nvPr/>
        </p:nvSpPr>
        <p:spPr>
          <a:xfrm>
            <a:off x="1115568" y="6217920"/>
            <a:ext cx="991209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每篇形成：数据适配脚本、训练/推理入口、指标 JSON、错误样本、可接入平台的特征/模型接口说明。</a:t>
            </a:r>
            <a:endParaRPr lang="en-US" sz="1020" dirty="0"/>
          </a:p>
        </p:txBody>
      </p:sp>
      <p:sp>
        <p:nvSpPr>
          <p:cNvPr id="51" name="Text 49"/>
          <p:cNvSpPr/>
          <p:nvPr/>
        </p:nvSpPr>
        <p:spPr>
          <a:xfrm>
            <a:off x="411480" y="651052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园区网络流量智能检测与分析专题汇报 | 数据来源：远程 traffic-analysis-platform + 本地 858 篇论文/代码分析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11292840" y="64556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ACCEPTANCE BOUNDARY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验收口径：功能主链路与任务书指标必须分层表达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58368" y="1325880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25880"/>
            <a:ext cx="54864" cy="566928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47218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功能主链路</a:t>
            </a:r>
            <a:endParaRPr lang="en-US" sz="970" dirty="0"/>
          </a:p>
        </p:txBody>
      </p:sp>
      <p:sp>
        <p:nvSpPr>
          <p:cNvPr id="8" name="Shape 6"/>
          <p:cNvSpPr/>
          <p:nvPr/>
        </p:nvSpPr>
        <p:spPr>
          <a:xfrm>
            <a:off x="2487168" y="1325880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96896" y="147218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有较强证据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3904488" y="1325880"/>
            <a:ext cx="7726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14216" y="1472184"/>
            <a:ext cx="7543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远程记录显示 full/live/python-test 通过，业务 Pod 正常运行；可用于演示和功能回归。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58368" y="2130552"/>
            <a:ext cx="1828800" cy="566928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130552"/>
            <a:ext cx="54864" cy="566928"/>
          </a:xfrm>
          <a:prstGeom prst="rect">
            <a:avLst/>
          </a:prstGeom>
          <a:solidFill>
            <a:srgbClr val="D89614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27685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P95 &lt;= 60s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2487168" y="2130552"/>
            <a:ext cx="1417320" cy="566928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96896" y="227685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89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待专项证据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3904488" y="2130552"/>
            <a:ext cx="7726680" cy="566928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14216" y="2276856"/>
            <a:ext cx="7543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 event_ts、ingest_ts、kafka_ts、flink_out_ts、api_seen_ts、ui_seen_ts 的端到端统计。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58368" y="2935224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2935224"/>
            <a:ext cx="54864" cy="566928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308152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x 100Gbps / 512Mpps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2487168" y="2935224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96896" y="308152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85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待压测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3904488" y="2935224"/>
            <a:ext cx="7726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14216" y="3081528"/>
            <a:ext cx="7543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需要硬件拓扑、包长分布、丢包率、CPU/NUMA、Kafka lag、Flink backpressure 报告。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58368" y="3739896"/>
            <a:ext cx="1828800" cy="566928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3739896"/>
            <a:ext cx="54864" cy="566928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" y="38862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 准确率 / &lt;5% 误报率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2487168" y="3739896"/>
            <a:ext cx="1417320" cy="566928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96896" y="388620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85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待第三方盲测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3904488" y="3739896"/>
            <a:ext cx="7726680" cy="566928"/>
          </a:xfrm>
          <a:prstGeom prst="rect">
            <a:avLst/>
          </a:prstGeom>
          <a:solidFill>
            <a:srgbClr val="EEF6F5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14216" y="3886200"/>
            <a:ext cx="7543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需要冻结样本、标签、阈值锁、混淆矩阵、Unknown Recall 和置信区间。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658368" y="4544568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" y="4544568"/>
            <a:ext cx="54864" cy="566928"/>
          </a:xfrm>
          <a:prstGeom prst="rect">
            <a:avLst/>
          </a:prstGeom>
          <a:solidFill>
            <a:srgbClr val="D89614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" y="46908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生产安全与 HA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2487168" y="4544568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96896" y="469087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89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持续加固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3904488" y="4544568"/>
            <a:ext cx="7726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14216" y="4690872"/>
            <a:ext cx="7543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Kafka SASL_SSL、ExternalSecret、mTLS、NetworkPolicy、故障演练、RTO/RPO。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896112" y="5669280"/>
            <a:ext cx="10287000" cy="493776"/>
          </a:xfrm>
          <a:prstGeom prst="rect">
            <a:avLst/>
          </a:prstGeom>
          <a:solidFill>
            <a:srgbClr val="17212B"/>
          </a:solidFill>
          <a:ln w="8890">
            <a:solidFill>
              <a:srgbClr val="1721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6112" y="5669280"/>
            <a:ext cx="73152" cy="493776"/>
          </a:xfrm>
          <a:prstGeom prst="rect">
            <a:avLst/>
          </a:prstGeom>
          <a:solidFill>
            <a:srgbClr val="B7D12A"/>
          </a:solidFill>
          <a:ln w="12700">
            <a:solidFill>
              <a:srgbClr val="B7D1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97280" y="5815584"/>
            <a:ext cx="9957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B7D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汇报红线</a:t>
            </a:r>
            <a:endParaRPr lang="en-US" sz="1220" dirty="0"/>
          </a:p>
        </p:txBody>
      </p:sp>
      <p:sp>
        <p:nvSpPr>
          <p:cNvPr id="43" name="Text 41"/>
          <p:cNvSpPr/>
          <p:nvPr/>
        </p:nvSpPr>
        <p:spPr>
          <a:xfrm>
            <a:off x="1097280" y="6144768"/>
            <a:ext cx="99578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不能把“架构支持”“小样本演示”“代码存在”写成“指标已经全部达成”。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11480" y="651052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园区网络流量智能检测与分析专题汇报 | 数据来源：远程 traffic-analysis-platform + 本地 858 篇论文/代码分析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11292840" y="64556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TARGET 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最终应该呈现出的成果形态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58368" y="1325880"/>
            <a:ext cx="5029200" cy="9875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325880"/>
            <a:ext cx="73152" cy="98755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472184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可演示系统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859536" y="1801368"/>
            <a:ext cx="470001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UI 真实 API、态势大屏、告警、图谱、PCAP 取证、反馈与模型管理闭环。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190488" y="1325880"/>
            <a:ext cx="5029200" cy="987552"/>
          </a:xfrm>
          <a:prstGeom prst="rect">
            <a:avLst/>
          </a:prstGeom>
          <a:solidFill>
            <a:srgbClr val="EEF6F5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0488" y="1325880"/>
            <a:ext cx="73152" cy="98755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1656" y="1472184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可运行链路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6391656" y="1801368"/>
            <a:ext cx="470001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Probe/Kafka/Flink/CH/PG/OS/Nebula/Redis/MinIO/Go API/K8s 清单可追踪。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58368" y="2788920"/>
            <a:ext cx="5029200" cy="9875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" y="2788920"/>
            <a:ext cx="73152" cy="987552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2935224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模型包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59536" y="3264408"/>
            <a:ext cx="470001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规则+行为+CEP 当前可用；DA-FDIDS/图/开放集/预训练模型以插件方式进入 MLOps。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6190488" y="2788920"/>
            <a:ext cx="5029200" cy="987552"/>
          </a:xfrm>
          <a:prstGeom prst="rect">
            <a:avLst/>
          </a:prstGeom>
          <a:solidFill>
            <a:srgbClr val="EEF6F5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90488" y="2788920"/>
            <a:ext cx="73152" cy="987552"/>
          </a:xfrm>
          <a:prstGeom prst="rect">
            <a:avLst/>
          </a:prstGeom>
          <a:solidFill>
            <a:srgbClr val="D89614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1656" y="2935224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论文代码证据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6391656" y="3264408"/>
            <a:ext cx="470001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858 篇研究地图、强相关复现清单、127 个代码仓库、benchmark 与消融表。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58368" y="4251960"/>
            <a:ext cx="5029200" cy="9875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" y="4251960"/>
            <a:ext cx="73152" cy="987552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4398264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验收证据包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859536" y="4727448"/>
            <a:ext cx="470001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基线、样本、标签、指标、P95、压测、安全、HA、第三方盲测和试点报告。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190488" y="4251960"/>
            <a:ext cx="5029200" cy="987552"/>
          </a:xfrm>
          <a:prstGeom prst="rect">
            <a:avLst/>
          </a:prstGeom>
          <a:solidFill>
            <a:srgbClr val="EEF6F5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90488" y="4251960"/>
            <a:ext cx="73152" cy="9875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91656" y="4398264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科研输出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6391656" y="4727448"/>
            <a:ext cx="470001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论文、专利、软著和技术报告共享同一真实工程证据链。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11480" y="651052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园区网络流量智能检测与分析专题汇报 | 数据来源：远程 traffic-analysis-platform + 本地 858 篇论文/代码分析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11292840" y="64556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实施路线：先闭环可信最小系统，再扩展高速与第三方验收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21792" y="1481328"/>
            <a:ext cx="1874520" cy="41605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481328"/>
            <a:ext cx="73152" cy="41605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27632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  架构与证据冻结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22960" y="1956816"/>
            <a:ext cx="1545336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固化当前代码、镜像、K8s、topic、DDL、样本和 PPT 架构口径。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0" y="1481328"/>
            <a:ext cx="1874520" cy="4160520"/>
          </a:xfrm>
          <a:prstGeom prst="rect">
            <a:avLst/>
          </a:prstGeom>
          <a:solidFill>
            <a:srgbClr val="EEF6F5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0" y="1481328"/>
            <a:ext cx="73152" cy="4160520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27248" y="1627632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M2  AI 检测 MVP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3127248" y="1956816"/>
            <a:ext cx="1545336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FeatureStat/Seq -&gt; DetectionBatch -&gt; Evidence -&gt; UI，接入 XGBoost/LightGBM 和 1-2 个论文模型。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30368" y="1481328"/>
            <a:ext cx="1874520" cy="41605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230368" y="1481328"/>
            <a:ext cx="73152" cy="4160520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31536" y="1627632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  开放集与图增强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431536" y="1956816"/>
            <a:ext cx="1545336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DA-FDIDS/图关系/开放集评分/相似样本解释，完成离线消融和错误分析。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534656" y="1481328"/>
            <a:ext cx="1874520" cy="4160520"/>
          </a:xfrm>
          <a:prstGeom prst="rect">
            <a:avLst/>
          </a:prstGeom>
          <a:solidFill>
            <a:srgbClr val="EEF6F5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534656" y="1481328"/>
            <a:ext cx="73152" cy="416052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35824" y="1627632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M4  MLOps 与灰度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7735824" y="1956816"/>
            <a:ext cx="1545336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反馈样本池、阈值锁、模型注册、热更新、回滚和审计报告。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838944" y="1481328"/>
            <a:ext cx="1874520" cy="41605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838944" y="1481328"/>
            <a:ext cx="73152" cy="4160520"/>
          </a:xfrm>
          <a:prstGeom prst="rect">
            <a:avLst/>
          </a:prstGeom>
          <a:solidFill>
            <a:srgbClr val="D89614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40112" y="1627632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M5  专项验收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10040112" y="1956816"/>
            <a:ext cx="1545336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P95、100G/512Mpps、95%/5%、安全/HA/第三方盲测与试点报告。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651052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园区网络流量智能检测与分析专题汇报 | 数据来源：远程 traffic-analysis-platform + 本地 858 篇论文/代码分析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11292840" y="64556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 CONTROL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风险控制：防止“论文、模型、平台、验收”四张皮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77240" y="1298448"/>
            <a:ext cx="4800600" cy="621792"/>
          </a:xfrm>
          <a:prstGeom prst="rect">
            <a:avLst/>
          </a:prstGeom>
          <a:solidFill>
            <a:srgbClr val="FBEAE6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298448"/>
            <a:ext cx="73152" cy="621792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444752"/>
            <a:ext cx="4471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1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978408" y="1773936"/>
            <a:ext cx="44714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模型离线高分，线上无证据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806440" y="1298448"/>
            <a:ext cx="5440680" cy="621792"/>
          </a:xfrm>
          <a:prstGeom prst="rect">
            <a:avLst/>
          </a:prstGeom>
          <a:solidFill>
            <a:srgbClr val="E9F7E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06440" y="1298448"/>
            <a:ext cx="73152" cy="62179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07608" y="1444752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007608" y="1773936"/>
            <a:ext cx="511149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 Feature 契约、离在线一致性测试、Evidence 可追溯。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777240" y="2231136"/>
            <a:ext cx="4800600" cy="621792"/>
          </a:xfrm>
          <a:prstGeom prst="rect">
            <a:avLst/>
          </a:prstGeom>
          <a:solidFill>
            <a:srgbClr val="FBEAE6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231136"/>
            <a:ext cx="73152" cy="621792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2377440"/>
            <a:ext cx="4471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2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978408" y="2706624"/>
            <a:ext cx="44714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论文代码难复现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806440" y="2231136"/>
            <a:ext cx="5440680" cy="621792"/>
          </a:xfrm>
          <a:prstGeom prst="rect">
            <a:avLst/>
          </a:prstGeom>
          <a:solidFill>
            <a:srgbClr val="E9F7E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06440" y="2231136"/>
            <a:ext cx="73152" cy="62179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07608" y="2377440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007608" y="2706624"/>
            <a:ext cx="511149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先选强相关+已下载代码；输出数据适配、指标 JSON 和复现日志。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777240" y="3163824"/>
            <a:ext cx="4800600" cy="621792"/>
          </a:xfrm>
          <a:prstGeom prst="rect">
            <a:avLst/>
          </a:prstGeom>
          <a:solidFill>
            <a:srgbClr val="FBEAE6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163824"/>
            <a:ext cx="73152" cy="621792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3310128"/>
            <a:ext cx="4471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3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978408" y="3639312"/>
            <a:ext cx="44714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架构图脱离实际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5806440" y="3163824"/>
            <a:ext cx="5440680" cy="621792"/>
          </a:xfrm>
          <a:prstGeom prst="rect">
            <a:avLst/>
          </a:prstGeom>
          <a:solidFill>
            <a:srgbClr val="E9F7E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06440" y="3163824"/>
            <a:ext cx="73152" cy="62179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07608" y="3310128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6007608" y="3639312"/>
            <a:ext cx="511149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所有图中组件只取自远程代码、K8s 清单、proto、topic、DDL 和 kubectl 快照。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777240" y="4096512"/>
            <a:ext cx="4800600" cy="621792"/>
          </a:xfrm>
          <a:prstGeom prst="rect">
            <a:avLst/>
          </a:prstGeom>
          <a:solidFill>
            <a:srgbClr val="FBEAE6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4096512"/>
            <a:ext cx="73152" cy="621792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8408" y="4242816"/>
            <a:ext cx="4471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4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978408" y="4572000"/>
            <a:ext cx="44714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验收指标被过度承诺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5806440" y="4096512"/>
            <a:ext cx="5440680" cy="621792"/>
          </a:xfrm>
          <a:prstGeom prst="rect">
            <a:avLst/>
          </a:prstGeom>
          <a:solidFill>
            <a:srgbClr val="E9F7E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06440" y="4096512"/>
            <a:ext cx="73152" cy="62179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07608" y="4242816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6007608" y="4572000"/>
            <a:ext cx="511149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功能证据、专项压测、第三方盲测分层汇报，不混用。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777240" y="5029200"/>
            <a:ext cx="4800600" cy="621792"/>
          </a:xfrm>
          <a:prstGeom prst="rect">
            <a:avLst/>
          </a:prstGeom>
          <a:solidFill>
            <a:srgbClr val="FBEAE6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7240" y="5029200"/>
            <a:ext cx="73152" cy="621792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8408" y="5175504"/>
            <a:ext cx="4471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5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978408" y="5504688"/>
            <a:ext cx="44714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反馈学习失控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5806440" y="5029200"/>
            <a:ext cx="5440680" cy="621792"/>
          </a:xfrm>
          <a:prstGeom prst="rect">
            <a:avLst/>
          </a:prstGeom>
          <a:solidFill>
            <a:srgbClr val="E9F7E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06440" y="5029200"/>
            <a:ext cx="73152" cy="62179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07608" y="5175504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6007608" y="5504688"/>
            <a:ext cx="511149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模型版本、阈值锁、灰度、回滚、审计和人工审核。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411480" y="651052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园区网络流量智能检测与分析专题汇报 | 数据来源：远程 traffic-analysis-platform + 本地 858 篇论文/代码分析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11292840" y="64556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7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7D12A"/>
          </a:solidFill>
          <a:ln w="12700">
            <a:solidFill>
              <a:srgbClr val="B7D1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7498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7D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49808" y="1508760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用真实全流量工程底座承接 AI 检测，用论文代码证据链支撑可复测创新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68680" y="2953512"/>
            <a:ext cx="640080" cy="27432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3031236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1737360" y="2953512"/>
            <a:ext cx="8915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当前平台已具备采集、流计算、存储、API、UI、取证、反馈和 MLOps 主链路。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868680" y="3666744"/>
            <a:ext cx="640080" cy="274320"/>
          </a:xfrm>
          <a:prstGeom prst="rect">
            <a:avLst/>
          </a:prstGeom>
          <a:solidFill>
            <a:srgbClr val="6557D2"/>
          </a:solidFill>
          <a:ln w="6350">
            <a:solidFill>
              <a:srgbClr val="6557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3744468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1737360" y="3666744"/>
            <a:ext cx="8915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模型应作为可灰度发布的检测插件接入，而不是游离于平台之外的离线脚本。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868680" y="4379976"/>
            <a:ext cx="640080" cy="274320"/>
          </a:xfrm>
          <a:prstGeom prst="rect">
            <a:avLst/>
          </a:prstGeom>
          <a:solidFill>
            <a:srgbClr val="D89614"/>
          </a:solidFill>
          <a:ln w="6350">
            <a:solidFill>
              <a:srgbClr val="D896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4457700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1737360" y="4379976"/>
            <a:ext cx="8915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858 篇论文和 127 个代码仓库要落成 benchmark、候选算法、实验报告和验收证据。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868680" y="5093208"/>
            <a:ext cx="640080" cy="274320"/>
          </a:xfrm>
          <a:prstGeom prst="rect">
            <a:avLst/>
          </a:prstGeom>
          <a:solidFill>
            <a:srgbClr val="E85D3D"/>
          </a:solidFill>
          <a:ln w="6350">
            <a:solidFill>
              <a:srgbClr val="E85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5170932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1737360" y="5093208"/>
            <a:ext cx="8915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所有指标必须通过冻结样本、压测、第三方盲测和现场试点闭环。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1005840" y="58064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7D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最终目标：看得见、判得准、查得到、说得清、学得动、验得过。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" y="651052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9BD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园区网络流量智能检测与分析专题汇报 | 数据来源：远程 traffic-analysis-platform + 本地 858 篇论文/代码分析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11292840" y="64556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9BD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Quancheng Laboratory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园区网络流量智能检测与分析专题汇报</dc:title>
  <dc:subject>园区网络流量智能检测与分析专题汇报</dc:subject>
  <dc:creator>Codex</dc:creator>
  <cp:lastModifiedBy>Codex</cp:lastModifiedBy>
  <cp:revision>1</cp:revision>
  <dcterms:created xsi:type="dcterms:W3CDTF">2026-07-06T05:31:15Z</dcterms:created>
  <dcterms:modified xsi:type="dcterms:W3CDTF">2026-07-06T05:31:15Z</dcterms:modified>
</cp:coreProperties>
</file>