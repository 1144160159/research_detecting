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023"/>
          </a:solidFill>
          <a:ln w="12700">
            <a:solidFill>
              <a:srgbClr val="1320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FDB38"/>
          </a:solidFill>
          <a:ln w="12700">
            <a:solidFill>
              <a:srgbClr val="BFDB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182880"/>
            <a:ext cx="4389120" cy="4389120"/>
          </a:xfrm>
          <a:prstGeom prst="arc">
            <a:avLst/>
          </a:prstGeom>
          <a:noFill/>
          <a:ln w="25400">
            <a:solidFill>
              <a:srgbClr val="087E8B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9640" y="658368"/>
            <a:ext cx="2926080" cy="2926080"/>
          </a:xfrm>
          <a:prstGeom prst="arc">
            <a:avLst/>
          </a:prstGeom>
          <a:noFill/>
          <a:ln w="25400">
            <a:solidFill>
              <a:srgbClr val="BFDB38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97280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D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858篇异常检测与网络流量安全论文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3232" y="1664208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综合分析与科研汇报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49808" y="28163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E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大类归类 | 创新点 | 相关性 | 科学问题 | 逐篇中文解析 | 开源代码支撑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8096" y="40690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BFDB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858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768096" y="4690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论文总数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87168" y="40690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439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2487168" y="4690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强相关论文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06240" y="40690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BFDB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120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4206240" y="4690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已下载代码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8096" y="607161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AI驱动网络流量检测分析系统 的文献地图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分析流程：从PDF语料到系统知识地图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438912" cy="43891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2704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42646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自动化处理链路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2359152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78408" y="2267712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33172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05840" y="26883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文献元数据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309067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 文献.md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编号、题名、年份、DOI、PDF路径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3246120" y="2999232"/>
            <a:ext cx="502920" cy="0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566160" y="2057400"/>
            <a:ext cx="2359152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67328" y="2267712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233172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794760" y="26883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PDF抽取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94760" y="309067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pdftotext 抽取前3页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摘要、关键词、方法缩写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035040" y="2999232"/>
            <a:ext cx="502920" cy="0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55080" y="2057400"/>
            <a:ext cx="2359152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56248" y="2267712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33172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83680" y="26883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多标签归类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83680" y="309067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大类、创新点、科学问题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相关性与代码状态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823960" y="2999232"/>
            <a:ext cx="502920" cy="0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44000" y="2057400"/>
            <a:ext cx="2359152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345168" y="2267712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0" y="233172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372600" y="26883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交付输出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72600" y="309067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/ CSV / JSON / 图表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科研汇报PPT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914400" y="48006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分类结果用于快速定位“直接可用技术池、可迁移方法池、背景综述池”，并与开源代码索引打通。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1148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858篇论文综合分析 | AI驱动网络流量检测分析系统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365992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SNAPSHOT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总体画像：强相关论文接近半数，代码资源具备复现基础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1508760"/>
            <a:ext cx="190195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556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87E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858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论文总量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62656" y="1508760"/>
            <a:ext cx="190195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18688" y="17556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5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439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3218688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强相关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66944" y="1508760"/>
            <a:ext cx="190195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22976" y="17556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B39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251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5522976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中相关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571232" y="1508760"/>
            <a:ext cx="190195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27264" y="17556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6670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168</a:t>
            </a:r>
            <a:endParaRPr lang="en-US" sz="3100" dirty="0"/>
          </a:p>
        </p:txBody>
      </p:sp>
      <p:sp>
        <p:nvSpPr>
          <p:cNvPr id="16" name="Text 14"/>
          <p:cNvSpPr/>
          <p:nvPr/>
        </p:nvSpPr>
        <p:spPr>
          <a:xfrm>
            <a:off x="7827264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弱相关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875520" y="1508760"/>
            <a:ext cx="190195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131552" y="17556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BFDB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120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10131552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已下载代码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703320"/>
            <a:ext cx="5257800" cy="1371600"/>
          </a:xfrm>
          <a:prstGeom prst="roundRect">
            <a:avLst>
              <a:gd name="adj" fmla="val 3333"/>
            </a:avLst>
          </a:prstGeom>
          <a:solidFill>
            <a:srgbClr val="F2F8F8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99632" y="3703320"/>
            <a:ext cx="5257800" cy="1371600"/>
          </a:xfrm>
          <a:prstGeom prst="roundRect">
            <a:avLst>
              <a:gd name="adj" fmla="val 3333"/>
            </a:avLst>
          </a:prstGeom>
          <a:solidFill>
            <a:srgbClr val="F8FBF0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" y="4005072"/>
            <a:ext cx="45720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5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主线集中在加密流量分类、网络异常/入侵检测和恶意流量检测</a:t>
            </a:r>
            <a:endParaRPr lang="en-US" sz="1150" dirty="0"/>
          </a:p>
          <a:p>
            <a:pPr marL="165100" indent="-165100">
              <a:buSzPct val="100000"/>
              <a:buChar char="•"/>
            </a:pPr>
            <a:r>
              <a:rPr lang="en-US" sz="115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图学习、预训练、自监督、联邦协同是高频方法族</a:t>
            </a:r>
            <a:endParaRPr lang="en-US" sz="1150" dirty="0"/>
          </a:p>
          <a:p>
            <a:pPr marL="165100" indent="-165100">
              <a:buSzPct val="100000"/>
              <a:buChar char="•"/>
            </a:pPr>
            <a:r>
              <a:rPr lang="en-US" sz="115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代码仓库已形成可复现实验的初始资源池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92240" y="4005072"/>
            <a:ext cx="45720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5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后续综述不宜平均用力，应按强/中/弱相关分层精读</a:t>
            </a:r>
            <a:endParaRPr lang="en-US" sz="1150" dirty="0"/>
          </a:p>
          <a:p>
            <a:pPr marL="165100" indent="-165100">
              <a:buSzPct val="100000"/>
              <a:buChar char="•"/>
            </a:pPr>
            <a:r>
              <a:rPr lang="en-US" sz="115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系统建设应优先复现强相关且代码已下载的论文</a:t>
            </a:r>
            <a:endParaRPr lang="en-US" sz="1150" dirty="0"/>
          </a:p>
          <a:p>
            <a:pPr marL="165100" indent="-165100">
              <a:buSzPct val="100000"/>
              <a:buChar char="•"/>
            </a:pPr>
            <a:r>
              <a:rPr lang="en-US" sz="115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弱相关论文更适合作为背景、理论或跨域方法引用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148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858篇论文综合分析 | AI驱动网络流量检测分析系统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365992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CATEGORY 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大类归类：流量安全与异常检测构成主体</a:t>
            </a:r>
            <a:endParaRPr lang="en-US" sz="2500" dirty="0"/>
          </a:p>
        </p:txBody>
      </p:sp>
      <p:pic>
        <p:nvPicPr>
          <p:cNvPr id="5" name="Image 0" descr="F:\泉城实验室\二期\论文\异常检测\综合分析\图表\大类归类统计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234440"/>
            <a:ext cx="640080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417320"/>
            <a:ext cx="4160520" cy="4343400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635240" y="1737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主导方向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35240" y="2212848"/>
            <a:ext cx="35204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加密流量分类与应用识别: 194篇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入侵检测与网络异常检测: 184篇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其他AI安全与跨域异常检测: 120篇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恶意流量、暗网与攻击检测: 68篇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图学习、知识图谱与威胁情报: 63篇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35240" y="4279392"/>
            <a:ext cx="3474720" cy="27432"/>
          </a:xfrm>
          <a:prstGeom prst="rect">
            <a:avLst/>
          </a:prstGeom>
          <a:solidFill>
            <a:srgbClr val="D9E2E1"/>
          </a:solidFill>
          <a:ln w="12700">
            <a:solidFill>
              <a:srgbClr val="D9E2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35240" y="44988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解读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35240" y="48006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语料不是单纯异常检测集合，而是覆盖“加密流量识别、入侵检测、恶意流量、跨域异常检测、图与知识图谱”的复合知识库。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858篇论文综合分析 | AI驱动网络流量检测分析系统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365992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时间趋势：近年研究明显转向预训练、图学习和真实场景部署</a:t>
            </a:r>
            <a:endParaRPr lang="en-US" sz="2500" dirty="0"/>
          </a:p>
        </p:txBody>
      </p:sp>
      <p:pic>
        <p:nvPicPr>
          <p:cNvPr id="5" name="Image 0" descr="F:\泉城实验室\二期\论文\异常检测\综合分析\图表\年度趋势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234440"/>
            <a:ext cx="6949440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09560" y="1417320"/>
            <a:ext cx="3566160" cy="4069080"/>
          </a:xfrm>
          <a:prstGeom prst="roundRect">
            <a:avLst>
              <a:gd name="adj" fmla="val 1282"/>
            </a:avLst>
          </a:prstGeom>
          <a:solidFill>
            <a:srgbClr val="F9FBF7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0" y="1828800"/>
            <a:ext cx="28803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早期文献提供密码协议、网络监测和流量分类基础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2018年后加密流量、IoT安全和深度学习方法快速增长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2023年后出现更多开放集、联邦、可解释、在线检测与工程部署研究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0" y="4069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趋势判断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0" y="44074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系统路线应从“单点模型精度”升级为“数据-模型-解释-更新”的持续运营架构。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858篇论文综合分析 | AI驱动网络流量检测分析系统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365992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创新点归类：预训练、自监督、图学习与融合建模是方法核心</a:t>
            </a:r>
            <a:endParaRPr lang="en-US" sz="2500" dirty="0"/>
          </a:p>
        </p:txBody>
      </p:sp>
      <p:pic>
        <p:nvPicPr>
          <p:cNvPr id="5" name="Image 0" descr="F:\泉城实验室\二期\论文\异常检测\综合分析\图表\创新点分布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143000"/>
            <a:ext cx="6537960" cy="4892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06640" y="1444752"/>
            <a:ext cx="1874520" cy="1143000"/>
          </a:xfrm>
          <a:prstGeom prst="roundRect">
            <a:avLst>
              <a:gd name="adj" fmla="val 4000"/>
            </a:avLst>
          </a:prstGeom>
          <a:solidFill>
            <a:srgbClr val="F2F8F8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71232" y="16093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87E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442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571232" y="2011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数据集、基准、工具与系统化评测</a:t>
            </a:r>
            <a:endParaRPr lang="en-US" sz="920" dirty="0"/>
          </a:p>
        </p:txBody>
      </p:sp>
      <p:sp>
        <p:nvSpPr>
          <p:cNvPr id="9" name="Shape 6"/>
          <p:cNvSpPr/>
          <p:nvPr/>
        </p:nvSpPr>
        <p:spPr>
          <a:xfrm>
            <a:off x="9464040" y="1444752"/>
            <a:ext cx="1874520" cy="1143000"/>
          </a:xfrm>
          <a:prstGeom prst="roundRect">
            <a:avLst>
              <a:gd name="adj" fmla="val 4000"/>
            </a:avLst>
          </a:prstGeom>
          <a:solidFill>
            <a:srgbClr val="F8FBF0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28632" y="16093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9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231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9628632" y="2011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轻量化、实时与高性能部署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7406640" y="3017520"/>
            <a:ext cx="1874520" cy="1143000"/>
          </a:xfrm>
          <a:prstGeom prst="roundRect">
            <a:avLst>
              <a:gd name="adj" fmla="val 4000"/>
            </a:avLst>
          </a:prstGeom>
          <a:solidFill>
            <a:srgbClr val="F2F8F8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571232" y="31821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87E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206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7571232" y="35844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表征学习、预训练与Transformer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9464040" y="3017520"/>
            <a:ext cx="1874520" cy="1143000"/>
          </a:xfrm>
          <a:prstGeom prst="roundRect">
            <a:avLst>
              <a:gd name="adj" fmla="val 4000"/>
            </a:avLst>
          </a:prstGeom>
          <a:solidFill>
            <a:srgbClr val="F8FBF0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628632" y="31821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39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136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9628632" y="35844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鲁棒性、对抗防御与可信检测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7424928" y="4645152"/>
            <a:ext cx="3950208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699248" y="4864608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组合趋势：Transformer/预训练解决表征，自监督解决标签稀缺，图学习解决关联，解释模块解决安全运营闭环。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1148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858篇论文综合分析 | AI驱动网络流量检测分析系统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365992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SCIENTIFIC QUESTIONS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科学问题：真实网络的难点不是单一精度，而是多约束协同</a:t>
            </a:r>
            <a:endParaRPr lang="en-US" sz="2500" dirty="0"/>
          </a:p>
        </p:txBody>
      </p:sp>
      <p:pic>
        <p:nvPicPr>
          <p:cNvPr id="5" name="Image 0" descr="F:\泉城实验室\二期\论文\异常检测\综合分析\图表\科学问题分布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143000"/>
            <a:ext cx="6446520" cy="4937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88352" y="1325880"/>
            <a:ext cx="4069080" cy="4526280"/>
          </a:xfrm>
          <a:prstGeom prst="roundRect">
            <a:avLst>
              <a:gd name="adj" fmla="val 1124"/>
            </a:avLst>
          </a:prstGeom>
          <a:solidFill>
            <a:srgbClr val="F2F8F8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699248" y="16642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可凝练为四个核心问题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26680" y="2212848"/>
            <a:ext cx="33375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加密不可解密条件下的稳定表征学习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标签稀缺、漂移和未知攻击下的持续检测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多源异构流量/日志/图谱的统一建模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高速链路约束下的可解释、低误报在线运营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99248" y="4251960"/>
            <a:ext cx="3383280" cy="27432"/>
          </a:xfrm>
          <a:prstGeom prst="rect">
            <a:avLst/>
          </a:prstGeom>
          <a:solidFill>
            <a:srgbClr val="CCE3E1"/>
          </a:solidFill>
          <a:ln w="12700">
            <a:solidFill>
              <a:srgbClr val="CCE3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99248" y="44805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研究落点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99248" y="4791456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把模型问题转化为“可观测、可训练、可解释、可更新、可部署”的系统科学问题。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41148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858篇论文综合分析 | AI驱动网络流量检测分析系统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365992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RELEVANCE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论文相关性：强相关论文是项目技术路线的主矿脉</a:t>
            </a:r>
            <a:endParaRPr lang="en-US" sz="2500" dirty="0"/>
          </a:p>
        </p:txBody>
      </p:sp>
      <p:pic>
        <p:nvPicPr>
          <p:cNvPr id="5" name="Image 0" descr="F:\泉城实验室\二期\论文\异常检测\综合分析\图表\相关性分布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98448"/>
            <a:ext cx="480060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1298448"/>
            <a:ext cx="5440680" cy="4187952"/>
          </a:xfrm>
          <a:prstGeom prst="roundRect">
            <a:avLst>
              <a:gd name="adj" fmla="val 1092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0" y="17373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5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439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6400800" y="23591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强相关：直接支撑流量检测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366760" y="17373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87E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251</a:t>
            </a:r>
            <a:endParaRPr lang="en-US" sz="3100" dirty="0"/>
          </a:p>
        </p:txBody>
      </p:sp>
      <p:sp>
        <p:nvSpPr>
          <p:cNvPr id="10" name="Text 7"/>
          <p:cNvSpPr/>
          <p:nvPr/>
        </p:nvSpPr>
        <p:spPr>
          <a:xfrm>
            <a:off x="8366760" y="23591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中相关：方法可迁移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0104120" y="17373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6670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168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10104120" y="23591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弱相关：背景/跨域参考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0" y="3063240"/>
            <a:ext cx="4498848" cy="27432"/>
          </a:xfrm>
          <a:prstGeom prst="rect">
            <a:avLst/>
          </a:prstGeom>
          <a:solidFill>
            <a:srgbClr val="D9E2E1"/>
          </a:solidFill>
          <a:ln w="12700">
            <a:solidFill>
              <a:srgbClr val="D9E2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3429000"/>
            <a:ext cx="43434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优先精读强相关论文，形成模型与实验基线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中相关论文用于补充图学习、时序、联邦、解释模块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弱相关论文用于综述背景和跨域异常检测方法借鉴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1148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858篇论文综合分析 | AI驱动网络流量检测分析系统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365992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ASSETS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开源代码：已形成可复现实验的初始资源池</a:t>
            </a:r>
            <a:endParaRPr lang="en-US" sz="2500" dirty="0"/>
          </a:p>
        </p:txBody>
      </p:sp>
      <p:pic>
        <p:nvPicPr>
          <p:cNvPr id="5" name="Image 0" descr="F:\泉城实验室\二期\论文\异常检测\综合分析\图表\代码状态分布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261872"/>
            <a:ext cx="475488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0" y="1261872"/>
            <a:ext cx="5440680" cy="4251960"/>
          </a:xfrm>
          <a:prstGeom prst="roundRect">
            <a:avLst>
              <a:gd name="adj" fmla="val 1075"/>
            </a:avLst>
          </a:prstGeom>
          <a:solidFill>
            <a:srgbClr val="F9FBF7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30936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复现优先级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09360" y="2212848"/>
            <a:ext cx="452628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第一批：强相关 + 已下载代码 + 数据处理链路清晰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第二批：强相关但代码缺失，复现模型结构与指标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第三批：中相关方法模块，作为系统组件候选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en-US" sz="12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第四批：综述/数据集/工具类，补充评测与引用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09360" y="461772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建议把 `source/` 仓库与 `论文分析总表.csv` 编号绑定，形成可检索的复现实验台账。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858篇论文综合分析 | AI驱动网络流量检测分析系统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365992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CLUSTER 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技术簇：从流量识别到安全运营闭环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30632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828800"/>
            <a:ext cx="566928" cy="566928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7510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37360" y="17647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加密流量识别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37360" y="216712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字节/包/流序列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应用/网站/代理识别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480560" y="1508760"/>
            <a:ext cx="30632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828800"/>
            <a:ext cx="566928" cy="566928"/>
          </a:xfrm>
          <a:prstGeom prst="ellipse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97510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0680" y="17647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恶意流量检测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40680" y="216712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暗网、隧道、DDoS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恶意加密通信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83880" y="1508760"/>
            <a:ext cx="30632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0" y="1828800"/>
            <a:ext cx="566928" cy="566928"/>
          </a:xfrm>
          <a:prstGeom prst="ellipse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197510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0" y="17647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入侵异常检测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0" y="216712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NIDS、未知攻击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低误报告警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77240" y="3730752"/>
            <a:ext cx="30632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05840" y="4050792"/>
            <a:ext cx="566928" cy="56692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19709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37360" y="398678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图与情报融合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737360" y="438912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通信图、知识图谱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威胁溯源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480560" y="3730752"/>
            <a:ext cx="30632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4050792"/>
            <a:ext cx="566928" cy="566928"/>
          </a:xfrm>
          <a:prstGeom prst="ellipse">
            <a:avLst/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419709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398678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在线与边缘部署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40680" y="438912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实时、轻量、漂移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2304288" y="3035808"/>
            <a:ext cx="7086600" cy="0"/>
          </a:xfrm>
          <a:prstGeom prst="line">
            <a:avLst/>
          </a:prstGeom>
          <a:noFill/>
          <a:ln w="19050">
            <a:solidFill>
              <a:srgbClr val="D9E2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20240" y="5715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系统化组合：流量观测 -&gt; 表征学习 -&gt; 检测分类 -&gt; 关联溯源 -&gt; 解释更新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1148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858篇论文综合分析 | AI驱动网络流量检测分析系统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365992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BLUEPRINT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建议系统架构：分层检测 + 图关联 + 解释更新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993392" cy="1481328"/>
          </a:xfrm>
          <a:prstGeom prst="roundRect">
            <a:avLst>
              <a:gd name="adj" fmla="val 3086"/>
            </a:avLst>
          </a:prstGeom>
          <a:solidFill>
            <a:srgbClr val="F2F8F8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157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数据接入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2615184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PCAP / NetFlow / 日志 / 情报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24912" y="2615184"/>
            <a:ext cx="365760" cy="0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44368" y="1874520"/>
            <a:ext cx="1993392" cy="1481328"/>
          </a:xfrm>
          <a:prstGeom prst="roundRect">
            <a:avLst>
              <a:gd name="adj" fmla="val 3086"/>
            </a:avLst>
          </a:prstGeom>
          <a:solidFill>
            <a:srgbClr val="F9FBF7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45536" y="2157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特征与表征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108960" y="2615184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统计特征 / 字节序列 / 流序列 / 图结构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0" y="2615184"/>
            <a:ext cx="365760" cy="0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48656" y="1874520"/>
            <a:ext cx="1993392" cy="1481328"/>
          </a:xfrm>
          <a:prstGeom prst="roundRect">
            <a:avLst>
              <a:gd name="adj" fmla="val 3086"/>
            </a:avLst>
          </a:prstGeom>
          <a:solidFill>
            <a:srgbClr val="F2F8F8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49824" y="2157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检测模型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13248" y="2615184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轻量筛查 / Transformer / GNN / 自监督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33488" y="2615184"/>
            <a:ext cx="365760" cy="0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52944" y="1874520"/>
            <a:ext cx="1993392" cy="1481328"/>
          </a:xfrm>
          <a:prstGeom prst="roundRect">
            <a:avLst>
              <a:gd name="adj" fmla="val 3086"/>
            </a:avLst>
          </a:prstGeom>
          <a:solidFill>
            <a:srgbClr val="F9FBF7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54112" y="2157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分析解释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717536" y="2615184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原型样本 / 规则抽取 / 攻击链上下文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637776" y="2615184"/>
            <a:ext cx="365760" cy="0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857232" y="1874520"/>
            <a:ext cx="1993392" cy="1481328"/>
          </a:xfrm>
          <a:prstGeom prst="roundRect">
            <a:avLst>
              <a:gd name="adj" fmla="val 3086"/>
            </a:avLst>
          </a:prstGeom>
          <a:solidFill>
            <a:srgbClr val="F2F8F8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0" y="2157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持续运营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0021824" y="2615184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漂移监控 / 人工反馈 / 模型更新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51560" y="4251960"/>
            <a:ext cx="100584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417320" y="45262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关键设计原则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154680" y="4453128"/>
            <a:ext cx="7269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5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先轻量过滤再深度研判，兼顾吞吐与精度</a:t>
            </a:r>
            <a:endParaRPr lang="en-US" sz="1050" dirty="0"/>
          </a:p>
          <a:p>
            <a:pPr marL="165100" indent="-165100">
              <a:buSzPct val="100000"/>
              <a:buChar char="•"/>
            </a:pPr>
            <a:r>
              <a:rPr lang="en-US" sz="105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用图层承接跨流、跨主机、跨告警关联</a:t>
            </a:r>
            <a:endParaRPr lang="en-US" sz="1050" dirty="0"/>
          </a:p>
          <a:p>
            <a:pPr marL="165100" indent="-165100">
              <a:buSzPct val="100000"/>
              <a:buChar char="•"/>
            </a:pPr>
            <a:r>
              <a:rPr lang="en-US" sz="105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解释与反馈必须内置，形成可运营闭环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148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858篇论文综合分析 | AI驱动网络流量检测分析系统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365992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复现与精读路线：先打穿强相关闭环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68680" y="1463040"/>
            <a:ext cx="384048" cy="384048"/>
          </a:xfrm>
          <a:prstGeom prst="ellipse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6362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63040" y="1417320"/>
            <a:ext cx="97383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83080" y="15819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第1阶段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54680" y="158191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强相关+代码已下载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577840" y="158191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复现数据处理、模型训练、指标脚本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2578608"/>
            <a:ext cx="384048" cy="384048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79192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63040" y="2532888"/>
            <a:ext cx="9738360" cy="749808"/>
          </a:xfrm>
          <a:prstGeom prst="roundRect">
            <a:avLst>
              <a:gd name="adj" fmla="val 6098"/>
            </a:avLst>
          </a:prstGeom>
          <a:solidFill>
            <a:srgbClr val="F9FBF7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83080" y="2697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第2阶段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54680" y="26974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加密流量与IDS基线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577840" y="269748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建立统一 benchmark 和对比表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68680" y="3694176"/>
            <a:ext cx="384048" cy="384048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79476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63040" y="3648456"/>
            <a:ext cx="97383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783080" y="38130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第3阶段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154680" y="38130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图学习/解释/漂移模块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577840" y="381304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形成系统增强插件池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910328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463040" y="4764024"/>
            <a:ext cx="9738360" cy="749808"/>
          </a:xfrm>
          <a:prstGeom prst="roundRect">
            <a:avLst>
              <a:gd name="adj" fmla="val 6098"/>
            </a:avLst>
          </a:prstGeom>
          <a:solidFill>
            <a:srgbClr val="F9FBF7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783080" y="492861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第4阶段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154680" y="49286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真实流量试验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577840" y="49286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在线推理、误报分析、人工反馈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417320" y="60167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目标：把文献综述、代码复现、系统原型和科研问题凝练连接起来。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1148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858篇论文综合分析 | AI驱动网络流量检测分析系统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365992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 QUESTIONS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可写入课题/论文的科学问题表达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4892040" cy="1325880"/>
          </a:xfrm>
          <a:prstGeom prst="roundRect">
            <a:avLst>
              <a:gd name="adj" fmla="val 3448"/>
            </a:avLst>
          </a:prstGeom>
          <a:solidFill>
            <a:srgbClr val="F2F8F8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728216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79222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51560" y="21671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加密不可解密、标签稀缺且流量分布持续变化时，如何学习稳定可迁移的流量表征？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4892040" cy="1325880"/>
          </a:xfrm>
          <a:prstGeom prst="roundRect">
            <a:avLst>
              <a:gd name="adj" fmla="val 3448"/>
            </a:avLst>
          </a:prstGeom>
          <a:solidFill>
            <a:srgbClr val="F8FBF0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728216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179222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37960" y="21671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如何融合包/流时序、主机通信图、日志告警与威胁情报，形成统一检测与溯源模型？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822960" y="3429000"/>
            <a:ext cx="4892040" cy="1325880"/>
          </a:xfrm>
          <a:prstGeom prst="roundRect">
            <a:avLst>
              <a:gd name="adj" fmla="val 3448"/>
            </a:avLst>
          </a:prstGeom>
          <a:solidFill>
            <a:srgbClr val="F2F8F8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3648456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371246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51560" y="408736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高速链路和边缘约束下，如何实现低延迟、低误报、可解释的在线异常检测？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6309360" y="3429000"/>
            <a:ext cx="4892040" cy="1325880"/>
          </a:xfrm>
          <a:prstGeom prst="roundRect">
            <a:avLst>
              <a:gd name="adj" fmla="val 3448"/>
            </a:avLst>
          </a:prstGeom>
          <a:solidFill>
            <a:srgbClr val="F8FBF0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7960" y="3648456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3712464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37960" y="408736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面对未知攻击、规避攻击、概念漂移和数据污染，如何评估并提升模型可信度？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005840" y="58338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这些问题可以分别对应：表征学习、多源融合、系统部署、鲁棒可信四条研究线。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" y="651052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858篇论文综合分析 | AI驱动网络流量检测分析系统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365992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023"/>
          </a:solidFill>
          <a:ln w="12700">
            <a:solidFill>
              <a:srgbClr val="1320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FDB38"/>
          </a:solidFill>
          <a:ln w="12700">
            <a:solidFill>
              <a:srgbClr val="BFD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868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D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" y="14173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858篇论文已经转化为可检索、可统计、可汇报的研究地图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04672" y="2834640"/>
            <a:ext cx="1051560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0160">
            <a:solidFill>
              <a:srgbClr val="D9E2E1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3182112"/>
            <a:ext cx="97840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4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强相关论文支撑系统主体技术路线，中相关论文补充方法模块，弱相关论文服务背景与综述。</a:t>
            </a:r>
            <a:endParaRPr lang="en-US" sz="1400" dirty="0"/>
          </a:p>
          <a:p>
            <a:pPr marL="165100" indent="-165100">
              <a:buSzPct val="100000"/>
              <a:buChar char="•"/>
            </a:pPr>
            <a:r>
              <a:rPr lang="en-US" sz="14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优先推进“强相关 + 已下载代码”的复现实验，形成 benchmark 和系统组件库。</a:t>
            </a:r>
            <a:endParaRPr lang="en-US" sz="1400" dirty="0"/>
          </a:p>
          <a:p>
            <a:pPr marL="165100" indent="-165100">
              <a:buSzPct val="100000"/>
              <a:buChar char="•"/>
            </a:pPr>
            <a:r>
              <a:rPr lang="en-US" sz="1400" dirty="0">
                <a:solidFill>
                  <a:srgbClr val="1320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最终目标不是堆模型，而是形成可观测、可解释、可更新、可部署的安全分析系统。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58978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输出目录：综合分析/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Quancheng Laboratory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858篇异常检测与网络流量安全论文综合分析</dc:title>
  <dc:subject>858篇论文综合分析</dc:subject>
  <dc:creator>Codex</dc:creator>
  <cp:lastModifiedBy>Codex</cp:lastModifiedBy>
  <cp:revision>1</cp:revision>
  <dcterms:created xsi:type="dcterms:W3CDTF">2026-07-03T08:15:33Z</dcterms:created>
  <dcterms:modified xsi:type="dcterms:W3CDTF">2026-07-03T08:15:33Z</dcterms:modified>
</cp:coreProperties>
</file>