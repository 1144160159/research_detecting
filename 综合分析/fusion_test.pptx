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7D12A"/>
          </a:solidFill>
          <a:ln w="12700">
            <a:solidFill>
              <a:srgbClr val="B7D1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45720"/>
            <a:ext cx="4297680" cy="4297680"/>
          </a:xfrm>
          <a:prstGeom prst="arc">
            <a:avLst/>
          </a:prstGeom>
          <a:noFill/>
          <a:ln w="25400">
            <a:solidFill>
              <a:srgbClr val="21A6A6">
                <a:alpha val="9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594360"/>
            <a:ext cx="2971800" cy="2971800"/>
          </a:xfrm>
          <a:prstGeom prst="arc">
            <a:avLst/>
          </a:prstGeom>
          <a:noFill/>
          <a:ln w="25400">
            <a:solidFill>
              <a:srgbClr val="B7D12A">
                <a:alpha val="84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95097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7D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157276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两个系统融合分析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49808" y="272491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CE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从全流量底座到可信开放集检测、动态图少样本检测、MLOps反馈学习与验收证据闭环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406908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7D1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9808" y="46360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CE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本地论文知识库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2331720" y="406908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331720" y="46360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CE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强相关论文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3913632" y="406908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7D1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913632" y="46360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CE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已下载代码资源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5715000" y="406908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715000" y="46360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CE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核心Kafka主题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768096" y="592531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FD7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结论先行：全流量系统不是并列平台，而是AI检测系统的数据底座、执行环境、证据平台和反馈闭环。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148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7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65408" y="64465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B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THESIS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核心判断：两个系统应融合成一个“数据-模型-证据-反馈”闭环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21792" y="1417320"/>
            <a:ext cx="5257800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417320"/>
            <a:ext cx="73152" cy="144475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81912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4910328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定位为工程底座：采集、协议解析、会话化、Kafka/Flink实时处理、ClickHouse/Nebula/MinIO证据存储、Web安全运营台。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6291072" y="1417320"/>
            <a:ext cx="5257800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91072" y="1417320"/>
            <a:ext cx="73152" cy="144475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581912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AI驱动网络流量检测系统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492240" y="1920240"/>
            <a:ext cx="4910328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定位为智能能力层：表征学习、动态图少样本检测、可信开放集拒识、多源融合、可解释告警和持续学习。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5870448" y="2121408"/>
            <a:ext cx="384048" cy="0"/>
          </a:xfrm>
          <a:prstGeom prst="line">
            <a:avLst/>
          </a:prstGeom>
          <a:noFill/>
          <a:ln w="17780">
            <a:solidFill>
              <a:srgbClr val="10182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97280" y="3456432"/>
            <a:ext cx="9966960" cy="1051560"/>
          </a:xfrm>
          <a:prstGeom prst="roundRect">
            <a:avLst>
              <a:gd name="adj" fmla="val 6957"/>
            </a:avLst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3312" y="367588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D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融合后的系统定义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07792" y="3611880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以全流量遥测为底座，以AI模型和多源图关联为检测核心，以PCAP证据、告警研判、反馈学习和盲测验收为闭环的园区网络智能检测分析系统。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58368" y="5074920"/>
            <a:ext cx="513892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5074920"/>
            <a:ext cx="73152" cy="713232"/>
          </a:xfrm>
          <a:prstGeom prst="rect">
            <a:avLst/>
          </a:prstGeom>
          <a:solidFill>
            <a:srgbClr val="F06543"/>
          </a:solidFill>
          <a:ln w="12700">
            <a:solidFill>
              <a:srgbClr val="F065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5239512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不建议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859536" y="5431536"/>
            <a:ext cx="479145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另起一套AI平台，重复采集、重复存储、重复告警；这会造成数据口径、证据链和验收材料分裂。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327648" y="5074920"/>
            <a:ext cx="513892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27648" y="5074920"/>
            <a:ext cx="73152" cy="71323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28816" y="5239512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6528816" y="5431536"/>
            <a:ext cx="479145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把DA-FDIDS、Evidence-OpenEMTD、图融合和级联检测做成现有平台的模型插件、评测包和专题能力。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41148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65408" y="64465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ASSET 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已有资产：工程系统主链路已成型，研究系统给出算法与评测路线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3429000" cy="42519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1700784"/>
            <a:ext cx="566928" cy="566928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8562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170078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远程工程系统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2468880"/>
            <a:ext cx="28346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Probe、Kafka、Flink、ClickHouse、PostgreSQL、OpenSearch、NebulaGraph、Redis、MinIO、Go APIs、Web UI、MLOps。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932688" y="4535424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604004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工程闭环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53128" y="1417320"/>
            <a:ext cx="3429000" cy="42519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54296" y="1700784"/>
            <a:ext cx="566928" cy="56692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4296" y="18562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49240" y="170078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本地研究系统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27448" y="2468880"/>
            <a:ext cx="28346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858篇论文地图、439篇强相关、120个代码资源、DA-FDIDS、Evidence-OpenEMTD、专利化方向。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4727448" y="4535424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4604004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科研供给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247888" y="1417320"/>
            <a:ext cx="3429000" cy="42519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49056" y="1700784"/>
            <a:ext cx="566928" cy="566928"/>
          </a:xfrm>
          <a:prstGeom prst="ellipse">
            <a:avLst/>
          </a:prstGeom>
          <a:solidFill>
            <a:srgbClr val="F06543"/>
          </a:solidFill>
          <a:ln w="12700">
            <a:solidFill>
              <a:srgbClr val="F065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49056" y="18562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0" y="170078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共同缺口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22208" y="2468880"/>
            <a:ext cx="28346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检测质量冻结包、未知攻击召回、真实多源消融、高速链路预算、第三方签认与试点数据。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8522208" y="4535424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F06543"/>
          </a:solidFill>
          <a:ln w="12700">
            <a:solidFill>
              <a:srgbClr val="F065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4604004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融合抓手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13232" y="605332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判断依据：工程侧已有真实链路、MLOps和证据目录；研究侧已把文献趋势压缩为可落地的模型与指标体系。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41148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265408" y="64465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ENGINEERING BACKBONE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全流量系统主链路：AI能力应插入实时流处理和运营反馈之间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93776" y="1874520"/>
            <a:ext cx="1536192" cy="2011680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0848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7E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2615184"/>
            <a:ext cx="1207008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AF_XDP/AF_PACKET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PCAP归档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DNS/DHCP/ARP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66544" y="2852928"/>
            <a:ext cx="256032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95728" y="1874520"/>
            <a:ext cx="1536192" cy="2011680"/>
          </a:xfrm>
          <a:prstGeom prst="roundRect">
            <a:avLst>
              <a:gd name="adj" fmla="val 2976"/>
            </a:avLst>
          </a:prstGeom>
          <a:solidFill>
            <a:srgbClr val="F4FAFA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20848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7E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Kafka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60320" y="2615184"/>
            <a:ext cx="1207008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flow.events.v1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feature.stat.v1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model-updates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68496" y="2852928"/>
            <a:ext cx="256032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97680" y="1874520"/>
            <a:ext cx="1536192" cy="2011680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43984" y="20848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65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Flink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62272" y="2615184"/>
            <a:ext cx="1207008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 / Feature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 / Behavior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CEP / Alert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70448" y="2852928"/>
            <a:ext cx="256032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99632" y="1874520"/>
            <a:ext cx="1536192" cy="2011680"/>
          </a:xfrm>
          <a:prstGeom prst="roundRect">
            <a:avLst>
              <a:gd name="adj" fmla="val 2976"/>
            </a:avLst>
          </a:prstGeom>
          <a:solidFill>
            <a:srgbClr val="F4FAFA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45936" y="20848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7E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Storage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64224" y="2615184"/>
            <a:ext cx="1207008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ClickHouse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NebulaGraph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MinIO / OpenSearch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72400" y="2852928"/>
            <a:ext cx="256032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01584" y="1874520"/>
            <a:ext cx="1536192" cy="2011680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47888" y="20848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7E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66176" y="2615184"/>
            <a:ext cx="1207008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APIs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Rule/Model Registry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Audit/RBAC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674352" y="2852928"/>
            <a:ext cx="256032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03536" y="1874520"/>
            <a:ext cx="1536192" cy="2011680"/>
          </a:xfrm>
          <a:prstGeom prst="roundRect">
            <a:avLst>
              <a:gd name="adj" fmla="val 2976"/>
            </a:avLst>
          </a:prstGeom>
          <a:solidFill>
            <a:srgbClr val="F4FAFA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149840" y="20848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7E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168128" y="2615184"/>
            <a:ext cx="1207008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态势大屏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告警研判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取证/反馈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13232" y="4736592"/>
            <a:ext cx="342900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3232" y="4736592"/>
            <a:ext cx="73152" cy="804672"/>
          </a:xfrm>
          <a:prstGeom prst="rect">
            <a:avLst/>
          </a:prstGeom>
          <a:solidFill>
            <a:srgbClr val="F06543"/>
          </a:solidFill>
          <a:ln w="12700">
            <a:solidFill>
              <a:srgbClr val="F065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901184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AI插入点 1：Flink在线推理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914400" y="5138928"/>
            <a:ext cx="308152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 feature.stat.v1 / 特征批次，输出 detections.v1，满足低延迟和热更新。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4407408" y="4736592"/>
            <a:ext cx="342900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07408" y="4736592"/>
            <a:ext cx="73152" cy="80467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08576" y="4901184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AI插入点 2：MLOps训练评估</a:t>
            </a:r>
            <a:endParaRPr lang="en-US" sz="1280" dirty="0"/>
          </a:p>
        </p:txBody>
      </p:sp>
      <p:sp>
        <p:nvSpPr>
          <p:cNvPr id="35" name="Text 33"/>
          <p:cNvSpPr/>
          <p:nvPr/>
        </p:nvSpPr>
        <p:spPr>
          <a:xfrm>
            <a:off x="4608576" y="5138928"/>
            <a:ext cx="308152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从ClickHouse抽取特征和反馈，生成模型版本、阈值、指标和artifact。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8101584" y="4736592"/>
            <a:ext cx="342900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01584" y="4736592"/>
            <a:ext cx="73152" cy="80467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2752" y="4901184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AI插入点 3：证据解释层</a:t>
            </a:r>
            <a:endParaRPr lang="en-US" sz="1280" dirty="0"/>
          </a:p>
        </p:txBody>
      </p:sp>
      <p:sp>
        <p:nvSpPr>
          <p:cNvPr id="39" name="Text 37"/>
          <p:cNvSpPr/>
          <p:nvPr/>
        </p:nvSpPr>
        <p:spPr>
          <a:xfrm>
            <a:off x="8302752" y="5138928"/>
            <a:ext cx="308152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把不确定性、冲突度、原型距离、相似历史样本写入Evidence和告警详情。</a:t>
            </a:r>
            <a:endParaRPr lang="en-US" sz="1030" dirty="0"/>
          </a:p>
        </p:txBody>
      </p:sp>
      <p:sp>
        <p:nvSpPr>
          <p:cNvPr id="40" name="Text 38"/>
          <p:cNvSpPr/>
          <p:nvPr/>
        </p:nvSpPr>
        <p:spPr>
          <a:xfrm>
            <a:off x="41148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265408" y="64465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 SIGNAL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文献侧启示：系统路线应从单点精度转向持续运营架构</a:t>
            </a:r>
            <a:endParaRPr lang="en-US" sz="2500" dirty="0"/>
          </a:p>
        </p:txBody>
      </p:sp>
      <p:pic>
        <p:nvPicPr>
          <p:cNvPr id="5" name="Image 0" descr="F:\泉城实验室\二期\论文\异常检测\综合分析\图表\创新点分布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325880"/>
            <a:ext cx="5166360" cy="4069080"/>
          </a:xfrm>
          <a:prstGeom prst="rect">
            <a:avLst/>
          </a:prstGeom>
        </p:spPr>
      </p:pic>
      <p:pic>
        <p:nvPicPr>
          <p:cNvPr id="6" name="Image 1" descr="F:\泉城实验室\二期\论文\异常检测\综合分析\图表\科学问题分布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72784" y="1325880"/>
            <a:ext cx="5166360" cy="4069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41248" y="5650992"/>
            <a:ext cx="10378440" cy="566928"/>
          </a:xfrm>
          <a:prstGeom prst="roundRect">
            <a:avLst>
              <a:gd name="adj" fmla="val 8065"/>
            </a:avLst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05840" y="5833872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组合趋势：Transformer/预训练解决表征，自监督解决标签稀缺，图学习解决关联，可解释与反馈解决安全运营闭环。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1148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265408" y="64465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LAYERED FUSION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融合方式：不是系统拼接，而是分层嵌入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49808" y="1261872"/>
            <a:ext cx="10378440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261872"/>
            <a:ext cx="109728" cy="676656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447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 数据底座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487168" y="144475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Probe / Kafka / ClickHouse / MinIO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144768" y="144475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提供真实流量、PCAP、会话、延迟和质量证据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87552" y="2221992"/>
            <a:ext cx="9902952" cy="676656"/>
          </a:xfrm>
          <a:prstGeom prst="rect">
            <a:avLst/>
          </a:prstGeom>
          <a:solidFill>
            <a:srgbClr val="F4FAFA"/>
          </a:solidFill>
          <a:ln w="10160">
            <a:solidFill>
              <a:srgbClr val="D6E0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221992"/>
            <a:ext cx="109728" cy="676656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97864" y="24048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特征底座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724912" y="240487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FeatureStat / FeatureSeq / FeatureFingerprint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82512" y="2404872"/>
            <a:ext cx="3739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支撑统计、序列、TLS/QUIC指纹和多粒度建模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225296" y="3182112"/>
            <a:ext cx="9427464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25296" y="3182112"/>
            <a:ext cx="109728" cy="676656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35608" y="33649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检测模型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962656" y="336499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DA-FDIDS / Evidence-OpenEMTD / 级联模型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20256" y="3364992"/>
            <a:ext cx="3502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输出已知类、未知风险、低可信复核和模型版本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463040" y="4142232"/>
            <a:ext cx="8951976" cy="676656"/>
          </a:xfrm>
          <a:prstGeom prst="rect">
            <a:avLst/>
          </a:prstGeom>
          <a:solidFill>
            <a:srgbClr val="F4FAFA"/>
          </a:solidFill>
          <a:ln w="10160">
            <a:solidFill>
              <a:srgbClr val="D6E0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63040" y="4142232"/>
            <a:ext cx="109728" cy="676656"/>
          </a:xfrm>
          <a:prstGeom prst="rect">
            <a:avLst/>
          </a:prstGeom>
          <a:solidFill>
            <a:srgbClr val="F06543"/>
          </a:solidFill>
          <a:ln w="12700">
            <a:solidFill>
              <a:srgbClr val="F065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73352" y="43251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6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关联解释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200400" y="432511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NebulaGraph / Evidence / PCAP / Threat Intel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58000" y="4325112"/>
            <a:ext cx="3264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形成攻击链、相似样本、证据冲突和取证报告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700784" y="5102352"/>
            <a:ext cx="8476488" cy="676656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00784" y="5102352"/>
            <a:ext cx="109728" cy="676656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11096" y="52852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B8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运营闭环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438144" y="528523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/ Whitelist / MLOps / model-updates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095744" y="5285232"/>
            <a:ext cx="3026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把TP/FP、未知候选和误报原因回流为模型迭代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2960" y="6053328"/>
            <a:ext cx="105613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" y="6053328"/>
            <a:ext cx="73152" cy="4572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" y="6163056"/>
            <a:ext cx="102138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融合原则</a:t>
            </a:r>
            <a:endParaRPr lang="en-US" sz="1280" dirty="0"/>
          </a:p>
        </p:txBody>
      </p:sp>
      <p:sp>
        <p:nvSpPr>
          <p:cNvPr id="33" name="Text 31"/>
          <p:cNvSpPr/>
          <p:nvPr/>
        </p:nvSpPr>
        <p:spPr>
          <a:xfrm>
            <a:off x="1024128" y="6281928"/>
            <a:ext cx="10213848" cy="1554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算法模块必须共享同一批特征、同一套模型版本、同一条证据链和同一个反馈闭环；否则验收指标和论文实验无法互证。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41148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265408" y="64465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CONTRACT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数据契约融合：现有特征已覆盖可信开放集检测的前三模态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6656" y="1389888"/>
            <a:ext cx="50749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1389888"/>
            <a:ext cx="73152" cy="132588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54480"/>
            <a:ext cx="4727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FeatureStat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877824" y="1892808"/>
            <a:ext cx="4727448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持续时间、pps/bps、包长/IAT、TCP标志、上下行比例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4197096" y="1554480"/>
            <a:ext cx="1115568" cy="292608"/>
          </a:xfrm>
          <a:prstGeom prst="roundRect">
            <a:avLst>
              <a:gd name="adj" fmla="val 18750"/>
            </a:avLst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70248" y="1623060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统计模态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08776" y="1389888"/>
            <a:ext cx="50749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08776" y="1389888"/>
            <a:ext cx="73152" cy="132588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9944" y="1554480"/>
            <a:ext cx="4727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FeatureSeq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6409944" y="1892808"/>
            <a:ext cx="4727448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包长序列hash、IAT序列hash、小波能量与熵、序列blob引用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9729216" y="1554480"/>
            <a:ext cx="1115568" cy="292608"/>
          </a:xfrm>
          <a:prstGeom prst="roundRect">
            <a:avLst>
              <a:gd name="adj" fmla="val 1875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02368" y="1623060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序列模态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6656" y="3355848"/>
            <a:ext cx="50749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" y="3355848"/>
            <a:ext cx="73152" cy="13258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3520440"/>
            <a:ext cx="4727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FeatureFingerprint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877824" y="3858768"/>
            <a:ext cx="4727448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TLS版本、JA3、SNI hash、证书sha256、payload熵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4197096" y="3520440"/>
            <a:ext cx="1115568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70248" y="3589020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协议指纹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208776" y="3355848"/>
            <a:ext cx="50749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08776" y="3355848"/>
            <a:ext cx="73152" cy="1325880"/>
          </a:xfrm>
          <a:prstGeom prst="rect">
            <a:avLst/>
          </a:prstGeom>
          <a:solidFill>
            <a:srgbClr val="F06543"/>
          </a:solidFill>
          <a:ln w="12700">
            <a:solidFill>
              <a:srgbClr val="F065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9944" y="3520440"/>
            <a:ext cx="4727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 Context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6409944" y="3858768"/>
            <a:ext cx="4727448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IP/资产/域名/证书/告警/情报关系，来自NebulaGraph和Fusion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9729216" y="3520440"/>
            <a:ext cx="1115568" cy="292608"/>
          </a:xfrm>
          <a:prstGeom prst="roundRect">
            <a:avLst>
              <a:gd name="adj" fmla="val 18750"/>
            </a:avLst>
          </a:prstGeom>
          <a:solidFill>
            <a:srgbClr val="F06543"/>
          </a:solidFill>
          <a:ln w="12700">
            <a:solidFill>
              <a:srgbClr val="F065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02368" y="3589020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图上下文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1560" y="5486400"/>
            <a:ext cx="9921240" cy="502920"/>
          </a:xfrm>
          <a:prstGeom prst="roundRect">
            <a:avLst>
              <a:gd name="adj" fmla="val 7273"/>
            </a:avLst>
          </a:prstGeom>
          <a:solidFill>
            <a:srgbClr val="EAF7F5"/>
          </a:solidFill>
          <a:ln w="12700">
            <a:solidFill>
              <a:srgbClr val="B6DF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4440" y="5650992"/>
            <a:ext cx="9555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下一步契约扩展：在 Detection / Evidence 中显式加入 unknown_risk、uncertainty、conflict_score、prototype_distance、energy_score、candidate_cluster_id。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41148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265408" y="64465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INSERTION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模型接入点：研究算法以插件形式进入 Flink 与 MLOps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73152" cy="9601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81912"/>
            <a:ext cx="4818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DA-FDIDS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841248" y="1897380"/>
            <a:ext cx="4818888" cy="4069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动态图少样本检测 + GRL/MMD域适应 + LoRA在线适配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适合：跨域NIDS、少样本攻击、新环境快速适配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834640"/>
            <a:ext cx="73152" cy="9601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99232"/>
            <a:ext cx="4818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Evidence-OpenEMTD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841248" y="3314700"/>
            <a:ext cx="4818888" cy="4069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多模态证据、不确定性、模态冲突、原型距离、能量分数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适合：加密恶意流量、未知攻击、低可信复核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251960"/>
            <a:ext cx="73152" cy="960120"/>
          </a:xfrm>
          <a:prstGeom prst="rect">
            <a:avLst/>
          </a:prstGeom>
          <a:solidFill>
            <a:srgbClr val="F06543"/>
          </a:solidFill>
          <a:ln w="12700">
            <a:solidFill>
              <a:srgbClr val="F065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4416552"/>
            <a:ext cx="4818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Cascade Budget Detector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841248" y="4732020"/>
            <a:ext cx="4818888" cy="4069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L0快速统计 -&gt; L1序列 -&gt; L2指纹 -&gt; L3图 -&gt; L4深度模型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适合：高速链路、资源约束、分层推理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6400800" y="1234440"/>
            <a:ext cx="4206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01968" y="135331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feature.stat.v1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458200" y="13533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实时特征输入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03920" y="1929384"/>
            <a:ext cx="0" cy="32004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00800" y="2350008"/>
            <a:ext cx="4206240" cy="658368"/>
          </a:xfrm>
          <a:prstGeom prst="roundRect">
            <a:avLst>
              <a:gd name="adj" fmla="val 6944"/>
            </a:avLst>
          </a:prstGeom>
          <a:solidFill>
            <a:srgbClr val="FFF7ED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01968" y="246888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65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Flink Behavior Job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58200" y="246888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异步推理 / 热更新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503920" y="3044952"/>
            <a:ext cx="0" cy="32004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00800" y="3465576"/>
            <a:ext cx="4206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01968" y="35844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detections.v1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458200" y="35844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检测结果输出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03920" y="4160520"/>
            <a:ext cx="0" cy="32004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00800" y="4581144"/>
            <a:ext cx="4206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601968" y="470001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 + Evidence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458200" y="470001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告警证据化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1148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265408" y="64465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MLOPS LOOP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反馈学习闭环：从告警研判回到模型版本和在线热更新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05840" y="150876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06543"/>
          </a:solidFill>
          <a:ln w="12700">
            <a:solidFill>
              <a:srgbClr val="F065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737360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告警研判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3063240" y="150876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36392" y="1737360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 / FP反馈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5074920" y="150876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48072" y="1737360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样本池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903720" y="150876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76872" y="1737360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训练评估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823960" y="150876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97112" y="1737360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模型注册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4983480" y="370332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56632" y="3931920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model-updates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2487168" y="1828800"/>
            <a:ext cx="56692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44568" y="1828800"/>
            <a:ext cx="56692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556248" y="1828800"/>
            <a:ext cx="56692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385048" y="1828800"/>
            <a:ext cx="56692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528048" y="2185416"/>
            <a:ext cx="0" cy="115214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82512" y="3337560"/>
            <a:ext cx="3145536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10912" y="3337560"/>
            <a:ext cx="137160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783080" y="2185416"/>
            <a:ext cx="0" cy="107899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3264408"/>
            <a:ext cx="309067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13232" y="4892040"/>
            <a:ext cx="5138928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4892040"/>
            <a:ext cx="73152" cy="877824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056632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闭环关键字段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914400" y="5330952"/>
            <a:ext cx="479145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alert_id、model_version、feature_set_id、feedback_label、reason_code、threshold-lock、artifact_uri、metrics、activation action。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6327648" y="4892040"/>
            <a:ext cx="5138928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27648" y="4892040"/>
            <a:ext cx="73152" cy="877824"/>
          </a:xfrm>
          <a:prstGeom prst="rect">
            <a:avLst/>
          </a:prstGeom>
          <a:solidFill>
            <a:srgbClr val="F06543"/>
          </a:solidFill>
          <a:ln w="12700">
            <a:solidFill>
              <a:srgbClr val="F0654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28816" y="5056632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融合要求</a:t>
            </a:r>
            <a:endParaRPr lang="en-US" sz="1280" dirty="0"/>
          </a:p>
        </p:txBody>
      </p:sp>
      <p:sp>
        <p:nvSpPr>
          <p:cNvPr id="33" name="Text 31"/>
          <p:cNvSpPr/>
          <p:nvPr/>
        </p:nvSpPr>
        <p:spPr>
          <a:xfrm>
            <a:off x="6528816" y="5330952"/>
            <a:ext cx="479145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研究模型必须接入同一套模型注册、灰度激活、回滚、审计和Flink广播热更新机制，不能脱离平台单跑。</a:t>
            </a:r>
            <a:endParaRPr lang="en-US" sz="1030" dirty="0"/>
          </a:p>
        </p:txBody>
      </p:sp>
      <p:sp>
        <p:nvSpPr>
          <p:cNvPr id="34" name="Text 32"/>
          <p:cNvSpPr/>
          <p:nvPr/>
        </p:nvSpPr>
        <p:spPr>
          <a:xfrm>
            <a:off x="41148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265408" y="64465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EVIDENCE-OPENEMTD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可信开放集检测：把“未知攻击”做成可复核风险，而不是低置信标签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41248" y="1325880"/>
            <a:ext cx="10469880" cy="566928"/>
          </a:xfrm>
          <a:prstGeom prst="roundRect">
            <a:avLst>
              <a:gd name="adj" fmla="val 9677"/>
            </a:avLst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17904"/>
            <a:ext cx="10149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unknown_risk = λ1·uncertainty + λ2·conflict + λ3·prototype_distance + λ4·energy + λ5·drift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761488"/>
            <a:ext cx="169164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8096" y="2971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多模态特征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04672" y="34290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 / 序列 / 指纹 / 图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2414016" y="3383280"/>
            <a:ext cx="3657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98648" y="2761488"/>
            <a:ext cx="169164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08376" y="2971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证据意见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3044952" y="34290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belief / uncertainty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4654296" y="3383280"/>
            <a:ext cx="3657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38928" y="2761488"/>
            <a:ext cx="169164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48656" y="2971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6C6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冲突融合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5285232" y="34290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模态一致性与折扣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6894576" y="3383280"/>
            <a:ext cx="3657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79208" y="2761488"/>
            <a:ext cx="169164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88936" y="2971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065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风险分层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7525512" y="34290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known / review / unknown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9134856" y="3383280"/>
            <a:ext cx="3657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619488" y="2761488"/>
            <a:ext cx="169164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729216" y="2971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B8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证据包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9765792" y="342900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相似样本 / 异常子图 / 复核建议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713232" y="4919472"/>
            <a:ext cx="521208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4919472"/>
            <a:ext cx="73152" cy="841248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084064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产品落点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914400" y="5340096"/>
            <a:ext cx="486460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告警详情页展示：未知风险、综合不确定性、模态冲突、最近已知原型、弱证据模态、建议复核动作。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6272784" y="4919472"/>
            <a:ext cx="521208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72784" y="4919472"/>
            <a:ext cx="73152" cy="84124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5084064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论文落点</a:t>
            </a:r>
            <a:endParaRPr lang="en-US" sz="1280" dirty="0"/>
          </a:p>
        </p:txBody>
      </p:sp>
      <p:sp>
        <p:nvSpPr>
          <p:cNvPr id="33" name="Text 31"/>
          <p:cNvSpPr/>
          <p:nvPr/>
        </p:nvSpPr>
        <p:spPr>
          <a:xfrm>
            <a:off x="6473952" y="5340096"/>
            <a:ext cx="486460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模态缺失、模态污染、模态冲突、混合噪声标签、开放集留出、校准可信性和证据包复核实验。</a:t>
            </a:r>
            <a:endParaRPr lang="en-US" sz="1030" dirty="0"/>
          </a:p>
        </p:txBody>
      </p:sp>
      <p:sp>
        <p:nvSpPr>
          <p:cNvPr id="34" name="Text 32"/>
          <p:cNvSpPr/>
          <p:nvPr/>
        </p:nvSpPr>
        <p:spPr>
          <a:xfrm>
            <a:off x="41148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265408" y="64465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DA-FDIDS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DA-FDIDS 的正确融入方式：动态少样本与跨域适配插件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13232" y="1371600"/>
            <a:ext cx="347472" cy="34747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458468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70432" y="14173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适合做什么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48920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动态图入侵检测：基于通信实体和流事件的时序关系建模。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少样本攻击识别：support/query episode 适配新类别或小样本攻击。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跨域泛化：GRL/MMD/Stable-LoRA 缓解园区、时间、协议和设备分布偏移。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713232" y="3703320"/>
            <a:ext cx="347472" cy="347472"/>
          </a:xfrm>
          <a:prstGeom prst="ellipse">
            <a:avLst/>
          </a:prstGeom>
          <a:solidFill>
            <a:srgbClr val="F06543"/>
          </a:solidFill>
          <a:ln w="12700">
            <a:solidFill>
              <a:srgbClr val="F065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790188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70432" y="37490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不应夸大什么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920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不是完整全流量采集工程，不替代 Probe/Kafka/Flink。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当前更接近闭集 few-shot episode 分类，不能直接等同开放集拒识。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TrafficEncoder 若无真实预训练权重，不宜直接称为流量基础大模型。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446520" y="1389888"/>
            <a:ext cx="3429000" cy="384048"/>
          </a:xfrm>
          <a:prstGeom prst="roundRect">
            <a:avLst>
              <a:gd name="adj" fmla="val 9524"/>
            </a:avLst>
          </a:prstGeom>
          <a:solidFill>
            <a:srgbClr val="F4FAFA"/>
          </a:solidFill>
          <a:ln w="12700">
            <a:solidFill>
              <a:srgbClr val="D6E0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1499616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50608" y="1481328"/>
            <a:ext cx="2423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DIDS-MFL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446520" y="2103120"/>
            <a:ext cx="3429000" cy="384048"/>
          </a:xfrm>
          <a:prstGeom prst="roundRect">
            <a:avLst>
              <a:gd name="adj" fmla="val 9524"/>
            </a:avLst>
          </a:prstGeom>
          <a:solidFill>
            <a:srgbClr val="F4FAFA"/>
          </a:solidFill>
          <a:ln w="12700">
            <a:solidFill>
              <a:srgbClr val="D6E0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2212848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150608" y="2194560"/>
            <a:ext cx="2423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TrafficEncoder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446520" y="2816352"/>
            <a:ext cx="3429000" cy="384048"/>
          </a:xfrm>
          <a:prstGeom prst="roundRect">
            <a:avLst>
              <a:gd name="adj" fmla="val 9524"/>
            </a:avLst>
          </a:prstGeom>
          <a:solidFill>
            <a:srgbClr val="F4FAFA"/>
          </a:solidFill>
          <a:ln w="12700">
            <a:solidFill>
              <a:srgbClr val="D6E0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2926080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150608" y="2907792"/>
            <a:ext cx="2423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LoRA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446520" y="3529584"/>
            <a:ext cx="3429000" cy="384048"/>
          </a:xfrm>
          <a:prstGeom prst="roundRect">
            <a:avLst>
              <a:gd name="adj" fmla="val 9524"/>
            </a:avLst>
          </a:prstGeom>
          <a:solidFill>
            <a:srgbClr val="F4FAFA"/>
          </a:solidFill>
          <a:ln w="12700">
            <a:solidFill>
              <a:srgbClr val="D6E0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01968" y="3639312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150608" y="3621024"/>
            <a:ext cx="2423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GRL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446520" y="4242816"/>
            <a:ext cx="3429000" cy="384048"/>
          </a:xfrm>
          <a:prstGeom prst="roundRect">
            <a:avLst>
              <a:gd name="adj" fmla="val 9524"/>
            </a:avLst>
          </a:prstGeom>
          <a:solidFill>
            <a:srgbClr val="F4FAFA"/>
          </a:solidFill>
          <a:ln w="12700">
            <a:solidFill>
              <a:srgbClr val="D6E0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01968" y="4352544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150608" y="4334256"/>
            <a:ext cx="2423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MMD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6446520" y="4956048"/>
            <a:ext cx="3429000" cy="384048"/>
          </a:xfrm>
          <a:prstGeom prst="roundRect">
            <a:avLst>
              <a:gd name="adj" fmla="val 9524"/>
            </a:avLst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01968" y="5065776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7D1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B8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150608" y="5047488"/>
            <a:ext cx="2423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DA-FDIDS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6309360" y="5577840"/>
            <a:ext cx="38404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5577840"/>
            <a:ext cx="73152" cy="621792"/>
          </a:xfrm>
          <a:prstGeom prst="rect">
            <a:avLst/>
          </a:prstGeom>
          <a:solidFill>
            <a:srgbClr val="F06543"/>
          </a:solidFill>
          <a:ln w="12700">
            <a:solidFill>
              <a:srgbClr val="F065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0528" y="5727070"/>
            <a:ext cx="3493008" cy="23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实验门槛</a:t>
            </a:r>
            <a:endParaRPr lang="en-US" sz="1280" dirty="0"/>
          </a:p>
        </p:txBody>
      </p:sp>
      <p:sp>
        <p:nvSpPr>
          <p:cNvPr id="34" name="Text 32"/>
          <p:cNvSpPr/>
          <p:nvPr/>
        </p:nvSpPr>
        <p:spPr>
          <a:xfrm>
            <a:off x="6510528" y="5888736"/>
            <a:ext cx="349300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必须补 cross-domain、host-disjoint、time-disjoint、flow-disjoint 和 B0-B8 消融，否则容易被质疑为随机划分高分。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41148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265408" y="64465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 FUSION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多源融合：把模型分数变成攻击上下文和误报消解能力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74920" y="2468880"/>
            <a:ext cx="1463040" cy="822960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02936" y="2761488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安全实体图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280160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463040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Flow/Session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1847088" y="1554480"/>
            <a:ext cx="1979676" cy="0"/>
          </a:xfrm>
          <a:prstGeom prst="line">
            <a:avLst/>
          </a:prstGeom>
          <a:noFill/>
          <a:ln w="12700">
            <a:solidFill>
              <a:srgbClr val="9CA3AF">
                <a:alpha val="8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26764" y="1554480"/>
            <a:ext cx="0" cy="1325880"/>
          </a:xfrm>
          <a:prstGeom prst="line">
            <a:avLst/>
          </a:prstGeom>
          <a:noFill/>
          <a:ln w="12700">
            <a:solidFill>
              <a:srgbClr val="9CA3AF">
                <a:alpha val="8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26764" y="2880360"/>
            <a:ext cx="1979676" cy="0"/>
          </a:xfrm>
          <a:prstGeom prst="line">
            <a:avLst/>
          </a:prstGeom>
          <a:noFill/>
          <a:ln w="12700">
            <a:solidFill>
              <a:srgbClr val="9CA3AF">
                <a:alpha val="8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960120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0368" y="1143000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5929884" y="1234440"/>
            <a:ext cx="123444" cy="0"/>
          </a:xfrm>
          <a:prstGeom prst="line">
            <a:avLst/>
          </a:prstGeom>
          <a:noFill/>
          <a:ln w="12700">
            <a:solidFill>
              <a:srgbClr val="9CA3AF">
                <a:alpha val="8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29884" y="1234440"/>
            <a:ext cx="0" cy="1645920"/>
          </a:xfrm>
          <a:prstGeom prst="line">
            <a:avLst/>
          </a:prstGeom>
          <a:noFill/>
          <a:ln w="12700">
            <a:solidFill>
              <a:srgbClr val="9CA3AF">
                <a:alpha val="8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06440" y="2880360"/>
            <a:ext cx="123444" cy="0"/>
          </a:xfrm>
          <a:prstGeom prst="line">
            <a:avLst/>
          </a:prstGeom>
          <a:noFill/>
          <a:ln w="12700">
            <a:solidFill>
              <a:srgbClr val="9CA3AF">
                <a:alpha val="8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0" y="1325880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70848" y="1508760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 Log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7850124" y="1600200"/>
            <a:ext cx="2043684" cy="0"/>
          </a:xfrm>
          <a:prstGeom prst="line">
            <a:avLst/>
          </a:prstGeom>
          <a:noFill/>
          <a:ln w="12700">
            <a:solidFill>
              <a:srgbClr val="9CA3AF">
                <a:alpha val="8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50124" y="1600200"/>
            <a:ext cx="0" cy="1280160"/>
          </a:xfrm>
          <a:prstGeom prst="line">
            <a:avLst/>
          </a:prstGeom>
          <a:noFill/>
          <a:ln w="12700">
            <a:solidFill>
              <a:srgbClr val="9CA3AF">
                <a:alpha val="8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06440" y="2880360"/>
            <a:ext cx="2043684" cy="0"/>
          </a:xfrm>
          <a:prstGeom prst="line">
            <a:avLst/>
          </a:prstGeom>
          <a:noFill/>
          <a:ln w="12700">
            <a:solidFill>
              <a:srgbClr val="9CA3AF">
                <a:alpha val="8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35440" y="4434840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F06543"/>
          </a:solidFill>
          <a:ln w="12700">
            <a:solidFill>
              <a:srgbClr val="F065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45168" y="4617720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Event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7987284" y="4709160"/>
            <a:ext cx="2180844" cy="0"/>
          </a:xfrm>
          <a:prstGeom prst="line">
            <a:avLst/>
          </a:prstGeom>
          <a:noFill/>
          <a:ln w="12700">
            <a:solidFill>
              <a:srgbClr val="9CA3AF">
                <a:alpha val="8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87284" y="2880360"/>
            <a:ext cx="0" cy="1828800"/>
          </a:xfrm>
          <a:prstGeom prst="line">
            <a:avLst/>
          </a:prstGeom>
          <a:noFill/>
          <a:ln w="12700">
            <a:solidFill>
              <a:srgbClr val="9CA3AF">
                <a:alpha val="8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06440" y="2880360"/>
            <a:ext cx="2180844" cy="0"/>
          </a:xfrm>
          <a:prstGeom prst="line">
            <a:avLst/>
          </a:prstGeom>
          <a:noFill/>
          <a:ln w="12700">
            <a:solidFill>
              <a:srgbClr val="9CA3AF">
                <a:alpha val="8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0640" y="5074920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5257800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 Intel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5929884" y="5349240"/>
            <a:ext cx="123444" cy="0"/>
          </a:xfrm>
          <a:prstGeom prst="line">
            <a:avLst/>
          </a:prstGeom>
          <a:noFill/>
          <a:ln w="12700">
            <a:solidFill>
              <a:srgbClr val="9CA3AF">
                <a:alpha val="8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29884" y="2880360"/>
            <a:ext cx="0" cy="2468880"/>
          </a:xfrm>
          <a:prstGeom prst="line">
            <a:avLst/>
          </a:prstGeom>
          <a:noFill/>
          <a:ln w="12700">
            <a:solidFill>
              <a:srgbClr val="9CA3AF">
                <a:alpha val="8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06440" y="2880360"/>
            <a:ext cx="123444" cy="0"/>
          </a:xfrm>
          <a:prstGeom prst="line">
            <a:avLst/>
          </a:prstGeom>
          <a:noFill/>
          <a:ln w="12700">
            <a:solidFill>
              <a:srgbClr val="9CA3AF">
                <a:alpha val="8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" y="4389120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4128" y="4572000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Alert/Evidence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1847088" y="4663440"/>
            <a:ext cx="1979676" cy="0"/>
          </a:xfrm>
          <a:prstGeom prst="line">
            <a:avLst/>
          </a:prstGeom>
          <a:noFill/>
          <a:ln w="12700">
            <a:solidFill>
              <a:srgbClr val="9CA3AF">
                <a:alpha val="8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26764" y="2880360"/>
            <a:ext cx="0" cy="1783080"/>
          </a:xfrm>
          <a:prstGeom prst="line">
            <a:avLst/>
          </a:prstGeom>
          <a:noFill/>
          <a:ln w="12700">
            <a:solidFill>
              <a:srgbClr val="9CA3AF">
                <a:alpha val="8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26764" y="2880360"/>
            <a:ext cx="1979676" cy="0"/>
          </a:xfrm>
          <a:prstGeom prst="line">
            <a:avLst/>
          </a:prstGeom>
          <a:noFill/>
          <a:ln w="12700">
            <a:solidFill>
              <a:srgbClr val="9CA3AF">
                <a:alpha val="8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3232" y="5806440"/>
            <a:ext cx="52578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13232" y="5806440"/>
            <a:ext cx="73152" cy="53035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5933724"/>
            <a:ext cx="4910328" cy="201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检测增益</a:t>
            </a:r>
            <a:endParaRPr lang="en-US" sz="1280" dirty="0"/>
          </a:p>
        </p:txBody>
      </p:sp>
      <p:sp>
        <p:nvSpPr>
          <p:cNvPr id="40" name="Text 38"/>
          <p:cNvSpPr/>
          <p:nvPr/>
        </p:nvSpPr>
        <p:spPr>
          <a:xfrm>
            <a:off x="914400" y="6071616"/>
            <a:ext cx="4910328" cy="1920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图上下文补齐单流模型看不到的资产重要性、账号行为、IOC命中、横向移动路径和历史相似告警。</a:t>
            </a:r>
            <a:endParaRPr lang="en-US" sz="1060" dirty="0"/>
          </a:p>
        </p:txBody>
      </p:sp>
      <p:sp>
        <p:nvSpPr>
          <p:cNvPr id="41" name="Shape 39"/>
          <p:cNvSpPr/>
          <p:nvPr/>
        </p:nvSpPr>
        <p:spPr>
          <a:xfrm>
            <a:off x="6291072" y="5806440"/>
            <a:ext cx="52578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91072" y="5806440"/>
            <a:ext cx="73152" cy="53035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5933724"/>
            <a:ext cx="4910328" cy="201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科研切入</a:t>
            </a:r>
            <a:endParaRPr lang="en-US" sz="1280" dirty="0"/>
          </a:p>
        </p:txBody>
      </p:sp>
      <p:sp>
        <p:nvSpPr>
          <p:cNvPr id="44" name="Text 42"/>
          <p:cNvSpPr/>
          <p:nvPr/>
        </p:nvSpPr>
        <p:spPr>
          <a:xfrm>
            <a:off x="6492240" y="6071616"/>
            <a:ext cx="4910328" cy="1920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做单源/多源消融：只流量 vs 流量+资产 vs 流量+日志+用户行为+情报，量化误报下降和提前量。</a:t>
            </a:r>
            <a:endParaRPr lang="en-US" sz="1060" dirty="0"/>
          </a:p>
        </p:txBody>
      </p:sp>
      <p:sp>
        <p:nvSpPr>
          <p:cNvPr id="45" name="Text 43"/>
          <p:cNvSpPr/>
          <p:nvPr/>
        </p:nvSpPr>
        <p:spPr>
          <a:xfrm>
            <a:off x="41148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1265408" y="64465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HIGH-SPEED PATH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高速全流量约束：用级联检测和预算调度兼顾吞吐与精度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1874520" cy="1078992"/>
          </a:xfrm>
          <a:prstGeom prst="chevron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579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52728" y="213969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快速统计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5420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pps/bps、包长、IAT、端口、方向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953512" y="1965960"/>
            <a:ext cx="1874520" cy="1078992"/>
          </a:xfrm>
          <a:prstGeom prst="chevron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36392" y="21579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13969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序列特征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82112" y="25420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前N包长度/方向/时间间隔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221224" y="1965960"/>
            <a:ext cx="1874520" cy="1078992"/>
          </a:xfrm>
          <a:prstGeom prst="chevron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04104" y="21579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88152" y="213969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协议指纹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49824" y="25420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TLS/QUIC、JA3、SNI、证书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7488936" y="1965960"/>
            <a:ext cx="1874520" cy="1078992"/>
          </a:xfrm>
          <a:prstGeom prst="chevron">
            <a:avLst/>
          </a:prstGeom>
          <a:solidFill>
            <a:srgbClr val="F06543"/>
          </a:solidFill>
          <a:ln w="12700">
            <a:solidFill>
              <a:srgbClr val="F065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71816" y="21579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55864" y="213969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图关系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17536" y="25420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通信邻域、资产、情报、历史告警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9756648" y="1965960"/>
            <a:ext cx="1874520" cy="1078992"/>
          </a:xfrm>
          <a:prstGeom prst="chevron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39528" y="21579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323576" y="213969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深度证据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985248" y="25420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开放集、原型、能量、不确定性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749808" y="4160520"/>
            <a:ext cx="52578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" y="4160520"/>
            <a:ext cx="73152" cy="86868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" y="4325112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预算调度规则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950976" y="4594860"/>
            <a:ext cx="4910328" cy="3611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队列长度、CPU/GPU负载、Flink backpressure、Kafka lag、初筛风险和不确定性共同决定是否升级到高成本特征。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6263640" y="4160520"/>
            <a:ext cx="52578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4160520"/>
            <a:ext cx="73152" cy="868680"/>
          </a:xfrm>
          <a:prstGeom prst="rect">
            <a:avLst/>
          </a:prstGeom>
          <a:solidFill>
            <a:srgbClr val="F06543"/>
          </a:solidFill>
          <a:ln w="12700">
            <a:solidFill>
              <a:srgbClr val="F065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64808" y="4325112"/>
            <a:ext cx="4910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验收价值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6464808" y="4594860"/>
            <a:ext cx="4910328" cy="3611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将10×100Gbps/512Mpps能力从“所有流量跑深度模型”的不现实假设，改成可证明的线速筛查+疑似深检方案。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41148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265408" y="64465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 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产品融合：AI检测结果要落在现有安全运营页面中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6656" y="1417320"/>
            <a:ext cx="333756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1417320"/>
            <a:ext cx="73152" cy="117043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81912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综合态势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877824" y="1920240"/>
            <a:ext cx="2990088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展示未知风险趋势、模型健康、证据完整度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4471416" y="1417320"/>
            <a:ext cx="333756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71416" y="1417320"/>
            <a:ext cx="73152" cy="117043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1581912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加密流量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4672584" y="1920240"/>
            <a:ext cx="2990088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查看TLS/QUIC指纹、异常外联、开放集风险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8266176" y="1417320"/>
            <a:ext cx="333756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66176" y="1417320"/>
            <a:ext cx="73152" cy="1170432"/>
          </a:xfrm>
          <a:prstGeom prst="rect">
            <a:avLst/>
          </a:prstGeom>
          <a:solidFill>
            <a:srgbClr val="F06543"/>
          </a:solidFill>
          <a:ln w="12700">
            <a:solidFill>
              <a:srgbClr val="F065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67344" y="1581912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告警中心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8467344" y="1920240"/>
            <a:ext cx="2990088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按known/review/unknown分层研判和反馈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76656" y="3291840"/>
            <a:ext cx="333756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" y="3291840"/>
            <a:ext cx="73152" cy="117043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3456432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取证分析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877824" y="3794760"/>
            <a:ext cx="2990088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PCAP、Session、证据hash、相似样本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471416" y="3291840"/>
            <a:ext cx="333756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71416" y="3291840"/>
            <a:ext cx="73152" cy="1170432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72584" y="3456432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模型管理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4672584" y="3794760"/>
            <a:ext cx="2990088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版本、阈值、指标、激活、回滚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8266176" y="3291840"/>
            <a:ext cx="333756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66176" y="3291840"/>
            <a:ext cx="73152" cy="1170432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67344" y="3456432"/>
            <a:ext cx="2990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MLOps编排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8467344" y="3794760"/>
            <a:ext cx="2990088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标注、训练、盲测、注册、发布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868680" y="5669280"/>
            <a:ext cx="10314432" cy="420624"/>
          </a:xfrm>
          <a:prstGeom prst="roundRect">
            <a:avLst>
              <a:gd name="adj" fmla="val 8696"/>
            </a:avLst>
          </a:prstGeom>
          <a:solidFill>
            <a:srgbClr val="EAF7F5"/>
          </a:solidFill>
          <a:ln w="12700">
            <a:solidFill>
              <a:srgbClr val="B6DF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5806440"/>
            <a:ext cx="9966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页面原则：不新增孤立“AI演示页”，而是在告警、取证、图谱、模型和MLOps页面中呈现可操作、可审计、可反馈的AI结果。</a:t>
            </a:r>
            <a:endParaRPr lang="en-US" sz="1060" dirty="0"/>
          </a:p>
        </p:txBody>
      </p:sp>
      <p:sp>
        <p:nvSpPr>
          <p:cNvPr id="31" name="Text 29"/>
          <p:cNvSpPr/>
          <p:nvPr/>
        </p:nvSpPr>
        <p:spPr>
          <a:xfrm>
            <a:off x="41148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265408" y="64465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ACCEPTANCE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验收融合：科研指标必须落到平台证据包和第三方盲测</a:t>
            </a:r>
            <a:endParaRPr lang="en-US" sz="2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325880"/>
          <a:ext cx="10844784" cy="4297680"/>
        </p:xfrm>
        <a:graphic>
          <a:graphicData uri="http://schemas.openxmlformats.org/drawingml/2006/table">
            <a:tbl>
              <a:tblPr/>
              <a:tblGrid>
                <a:gridCol w="1920240"/>
                <a:gridCol w="1325880"/>
                <a:gridCol w="7598664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门禁项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融合后的证据要求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功能主链路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087E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已较强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Probe/Kafka/Flink/API/UI真实链路、PCAP下载、反馈、MLOps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P95 &lt;= 60s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087E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已闭环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事件时间链、API/UI seen 时间、分段P95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95%/5%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F06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未闭环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需冻结样本、阈值锁、labels/predictions、第三方签认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Unknown Recall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F06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未闭环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开放集留出、未知攻击样本、OSCR/FPR@95TPR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100G/512Mpps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F065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未闭环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硬件窗口、流量profile、资源水位、丢包/Kafka lag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10182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多源融合价值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087E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结构门通过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仍需真实消融、误报下降、MTTR下降、试点签认</a:t>
                      </a:r>
                      <a:endParaRPr lang="en-US" sz="9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41248" y="5870448"/>
            <a:ext cx="102412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" y="5870448"/>
            <a:ext cx="73152" cy="457200"/>
          </a:xfrm>
          <a:prstGeom prst="rect">
            <a:avLst/>
          </a:prstGeom>
          <a:solidFill>
            <a:srgbClr val="F06543"/>
          </a:solidFill>
          <a:ln w="12700">
            <a:solidFill>
              <a:srgbClr val="F0654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416" y="5980176"/>
            <a:ext cx="9893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</a:t>
            </a:r>
            <a:endParaRPr lang="en-US" sz="1280" dirty="0"/>
          </a:p>
        </p:txBody>
      </p:sp>
      <p:sp>
        <p:nvSpPr>
          <p:cNvPr id="9" name="Text 6"/>
          <p:cNvSpPr/>
          <p:nvPr/>
        </p:nvSpPr>
        <p:spPr>
          <a:xfrm>
            <a:off x="1042416" y="6099048"/>
            <a:ext cx="9893808" cy="1554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AI模型不能只报告训练集Accuracy；必须进入冻结盲测包，按Detection rate、FPR、Unknown recall、置信区间和第三方签认闭环。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1148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265408" y="64465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实施路线：先打通最小可信闭环，再扩展图融合与高速预算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21792" y="1508760"/>
            <a:ext cx="1874520" cy="4160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E0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647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E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819656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2周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786384" y="235915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特征契约对齐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926080"/>
            <a:ext cx="1481328" cy="11704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确认FeatureStat/Seq/Fingerprint字段；设计Detection扩展与Evidence metrics_json。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2926080" y="1508760"/>
            <a:ext cx="1874520" cy="4160520"/>
          </a:xfrm>
          <a:prstGeom prst="roundRect">
            <a:avLst>
              <a:gd name="adj" fmla="val 2439"/>
            </a:avLst>
          </a:prstGeom>
          <a:solidFill>
            <a:srgbClr val="F4FAFA"/>
          </a:solidFill>
          <a:ln w="12700">
            <a:solidFill>
              <a:srgbClr val="D6E0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17647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58768" y="1819656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4周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090672" y="235915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Evidence-OpenEMTD MVP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90672" y="2926080"/>
            <a:ext cx="1481328" cy="11704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三模态evidence、uncertainty、conflict、unknown_risk；离线盲测脚本。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5230368" y="1508760"/>
            <a:ext cx="1874520" cy="4160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E0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17647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63056" y="1819656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6-8周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394960" y="235915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在线推理接入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2926080"/>
            <a:ext cx="1481328" cy="11704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Flink消费feature.stat.v1；输出detections.v1；告警详情展示AI证据。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7534656" y="1508760"/>
            <a:ext cx="1874520" cy="4160520"/>
          </a:xfrm>
          <a:prstGeom prst="roundRect">
            <a:avLst>
              <a:gd name="adj" fmla="val 2439"/>
            </a:avLst>
          </a:prstGeom>
          <a:solidFill>
            <a:srgbClr val="F4FAFA"/>
          </a:solidFill>
          <a:ln w="12700">
            <a:solidFill>
              <a:srgbClr val="D6E0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99248" y="17647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65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67344" y="1819656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8-12周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7699248" y="235915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MLOps闭环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99248" y="2926080"/>
            <a:ext cx="1481328" cy="11704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反馈样本池、阈值锁、模型注册、model-updates热更新、回滚。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9838944" y="1508760"/>
            <a:ext cx="1874520" cy="4160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E0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03536" y="17647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B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771632" y="1819656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12周+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10003536" y="235915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扩展增强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03536" y="2926080"/>
            <a:ext cx="1481328" cy="11704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图模态、多源消融、高速级联预算、第三方盲测与试点报告。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41148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265408" y="64465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融合后的科研与成果输出：论文、专利、软著、验收证据互相支撑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13232" y="1481328"/>
            <a:ext cx="507492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481328"/>
            <a:ext cx="73152" cy="126187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4727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论文方向 1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914400" y="1984248"/>
            <a:ext cx="4727448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Evidence-OpenEMTD：证据冲突感知的可信开放集多模态加密恶意流量检测。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6199632" y="1481328"/>
            <a:ext cx="507492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481328"/>
            <a:ext cx="73152" cy="126187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45920"/>
            <a:ext cx="4727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论文方向 2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400800" y="1984248"/>
            <a:ext cx="4727448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DA-FDIDS：域自适应基础表征增强的少样本动态网络入侵检测框架。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713232" y="3447288"/>
            <a:ext cx="507492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47288"/>
            <a:ext cx="73152" cy="1261872"/>
          </a:xfrm>
          <a:prstGeom prst="rect">
            <a:avLst/>
          </a:prstGeom>
          <a:solidFill>
            <a:srgbClr val="F06543"/>
          </a:solidFill>
          <a:ln w="12700">
            <a:solidFill>
              <a:srgbClr val="F065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11880"/>
            <a:ext cx="4727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专利方向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914400" y="3950208"/>
            <a:ext cx="4727448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可信开放集检测、多粒度预算调度、多源知识图谱置信融合、LLM证据包幻觉校验。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6199632" y="3447288"/>
            <a:ext cx="507492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0160">
            <a:solidFill>
              <a:srgbClr val="D6E0E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9632" y="3447288"/>
            <a:ext cx="73152" cy="1261872"/>
          </a:xfrm>
          <a:prstGeom prst="rect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611880"/>
            <a:ext cx="4727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工程证据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6400800" y="3950208"/>
            <a:ext cx="4727448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盲测包、P95链路、模型热更新、PCAP证据、融合价值报告、第三方签认。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1024128" y="5623560"/>
            <a:ext cx="10058400" cy="457200"/>
          </a:xfrm>
          <a:prstGeom prst="roundRect">
            <a:avLst>
              <a:gd name="adj" fmla="val 8000"/>
            </a:avLst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5779008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同一条真实链路同时支撑论文实验、专利实施例、系统演示和验收报告，避免科研与工程两张皮。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41148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65408" y="64465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结论与下一步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10241280" cy="713232"/>
          </a:xfrm>
          <a:prstGeom prst="roundRect">
            <a:avLst>
              <a:gd name="adj" fmla="val 6410"/>
            </a:avLst>
          </a:prstGeom>
          <a:solidFill>
            <a:srgbClr val="2B1D1D"/>
          </a:solidFill>
          <a:ln w="12700">
            <a:solidFill>
              <a:srgbClr val="F065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810512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F06543"/>
          </a:solidFill>
          <a:ln w="12700">
            <a:solidFill>
              <a:srgbClr val="F065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" y="1879092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965960" y="1810512"/>
            <a:ext cx="8778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两个系统分裂建设，导致数据、模型、告警和证据口径不一致。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10241280" cy="713232"/>
          </a:xfrm>
          <a:prstGeom prst="roundRect">
            <a:avLst>
              <a:gd name="adj" fmla="val 6410"/>
            </a:avLst>
          </a:prstGeom>
          <a:solidFill>
            <a:srgbClr val="172D32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953512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3022092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965960" y="2953512"/>
            <a:ext cx="8778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算法以插件方式接入现有Feature、Detection、Evidence、MLOps和model-updates链路。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886200"/>
            <a:ext cx="10241280" cy="713232"/>
          </a:xfrm>
          <a:prstGeom prst="roundRect">
            <a:avLst>
              <a:gd name="adj" fmla="val 6410"/>
            </a:avLst>
          </a:prstGeom>
          <a:solidFill>
            <a:srgbClr val="172D32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4096512"/>
            <a:ext cx="731520" cy="292608"/>
          </a:xfrm>
          <a:prstGeom prst="roundRect">
            <a:avLst>
              <a:gd name="adj" fmla="val 18750"/>
            </a:avLst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4165092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965960" y="4096512"/>
            <a:ext cx="8778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先做三模态Evidence-OpenEMTD MVP和检测质量冻结包，再扩展图融合与高速预算。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1248" y="563270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D1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最终目标：把全流量系统从“看得见、查得到”升级为“可检测、可解释、可学习、可验收”。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7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园区全流量采集分析系统 × AI驱动网络流量检测系统 | 融合分析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65408" y="644652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B7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Quancheng Laboratory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两个系统融合分析</dc:title>
  <dc:subject>园区全流量采集分析系统与AI驱动网络流量检测系统融合分析</dc:subject>
  <dc:creator>Codex</dc:creator>
  <cp:lastModifiedBy>Codex</cp:lastModifiedBy>
  <cp:revision>1</cp:revision>
  <dcterms:created xsi:type="dcterms:W3CDTF">2026-07-06T04:33:06Z</dcterms:created>
  <dcterms:modified xsi:type="dcterms:W3CDTF">2026-07-06T04:33:06Z</dcterms:modified>
</cp:coreProperties>
</file>