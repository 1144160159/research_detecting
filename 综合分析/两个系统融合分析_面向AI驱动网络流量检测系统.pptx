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4069080" cy="685800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0"/>
            <a:ext cx="7315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601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两个系统融合分析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68096" y="27432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从全流量底座到可信开放集检测、动态图少样本检测、MLOps反馈学习与验收证据闭环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7D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645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论文知识库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2240280" y="4069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40280" y="46451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3822192" y="4069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7D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22192" y="46451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已下载代码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449824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49824" y="46451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核心Kafka主题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777240" y="58978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BF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结论先行：全流量系统不是并列平台，而是AI检测系统的数据底座、执行环境、证据平台和反馈闭环。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D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核心判断：融合成一个“数据-模型-证据-反馈”闭环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16636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14173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8191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859536" y="1920240"/>
            <a:ext cx="48371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工程底座：采集、协议解析、会话化、Kafka/Flink实时处理、ClickHouse/Nebula/MinIO证据存储、Web安全运营台。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16636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417320"/>
            <a:ext cx="73152" cy="141732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58191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AI驱动网络流量检测系统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48371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智能能力层：表征学习、动态图少样本检测、可信开放集拒识、多源融合、可解释告警和持续学习。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870448" y="2057400"/>
            <a:ext cx="310896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337560"/>
            <a:ext cx="10287000" cy="914400"/>
          </a:xfrm>
          <a:prstGeom prst="rect">
            <a:avLst/>
          </a:prstGeom>
          <a:solidFill>
            <a:srgbClr val="111827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37560"/>
            <a:ext cx="73152" cy="914400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502152"/>
            <a:ext cx="9957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融合后定义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115568" y="3840480"/>
            <a:ext cx="9957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以全流量遥测为底座，以AI模型和多源图关联为检测核心，以PCAP证据、告警研判、反馈学习和盲测验收为闭环的园区网络智能检测分析系统。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58368" y="4983480"/>
            <a:ext cx="51663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983480"/>
            <a:ext cx="73152" cy="73152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514807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859536" y="5486400"/>
            <a:ext cx="48371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另起一套AI平台，重复采集、重复存储、重复告警，造成数据口径、证据链和验收材料分裂。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309360" y="4983480"/>
            <a:ext cx="51663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983480"/>
            <a:ext cx="73152" cy="731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514807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6510528" y="5486400"/>
            <a:ext cx="48371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把DA-FDIDS、Evidence-OpenEMTD、图融合和级联检测做成现有平台的模型插件、评测包和专题能力。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已有资产：工程系统主链路已成型，研究系统提供算法与评测路线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1417320"/>
            <a:ext cx="3337560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17320"/>
            <a:ext cx="73152" cy="397764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819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远程工程系统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877824" y="1920240"/>
            <a:ext cx="300837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Probe、Kafka、Flink、ClickHouse、PostgreSQL、OpenSearch、NebulaGraph、Redis、MinIO、Go APIs、Web UI、MLOps。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96112" y="4736592"/>
            <a:ext cx="1051560" cy="2560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4805172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工程闭环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443984" y="1417320"/>
            <a:ext cx="3337560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417320"/>
            <a:ext cx="73152" cy="397764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5819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本地研究系统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4645152" y="1920240"/>
            <a:ext cx="300837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858篇论文地图、439篇强相关、120个代码资源、DA-FDIDS、Evidence-OpenEMTD、专利化方向。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663440" y="4736592"/>
            <a:ext cx="1051560" cy="25603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4805172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科研供给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211312" y="1417320"/>
            <a:ext cx="3337560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417320"/>
            <a:ext cx="73152" cy="397764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5819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共同缺口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8412480" y="1920240"/>
            <a:ext cx="300837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检测质量冻结包、未知攻击召回、真实多源消融、高速链路预算、第三方签认与试点数据。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430768" y="4736592"/>
            <a:ext cx="1051560" cy="25603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4805172"/>
            <a:ext cx="905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融合抓手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41248" y="5779008"/>
            <a:ext cx="102412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779008"/>
            <a:ext cx="73152" cy="42062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5943600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042416" y="6281928"/>
            <a:ext cx="99120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工程侧已有真实链路、MLOps和证据目录；研究侧已把文献趋势压缩为可落地的模型与指标体系。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BACKBONE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全流量系统主链路：AI能力插入实时流处理和运营反馈之间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1536192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47088"/>
            <a:ext cx="73152" cy="1874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0116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04088" y="2350008"/>
            <a:ext cx="120700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AF_XDP/AF_PACKET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PCAP归档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DNS/DHCP/ARP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130552" y="2761488"/>
            <a:ext cx="237744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872" y="1847088"/>
            <a:ext cx="1536192" cy="1874520"/>
          </a:xfrm>
          <a:prstGeom prst="rect">
            <a:avLst/>
          </a:prstGeom>
          <a:solidFill>
            <a:srgbClr val="ECF5F4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1847088"/>
            <a:ext cx="73152" cy="1874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0116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606040" y="2350008"/>
            <a:ext cx="120700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flow.events.v1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feature.stat.v1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model-updates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032504" y="2761488"/>
            <a:ext cx="237744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847088"/>
            <a:ext cx="1536192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1847088"/>
            <a:ext cx="73152" cy="187452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0116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4507992" y="2350008"/>
            <a:ext cx="120700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Feature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/ Behavior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CEP / Alert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934456" y="2761488"/>
            <a:ext cx="237744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847088"/>
            <a:ext cx="1536192" cy="1874520"/>
          </a:xfrm>
          <a:prstGeom prst="rect">
            <a:avLst/>
          </a:prstGeom>
          <a:solidFill>
            <a:srgbClr val="ECF5F4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847088"/>
            <a:ext cx="73152" cy="1874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20116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09944" y="2350008"/>
            <a:ext cx="120700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NebulaGraph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 / OpenSearch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836408" y="2761488"/>
            <a:ext cx="237744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1847088"/>
            <a:ext cx="1536192" cy="18745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0728" y="1847088"/>
            <a:ext cx="73152" cy="1874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11896" y="20116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311896" y="2350008"/>
            <a:ext cx="120700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APIs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Rule/Model Registry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Audit/RBAC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738360" y="2761488"/>
            <a:ext cx="237744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12680" y="1847088"/>
            <a:ext cx="1536192" cy="1874520"/>
          </a:xfrm>
          <a:prstGeom prst="rect">
            <a:avLst/>
          </a:prstGeom>
          <a:solidFill>
            <a:srgbClr val="ECF5F4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12680" y="1847088"/>
            <a:ext cx="73152" cy="18745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13848" y="201168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0213848" y="2350008"/>
            <a:ext cx="120700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态势大屏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告警研判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取证/反馈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13232" y="4709160"/>
            <a:ext cx="34290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709160"/>
            <a:ext cx="73152" cy="84124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87375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插入点 1：Flink在线推理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914400" y="5212080"/>
            <a:ext cx="30998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 feature.stat.v1 / 特征批次，输出 detections.v1，满足低延迟和热更新。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407408" y="4709160"/>
            <a:ext cx="34290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07408" y="4709160"/>
            <a:ext cx="73152" cy="841248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487375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插入点 2：MLOps训练评估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4608576" y="5212080"/>
            <a:ext cx="30998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从ClickHouse抽取特征和反馈，生成模型版本、阈值、指标和artifact。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8101584" y="4709160"/>
            <a:ext cx="34290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01584" y="4709160"/>
            <a:ext cx="73152" cy="8412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02752" y="4873752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插入点 3：证据解释层</a:t>
            </a:r>
            <a:endParaRPr lang="en-US" sz="1240" dirty="0"/>
          </a:p>
        </p:txBody>
      </p:sp>
      <p:sp>
        <p:nvSpPr>
          <p:cNvPr id="45" name="Text 43"/>
          <p:cNvSpPr/>
          <p:nvPr/>
        </p:nvSpPr>
        <p:spPr>
          <a:xfrm>
            <a:off x="8302752" y="5212080"/>
            <a:ext cx="309981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把不确定性、冲突度、原型距离、相似历史样本写入Evidence和告警详情。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SIGNAL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文献侧启示：系统路线应从单点精度转向持续运营架构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创新点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325880"/>
            <a:ext cx="5166360" cy="4069080"/>
          </a:xfrm>
          <a:prstGeom prst="rect">
            <a:avLst/>
          </a:prstGeom>
        </p:spPr>
      </p:pic>
      <p:pic>
        <p:nvPicPr>
          <p:cNvPr id="6" name="Image 1" descr="F:\泉城实验室\二期\论文\异常检测\综合分析\图表\科学问题分布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2784" y="1325880"/>
            <a:ext cx="5166360" cy="4069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" y="5650992"/>
            <a:ext cx="10378440" cy="530352"/>
          </a:xfrm>
          <a:prstGeom prst="rect">
            <a:avLst/>
          </a:prstGeom>
          <a:solidFill>
            <a:srgbClr val="111827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41248" y="5650992"/>
            <a:ext cx="73152" cy="530352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42416" y="5815584"/>
            <a:ext cx="10049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组合趋势</a:t>
            </a:r>
            <a:endParaRPr lang="en-US" sz="1240" dirty="0"/>
          </a:p>
        </p:txBody>
      </p:sp>
      <p:sp>
        <p:nvSpPr>
          <p:cNvPr id="10" name="Text 6"/>
          <p:cNvSpPr/>
          <p:nvPr/>
        </p:nvSpPr>
        <p:spPr>
          <a:xfrm>
            <a:off x="1042416" y="6153912"/>
            <a:ext cx="100492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Transformer/预训练解决表征，自监督解决标签稀缺，图学习解决关联，可解释与反馈解决安全运营闭环。</a:t>
            </a:r>
            <a:endParaRPr lang="en-US" sz="1120" dirty="0"/>
          </a:p>
        </p:txBody>
      </p:sp>
      <p:sp>
        <p:nvSpPr>
          <p:cNvPr id="11" name="Text 7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LAYERED FUSION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融合方式：不是系统拼接，而是分层嵌入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49808" y="1325880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25880"/>
            <a:ext cx="91440" cy="65836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270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数据底座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32888" y="152704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/ Kafka / ClickHouse / MinIO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099048" y="152704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提供真实流量、PCAP、会话、延迟和质量证据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950976" y="2240280"/>
            <a:ext cx="10113264" cy="658368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240280"/>
            <a:ext cx="91440" cy="65836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414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特征底座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34056" y="244144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FeatureStat / FeatureSeq / FeatureFingerprint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300216" y="2441448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支撑统计、序列、TLS/QUIC指纹和多粒度建模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1152144" y="3154680"/>
            <a:ext cx="971092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3154680"/>
            <a:ext cx="91440" cy="658368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0744" y="33558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557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检测模型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35224" y="335584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DA-FDIDS / Evidence-OpenEMTD / 级联模型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501384" y="3355848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输出已知类、未知风险、低可信复核和模型版本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353312" y="4069080"/>
            <a:ext cx="9308592" cy="658368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3312" y="4069080"/>
            <a:ext cx="91440" cy="65836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81912" y="42702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关联解释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36392" y="427024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NebulaGraph / Evidence / PCAP / Threat Intel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702552" y="4270248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形成攻击链、相似样本、证据冲突和取证报告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554480" y="4983480"/>
            <a:ext cx="89062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4983480"/>
            <a:ext cx="91440" cy="658368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51846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9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运营闭环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37560" y="518464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/ Whitelist / MLOps / model-updates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903720" y="5184648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把TP/FP、未知候选和误报原因回流为模型迭代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41248" y="5989320"/>
            <a:ext cx="102412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5989320"/>
            <a:ext cx="73152" cy="43891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6153912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融合原则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1042416" y="6492240"/>
            <a:ext cx="99120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算法模块必须共享同一批特征、同一套模型版本、同一条证据链和同一个反馈闭环。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CONTRACT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数据契约融合：现有特征已覆盖可信开放集检测的前三模态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1389888"/>
            <a:ext cx="507492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89888"/>
            <a:ext cx="73152" cy="13258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544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FeatureStat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877824" y="1892808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持续时间、pps/bps、包长/IAT、TCP标志、上下行比例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1078992" cy="2560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162306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统计模态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08776" y="1389888"/>
            <a:ext cx="507492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8776" y="1389888"/>
            <a:ext cx="73152" cy="13258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5544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FeatureSeq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6409944" y="1892808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包长序列hash、IAT序列hash、小波能量与熵、序列blob引用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9738360" y="1554480"/>
            <a:ext cx="1078992" cy="25603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11512" y="162306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序列模态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76656" y="3355848"/>
            <a:ext cx="507492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3355848"/>
            <a:ext cx="73152" cy="132588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5204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FeatureFingerprint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877824" y="3858768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TLS版本、JA3、SNI hash、证书sha256、payload熵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206240" y="3520440"/>
            <a:ext cx="1078992" cy="25603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358902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协议指纹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208776" y="3355848"/>
            <a:ext cx="507492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3355848"/>
            <a:ext cx="73152" cy="132588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352044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Context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409944" y="3858768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IP/资产/域名/证书/告警/情报关系，来自NebulaGraph和Fusion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9738360" y="3520440"/>
            <a:ext cx="1078992" cy="25603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3589020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图上下文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41248" y="5532120"/>
            <a:ext cx="102412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5532120"/>
            <a:ext cx="73152" cy="56692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696712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下一步契约扩展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1042416" y="6035040"/>
            <a:ext cx="99120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Detection / Evidence 中显式加入 unknown_risk、uncertainty、conflict_score、prototype_distance、energy_score、candidate_cluster_id。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INSERTION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模型接入点：研究算法以插件形式进入 Flink 与 MLOps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5212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73152" cy="96012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1790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886968" y="1856232"/>
            <a:ext cx="4882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动态图少样本检测 + GRL/MMD域适应 + LoRA在线适配。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适合：跨域NIDS、少样本攻击、新环境快速适配。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770632"/>
            <a:ext cx="5212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770632"/>
            <a:ext cx="73152" cy="9601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93522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Evidence-OpenEMTD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86968" y="3273552"/>
            <a:ext cx="4882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多模态证据、不确定性、模态冲突、原型距离、能量分数。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适合：加密恶意流量、未知攻击、低可信复核。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4187952"/>
            <a:ext cx="521208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187952"/>
            <a:ext cx="73152" cy="96012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35254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Cascade Budget Detector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86968" y="4690872"/>
            <a:ext cx="4882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L0快速统计 -&gt; L1序列 -&gt; L2指纹 -&gt; L3图 -&gt; L4深度模型。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适合：高速链路、资源约束、分层推理。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1298448"/>
            <a:ext cx="397764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298448"/>
            <a:ext cx="73152" cy="59436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146304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feature.stat.v1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47688" y="1801368"/>
            <a:ext cx="3648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实时特征输入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394192" y="1984248"/>
            <a:ext cx="73152" cy="25603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359152"/>
            <a:ext cx="3977640" cy="594360"/>
          </a:xfrm>
          <a:prstGeom prst="rect">
            <a:avLst/>
          </a:prstGeom>
          <a:solidFill>
            <a:srgbClr val="FFF5ED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359152"/>
            <a:ext cx="73152" cy="59436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2523744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 Behavior Job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47688" y="2862072"/>
            <a:ext cx="3648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异步推理 / 热更新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394192" y="3044952"/>
            <a:ext cx="73152" cy="25603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419856"/>
            <a:ext cx="397764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3419856"/>
            <a:ext cx="73152" cy="59436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35844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detections.v1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47688" y="3922776"/>
            <a:ext cx="3648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检测结果输出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394192" y="4105656"/>
            <a:ext cx="73152" cy="25603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80560"/>
            <a:ext cx="3977640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480560"/>
            <a:ext cx="73152" cy="59436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4645152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 + Evidence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47688" y="4983480"/>
            <a:ext cx="3648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告警证据化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反馈学习闭环：从告警研判回到模型版本和在线热更新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554480" cy="62179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84832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告警研判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487168" y="2148840"/>
            <a:ext cx="384048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874520"/>
            <a:ext cx="1554480" cy="62179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084832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TP/FP反馈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636008" y="2148840"/>
            <a:ext cx="384048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1874520"/>
            <a:ext cx="1554480" cy="62179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084832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样本池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784848" y="2148840"/>
            <a:ext cx="384048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874520"/>
            <a:ext cx="1554480" cy="62179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2632" y="2084832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训练评估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933688" y="2148840"/>
            <a:ext cx="384048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1874520"/>
            <a:ext cx="1554480" cy="62179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2084832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模型注册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074920" y="3703320"/>
            <a:ext cx="1920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3941064"/>
            <a:ext cx="1682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model-updates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46920" y="2505456"/>
            <a:ext cx="73152" cy="502920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008376"/>
            <a:ext cx="3685032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3081528"/>
            <a:ext cx="73152" cy="5303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5074920"/>
            <a:ext cx="5138928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074920"/>
            <a:ext cx="73152" cy="78638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23951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闭环关键字段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914400" y="5577840"/>
            <a:ext cx="48097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alert_id、model_version、feature_set_id、feedback_label、reason_code、threshold-lock、artifact_uri、metrics、activation action。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27648" y="5074920"/>
            <a:ext cx="5138928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7648" y="5074920"/>
            <a:ext cx="73152" cy="786384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523951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融合要求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6528816" y="5577840"/>
            <a:ext cx="48097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研究模型必须接入同一套模型注册、灰度激活、回滚、审计和Flink广播热更新机制。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EVIDENCE-OPENEMTD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可信开放集检测：把“未知攻击”做成可复核风险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042416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325880"/>
            <a:ext cx="73152" cy="658368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9961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D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1508760"/>
            <a:ext cx="8092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unknown_risk = λ1·uncertainty + λ2·conflict + λ3·prototype_distance + λ4·energy + λ5·drift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16916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743200"/>
            <a:ext cx="73152" cy="1143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90779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多模态特征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3246120"/>
            <a:ext cx="13624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 / 序列 / 指纹 / 图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41448" y="3291840"/>
            <a:ext cx="320040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743200"/>
            <a:ext cx="16916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743200"/>
            <a:ext cx="73152" cy="1143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290779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证据意见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27248" y="3246120"/>
            <a:ext cx="13624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belief / uncertainty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320040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3792" y="2743200"/>
            <a:ext cx="16916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3792" y="2743200"/>
            <a:ext cx="73152" cy="114300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90779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冲突融合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3246120"/>
            <a:ext cx="13624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模态一致性与折扣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76872" y="3291840"/>
            <a:ext cx="320040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61504" y="2743200"/>
            <a:ext cx="16916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61504" y="2743200"/>
            <a:ext cx="73152" cy="114300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290779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62672" y="3246120"/>
            <a:ext cx="13624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known / review / unknown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44584" y="3291840"/>
            <a:ext cx="320040" cy="7315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216" y="2743200"/>
            <a:ext cx="16916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29216" y="2743200"/>
            <a:ext cx="73152" cy="1143000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30384" y="290779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930384" y="3246120"/>
            <a:ext cx="136245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相似样本 / 异常子图 / 复核建议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3232" y="4919472"/>
            <a:ext cx="52120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4919472"/>
            <a:ext cx="73152" cy="8412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08406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产品落点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914400" y="5422392"/>
            <a:ext cx="48828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告警详情页展示：未知风险、综合不确定性、模态冲突、最近已知原型、弱证据模态、建议复核动作。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6272784" y="4919472"/>
            <a:ext cx="52120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4919472"/>
            <a:ext cx="73152" cy="841248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508406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论文落点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6473952" y="5422392"/>
            <a:ext cx="48828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模态缺失、模态污染、模态冲突、混合噪声标签、开放集留出、校准可信性和证据包复核实验。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 的正确融入方式：动态少样本与跨域适配插件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16636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71600"/>
            <a:ext cx="73152" cy="150876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适合做什么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48371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动态图入侵检测：基于通信实体和流事件的时序关系建模。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少样本攻击识别：support/query episode 适配新类别或小样本攻击。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跨域泛化：GRL/MMD/Stable-LoRA 缓解园区、时间、协议和设备分布偏移。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3232" y="3611880"/>
            <a:ext cx="5166360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611880"/>
            <a:ext cx="73152" cy="150876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7647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不应夸大什么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48371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不是完整全流量采集工程，不替代 Probe/Kafka/Flink。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当前更接近闭集 few-shot episode 分类，不能直接等同开放集拒识。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 若无真实预训练权重，不宜直接称为流量基础大模型。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1353312"/>
            <a:ext cx="3429000" cy="384048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46304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5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50608" y="1444752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DIDS-MFL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446520" y="2011680"/>
            <a:ext cx="3429000" cy="384048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12140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5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50608" y="2103120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446520" y="2670048"/>
            <a:ext cx="3429000" cy="384048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779776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5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50608" y="2761488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446520" y="3328416"/>
            <a:ext cx="3429000" cy="384048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343814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5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0608" y="3419856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GRL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446520" y="3986784"/>
            <a:ext cx="3429000" cy="384048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409651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5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50608" y="4078224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MMD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446520" y="4645152"/>
            <a:ext cx="34290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475488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D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50608" y="4736592"/>
            <a:ext cx="2423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DA-FDIDS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6309360" y="5486400"/>
            <a:ext cx="406908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5486400"/>
            <a:ext cx="73152" cy="603504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5650992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实验门槛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6510528" y="5989320"/>
            <a:ext cx="37398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必须补 cross-domain、host-disjoint、time-disjoint、flow-disjoint 和 B0-B8 消融。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FUSION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多源融合：把模型分数变成攻击上下文和误报消解能力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74920" y="2606040"/>
            <a:ext cx="18745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2852928"/>
            <a:ext cx="1508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安全实体图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920240" cy="51206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9105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Flow/Session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5120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167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03920" y="1417320"/>
            <a:ext cx="1920240" cy="512064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59105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0" y="4251960"/>
            <a:ext cx="1920240" cy="512064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442569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Event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4892040"/>
            <a:ext cx="1920240" cy="512064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506577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Intel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251960"/>
            <a:ext cx="1920240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42569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Alert/Evidence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1664208"/>
            <a:ext cx="2286000" cy="54864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664208"/>
            <a:ext cx="1572768" cy="54864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88920" y="4498848"/>
            <a:ext cx="2286000" cy="54864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4498848"/>
            <a:ext cx="1572768" cy="54864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1664208"/>
            <a:ext cx="54864" cy="932688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96128" y="3264408"/>
            <a:ext cx="54864" cy="1627632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715000"/>
            <a:ext cx="5257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715000"/>
            <a:ext cx="73152" cy="5303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79592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检测增益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914400" y="6217920"/>
            <a:ext cx="49286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图上下文补齐单流模型看不到的资产重要性、账号行为、IOC命中、横向移动路径和历史相似告警。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291072" y="5715000"/>
            <a:ext cx="52578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91072" y="5715000"/>
            <a:ext cx="73152" cy="53035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879592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科研切入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6492240" y="6217920"/>
            <a:ext cx="49286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做单源/多源消融，量化误报下降、检出提前量和MTTR下降。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HIGH-SPEED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高速全流量约束：用级联检测和预算调度兼顾吞吐与精度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874520" cy="105156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0312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52728" y="20939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快速统计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86968" y="248716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pps/bps、包长、IAT、端口、方向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2953512" y="1920240"/>
            <a:ext cx="1874520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18104" y="210312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0440" y="20939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序列特征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154680" y="248716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前N包长度/方向/时间间隔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221224" y="1920240"/>
            <a:ext cx="1874520" cy="105156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210312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88152" y="20939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协议指纹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422392" y="248716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TLS/QUIC、JA3、SNI、证书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488936" y="1920240"/>
            <a:ext cx="1874520" cy="105156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3528" y="210312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55864" y="20939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图关系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690104" y="248716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通信邻域、资产、情报、历史告警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756648" y="1920240"/>
            <a:ext cx="1874520" cy="1051560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10312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323576" y="20939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深度证据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9957816" y="248716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开放集、原型、能量、不确定性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49808" y="4160520"/>
            <a:ext cx="525780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160520"/>
            <a:ext cx="73152" cy="8686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325112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预算调度规则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950976" y="4663440"/>
            <a:ext cx="49286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队列长度、CPU/GPU负载、Flink backpressure、Kafka lag、初筛风险和不确定性共同决定是否升级到高成本特征。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263640" y="4160520"/>
            <a:ext cx="525780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160520"/>
            <a:ext cx="73152" cy="86868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4325112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验收价值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6464808" y="4663440"/>
            <a:ext cx="49286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将10×100Gbps/512Mpps从“所有流量跑深度模型”的不现实假设，改成可证明的线速筛查+疑似深检方案。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产品融合：AI检测结果要落在现有安全运营页面中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1417320"/>
            <a:ext cx="33375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17320"/>
            <a:ext cx="73152" cy="1143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819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综合态势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877824" y="1920240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展示未知风险趋势、模型健康、证据完整度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71416" y="1417320"/>
            <a:ext cx="33375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1416" y="1417320"/>
            <a:ext cx="73152" cy="114300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5819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4672584" y="1920240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查看TLS/QUIC指纹、异常外联、开放集风险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266176" y="1417320"/>
            <a:ext cx="33375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1417320"/>
            <a:ext cx="73152" cy="114300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15819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告警中心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467344" y="1920240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按known/review/unknown分层研判和反馈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76656" y="3291840"/>
            <a:ext cx="33375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3291840"/>
            <a:ext cx="73152" cy="1143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45643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取证分析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877824" y="3794760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PCAP、Session、证据hash、相似样本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471416" y="3291840"/>
            <a:ext cx="33375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71416" y="3291840"/>
            <a:ext cx="73152" cy="1143000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345643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模型管理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4672584" y="3794760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版本、阈值、指标、激活、回滚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266176" y="3291840"/>
            <a:ext cx="333756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3291840"/>
            <a:ext cx="73152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345643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MLOps编排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8467344" y="3794760"/>
            <a:ext cx="30083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标注、训练、盲测、注册、发布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68680" y="5577840"/>
            <a:ext cx="10314432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577840"/>
            <a:ext cx="73152" cy="4572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5742432"/>
            <a:ext cx="9985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页面原则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1069848" y="6080760"/>
            <a:ext cx="99852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不新增孤立“AI演示页”，而是在告警、取证、图谱、模型和MLOps页面中呈现可操作、可审计、可反馈的AI结果。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验收融合：科研指标必须落到平台证据包和第三方盲测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08630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98448"/>
            <a:ext cx="73152" cy="5029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功能主链路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514600" y="14630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已较强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3794760" y="146304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Probe/Kafka/Flink/API/UI真实链路、PCAP下载、反馈、MLOps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58368" y="1984248"/>
            <a:ext cx="10863072" cy="502920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984248"/>
            <a:ext cx="73152" cy="5029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4884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&lt;= 60s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514600" y="21488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已闭环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794760" y="214884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事件时间链、API/UI seen时间、分段P95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58368" y="2670048"/>
            <a:ext cx="108630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670048"/>
            <a:ext cx="73152" cy="50292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83464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95%/5%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514600" y="28346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未闭环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3794760" y="283464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需冻结样本、阈值锁、labels/predictions、第三方签认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58368" y="3355848"/>
            <a:ext cx="10863072" cy="502920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355848"/>
            <a:ext cx="73152" cy="50292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2044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 Recall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2514600" y="35204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未闭环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794760" y="352044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开放集留出、未知攻击样本、OSCR/FPR@95TPR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8368" y="4041648"/>
            <a:ext cx="108630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041648"/>
            <a:ext cx="73152" cy="50292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0624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100G/512Mpps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2514600" y="42062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85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未闭环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3794760" y="420624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硬件窗口、流量profile、资源水位、丢包/Kafka lag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58368" y="4727448"/>
            <a:ext cx="10863072" cy="502920"/>
          </a:xfrm>
          <a:prstGeom prst="rect">
            <a:avLst/>
          </a:prstGeom>
          <a:solidFill>
            <a:srgbClr val="ECF5F4"/>
          </a:solidFill>
          <a:ln w="12700">
            <a:solidFill>
              <a:srgbClr val="D8E1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727448"/>
            <a:ext cx="73152" cy="502920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89204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多源融合价值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2514600" y="4892040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D89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结构门通过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3794760" y="4892040"/>
            <a:ext cx="7269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仍需真实消融、误报下降、MTTR下降、试点签认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841248" y="5623560"/>
            <a:ext cx="10241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5623560"/>
            <a:ext cx="73152" cy="475488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" y="5788152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240" dirty="0"/>
          </a:p>
        </p:txBody>
      </p:sp>
      <p:sp>
        <p:nvSpPr>
          <p:cNvPr id="38" name="Text 36"/>
          <p:cNvSpPr/>
          <p:nvPr/>
        </p:nvSpPr>
        <p:spPr>
          <a:xfrm>
            <a:off x="1042416" y="6126480"/>
            <a:ext cx="99120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AI模型不能只报告训练集Accuracy；必须进入冻结盲测包，按Detection rate、FPR、Unknown recall、置信区间和第三方签认闭环。</a:t>
            </a:r>
            <a:endParaRPr lang="en-US" sz="1010" dirty="0"/>
          </a:p>
        </p:txBody>
      </p:sp>
      <p:sp>
        <p:nvSpPr>
          <p:cNvPr id="39" name="Text 37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实施路线：先打通最小可信闭环，再扩展图融合与高速预算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1874520" cy="4069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08760"/>
            <a:ext cx="73152" cy="40690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7335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 特征契约对齐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545336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确认FeatureStat/Seq/Fingerprint字段；设计Detection扩展与Evidence metrics_json。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1874520" cy="4069080"/>
          </a:xfrm>
          <a:prstGeom prst="rect">
            <a:avLst/>
          </a:prstGeom>
          <a:solidFill>
            <a:srgbClr val="ECF5F4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508760"/>
            <a:ext cx="73152" cy="4069080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167335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 Evidence-OpenEMTD MVP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3127248" y="2011680"/>
            <a:ext cx="1545336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三模态evidence、uncertainty、conflict、unknown_risk；离线盲测脚本。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30368" y="1508760"/>
            <a:ext cx="1874520" cy="4069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508760"/>
            <a:ext cx="73152" cy="4069080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67335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  在线推理接入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5431536" y="2011680"/>
            <a:ext cx="1545336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Flink消费feature.stat.v1；输出detections.v1；告警详情展示AI证据。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34656" y="1508760"/>
            <a:ext cx="1874520" cy="4069080"/>
          </a:xfrm>
          <a:prstGeom prst="rect">
            <a:avLst/>
          </a:prstGeom>
          <a:solidFill>
            <a:srgbClr val="ECF5F4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34656" y="1508760"/>
            <a:ext cx="73152" cy="40690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167335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  MLOps闭环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7735824" y="2011680"/>
            <a:ext cx="1545336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反馈样本池、阈值锁、模型注册、model-updates热更新、回滚。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38944" y="1508760"/>
            <a:ext cx="1874520" cy="4069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38944" y="1508760"/>
            <a:ext cx="73152" cy="4069080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40112" y="167335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  扩展增强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10040112" y="2011680"/>
            <a:ext cx="1545336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图模态、多源消融、高速级联预算、第三方盲测与试点报告。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融合后的科研与成果输出：论文、专利、软著、验收证据互相支撑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5074920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81328"/>
            <a:ext cx="73152" cy="1261872"/>
          </a:xfrm>
          <a:prstGeom prst="rect">
            <a:avLst/>
          </a:prstGeom>
          <a:solidFill>
            <a:srgbClr val="6557D2"/>
          </a:solidFill>
          <a:ln w="12700">
            <a:solidFill>
              <a:srgbClr val="655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论文方向 1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4745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Evidence-OpenEMTD：证据冲突感知的可信开放集多模态加密恶意流量检测。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9632" y="1481328"/>
            <a:ext cx="5074920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81328"/>
            <a:ext cx="73152" cy="126187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论文方向 2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6400800" y="1984248"/>
            <a:ext cx="4745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DA-FDIDS：域自适应基础表征增强的少样本动态网络入侵检测框架。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447288"/>
            <a:ext cx="5074920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447288"/>
            <a:ext cx="73152" cy="126187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118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专利方向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914400" y="3950208"/>
            <a:ext cx="4745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可信开放集检测、多粒度预算调度、多源知识图谱置信融合、LLM证据包幻觉校验。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3447288"/>
            <a:ext cx="5074920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3447288"/>
            <a:ext cx="73152" cy="126187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6118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工程证据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400800" y="3950208"/>
            <a:ext cx="4745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盲测包、P95链路、模型热更新、PCAP证据、融合价值报告、第三方签认。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4128" y="5577840"/>
            <a:ext cx="10058400" cy="457200"/>
          </a:xfrm>
          <a:prstGeom prst="rect">
            <a:avLst/>
          </a:prstGeom>
          <a:solidFill>
            <a:srgbClr val="111827"/>
          </a:solidFill>
          <a:ln w="8890">
            <a:solidFill>
              <a:srgbClr val="D8E1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5577840"/>
            <a:ext cx="73152" cy="457200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5296" y="5742432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统一证据链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1225296" y="6080760"/>
            <a:ext cx="9729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同一条真实链路同时支撑论文实验、专利实施例、系统演示和验收报告，避免科研与工程两张皮。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583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241280" cy="713232"/>
          </a:xfrm>
          <a:prstGeom prst="rect">
            <a:avLst/>
          </a:prstGeom>
          <a:solidFill>
            <a:srgbClr val="2B1D1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28800"/>
            <a:ext cx="731520" cy="256032"/>
          </a:xfrm>
          <a:prstGeom prst="rect">
            <a:avLst/>
          </a:prstGeom>
          <a:solidFill>
            <a:srgbClr val="E85D3D"/>
          </a:solidFill>
          <a:ln w="12700">
            <a:solidFill>
              <a:srgbClr val="E85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89738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965960" y="1828800"/>
            <a:ext cx="8778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两个系统分裂建设，导致数据、模型、告警和证据口径不一致。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0241280" cy="713232"/>
          </a:xfrm>
          <a:prstGeom prst="rect">
            <a:avLst/>
          </a:prstGeom>
          <a:solidFill>
            <a:srgbClr val="172D32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71800"/>
            <a:ext cx="731520" cy="2560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04038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1965960" y="2971800"/>
            <a:ext cx="8778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算法以插件方式接入现有Feature、Detection、Evidence、MLOps和model-updates链路。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10241280" cy="713232"/>
          </a:xfrm>
          <a:prstGeom prst="rect">
            <a:avLst/>
          </a:prstGeom>
          <a:solidFill>
            <a:srgbClr val="172D32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114800"/>
            <a:ext cx="731520" cy="256032"/>
          </a:xfrm>
          <a:prstGeom prst="rect">
            <a:avLst/>
          </a:prstGeom>
          <a:solidFill>
            <a:srgbClr val="D89614"/>
          </a:solidFill>
          <a:ln w="12700">
            <a:solidFill>
              <a:srgbClr val="D896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183380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965960" y="4114800"/>
            <a:ext cx="8778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先做三模态Evidence-OpenEMTD MVP和检测质量冻结包，再扩展图融合与高速预算。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41248" y="56327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最终目标：把全流量系统从“看得见、查得到”升级为“可检测、可解释、可学习、可验收”。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0624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D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01400" y="64465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D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Quancheng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两个系统融合分析</dc:title>
  <dc:subject>园区全流量采集分析系统与AI驱动网络流量检测系统融合分析</dc:subject>
  <dc:creator>Codex</dc:creator>
  <cp:lastModifiedBy>Codex</cp:lastModifiedBy>
  <cp:revision>1</cp:revision>
  <dcterms:created xsi:type="dcterms:W3CDTF">2026-07-06T04:45:08Z</dcterms:created>
  <dcterms:modified xsi:type="dcterms:W3CDTF">2026-07-06T04:45:08Z</dcterms:modified>
</cp:coreProperties>
</file>