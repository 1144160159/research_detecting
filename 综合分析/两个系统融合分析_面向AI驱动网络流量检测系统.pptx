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notesMasterIdLst>
    <p:notesMasterId r:id="rId20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018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1820"/>
          </a:solidFill>
          <a:ln w="12700">
            <a:solidFill>
              <a:srgbClr val="10182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B7D12A"/>
          </a:solidFill>
          <a:ln w="12700">
            <a:solidFill>
              <a:srgbClr val="B7D12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818120" y="45720"/>
            <a:ext cx="4297680" cy="4297680"/>
          </a:xfrm>
          <a:prstGeom prst="arc">
            <a:avLst/>
          </a:prstGeom>
          <a:noFill/>
          <a:ln w="25400">
            <a:solidFill>
              <a:srgbClr val="21A6A6">
                <a:alpha val="92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595360" y="594360"/>
            <a:ext cx="2971800" cy="2971800"/>
          </a:xfrm>
          <a:prstGeom prst="arc">
            <a:avLst/>
          </a:prstGeom>
          <a:noFill/>
          <a:ln w="25400">
            <a:solidFill>
              <a:srgbClr val="B7D12A">
                <a:alpha val="84000"/>
              </a:srgbClr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1520" y="950976"/>
            <a:ext cx="8046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B7D1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园区全流量采集分析系统 × AI驱动网络流量检测系统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713232" y="1572768"/>
            <a:ext cx="7498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两个系统融合分析</a:t>
            </a:r>
            <a:endParaRPr lang="en-US" sz="4200" dirty="0"/>
          </a:p>
        </p:txBody>
      </p:sp>
      <p:sp>
        <p:nvSpPr>
          <p:cNvPr id="8" name="Text 6"/>
          <p:cNvSpPr/>
          <p:nvPr/>
        </p:nvSpPr>
        <p:spPr>
          <a:xfrm>
            <a:off x="749808" y="2724912"/>
            <a:ext cx="8412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50" dirty="0">
                <a:solidFill>
                  <a:srgbClr val="DCE8E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从全流量底座到可信开放集检测、动态图少样本检测、MLOps反馈学习与验收证据闭环</a:t>
            </a:r>
            <a:endParaRPr lang="en-US" sz="1450" dirty="0"/>
          </a:p>
        </p:txBody>
      </p:sp>
      <p:sp>
        <p:nvSpPr>
          <p:cNvPr id="9" name="Text 7"/>
          <p:cNvSpPr/>
          <p:nvPr/>
        </p:nvSpPr>
        <p:spPr>
          <a:xfrm>
            <a:off x="749808" y="4069080"/>
            <a:ext cx="14173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B7D1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858</a:t>
            </a:r>
            <a:endParaRPr lang="en-US" sz="3000" dirty="0"/>
          </a:p>
        </p:txBody>
      </p:sp>
      <p:sp>
        <p:nvSpPr>
          <p:cNvPr id="10" name="Text 8"/>
          <p:cNvSpPr/>
          <p:nvPr/>
        </p:nvSpPr>
        <p:spPr>
          <a:xfrm>
            <a:off x="749808" y="4636008"/>
            <a:ext cx="1417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80" dirty="0">
                <a:solidFill>
                  <a:srgbClr val="DCE8E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本地论文知识库</a:t>
            </a:r>
            <a:endParaRPr lang="en-US" sz="980" dirty="0"/>
          </a:p>
        </p:txBody>
      </p:sp>
      <p:sp>
        <p:nvSpPr>
          <p:cNvPr id="11" name="Text 9"/>
          <p:cNvSpPr/>
          <p:nvPr/>
        </p:nvSpPr>
        <p:spPr>
          <a:xfrm>
            <a:off x="2331720" y="4069080"/>
            <a:ext cx="14173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439</a:t>
            </a:r>
            <a:endParaRPr lang="en-US" sz="3000" dirty="0"/>
          </a:p>
        </p:txBody>
      </p:sp>
      <p:sp>
        <p:nvSpPr>
          <p:cNvPr id="12" name="Text 10"/>
          <p:cNvSpPr/>
          <p:nvPr/>
        </p:nvSpPr>
        <p:spPr>
          <a:xfrm>
            <a:off x="2331720" y="4636008"/>
            <a:ext cx="1417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80" dirty="0">
                <a:solidFill>
                  <a:srgbClr val="DCE8E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强相关论文</a:t>
            </a:r>
            <a:endParaRPr lang="en-US" sz="980" dirty="0"/>
          </a:p>
        </p:txBody>
      </p:sp>
      <p:sp>
        <p:nvSpPr>
          <p:cNvPr id="13" name="Text 11"/>
          <p:cNvSpPr/>
          <p:nvPr/>
        </p:nvSpPr>
        <p:spPr>
          <a:xfrm>
            <a:off x="3913632" y="4069080"/>
            <a:ext cx="169164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B7D1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120</a:t>
            </a:r>
            <a:endParaRPr lang="en-US" sz="3000" dirty="0"/>
          </a:p>
        </p:txBody>
      </p:sp>
      <p:sp>
        <p:nvSpPr>
          <p:cNvPr id="14" name="Text 12"/>
          <p:cNvSpPr/>
          <p:nvPr/>
        </p:nvSpPr>
        <p:spPr>
          <a:xfrm>
            <a:off x="3913632" y="4636008"/>
            <a:ext cx="1691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80" dirty="0">
                <a:solidFill>
                  <a:srgbClr val="DCE8E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已下载代码资源</a:t>
            </a:r>
            <a:endParaRPr lang="en-US" sz="980" dirty="0"/>
          </a:p>
        </p:txBody>
      </p:sp>
      <p:sp>
        <p:nvSpPr>
          <p:cNvPr id="15" name="Text 13"/>
          <p:cNvSpPr/>
          <p:nvPr/>
        </p:nvSpPr>
        <p:spPr>
          <a:xfrm>
            <a:off x="5715000" y="4069080"/>
            <a:ext cx="16002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15</a:t>
            </a:r>
            <a:endParaRPr lang="en-US" sz="3000" dirty="0"/>
          </a:p>
        </p:txBody>
      </p:sp>
      <p:sp>
        <p:nvSpPr>
          <p:cNvPr id="16" name="Text 14"/>
          <p:cNvSpPr/>
          <p:nvPr/>
        </p:nvSpPr>
        <p:spPr>
          <a:xfrm>
            <a:off x="5715000" y="4636008"/>
            <a:ext cx="1600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80" dirty="0">
                <a:solidFill>
                  <a:srgbClr val="DCE8E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核心Kafka主题</a:t>
            </a:r>
            <a:endParaRPr lang="en-US" sz="980" dirty="0"/>
          </a:p>
        </p:txBody>
      </p:sp>
      <p:sp>
        <p:nvSpPr>
          <p:cNvPr id="17" name="Text 15"/>
          <p:cNvSpPr/>
          <p:nvPr/>
        </p:nvSpPr>
        <p:spPr>
          <a:xfrm>
            <a:off x="768096" y="5925312"/>
            <a:ext cx="8869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BFD7E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结论先行：全流量系统不是并列平台，而是AI检测系统的数据底座、执行环境、证据平台和反馈闭环。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411480" y="6510528"/>
            <a:ext cx="80467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9B7B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园区全流量采集分析系统 × AI驱动网络流量检测系统 | 融合分析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11265408" y="6446520"/>
            <a:ext cx="62179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99B7B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01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6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87E8B"/>
          </a:solidFill>
          <a:ln w="12700">
            <a:solidFill>
              <a:srgbClr val="087E8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30352" y="292608"/>
            <a:ext cx="4023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87E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EXECUTIVE THESIS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30352" y="603504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10182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核心判断：两个系统应融合成一个“数据-模型-证据-反馈”闭环</a:t>
            </a:r>
            <a:endParaRPr lang="en-US" sz="2500" dirty="0"/>
          </a:p>
        </p:txBody>
      </p:sp>
      <p:sp>
        <p:nvSpPr>
          <p:cNvPr id="5" name="Shape 3"/>
          <p:cNvSpPr/>
          <p:nvPr/>
        </p:nvSpPr>
        <p:spPr>
          <a:xfrm>
            <a:off x="621792" y="1417320"/>
            <a:ext cx="5257800" cy="1444752"/>
          </a:xfrm>
          <a:prstGeom prst="roundRect">
            <a:avLst>
              <a:gd name="adj" fmla="val 3165"/>
            </a:avLst>
          </a:prstGeom>
          <a:solidFill>
            <a:srgbClr val="FFFFFF"/>
          </a:solidFill>
          <a:ln w="10160">
            <a:solidFill>
              <a:srgbClr val="D6E0E3"/>
            </a:solidFill>
            <a:prstDash val="solid"/>
          </a:ln>
          <a:effectLst>
            <a:outerShdw sx="100000" sy="100000" kx="0" ky="0" algn="bl" rotWithShape="0" blurRad="38100" dist="12700" dir="2700000">
              <a:srgbClr val="000000">
                <a:alpha val="7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621792" y="1417320"/>
            <a:ext cx="73152" cy="1444752"/>
          </a:xfrm>
          <a:prstGeom prst="rect">
            <a:avLst/>
          </a:prstGeom>
          <a:solidFill>
            <a:srgbClr val="087E8B"/>
          </a:solidFill>
          <a:ln w="12700">
            <a:solidFill>
              <a:srgbClr val="087E8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22960" y="1581912"/>
            <a:ext cx="49103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80" b="1" dirty="0">
                <a:solidFill>
                  <a:srgbClr val="10182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园区全流量采集分析系统</a:t>
            </a:r>
            <a:endParaRPr lang="en-US" sz="1280" dirty="0"/>
          </a:p>
        </p:txBody>
      </p:sp>
      <p:sp>
        <p:nvSpPr>
          <p:cNvPr id="8" name="Text 6"/>
          <p:cNvSpPr/>
          <p:nvPr/>
        </p:nvSpPr>
        <p:spPr>
          <a:xfrm>
            <a:off x="822960" y="1920240"/>
            <a:ext cx="4910328" cy="86868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indent="0" marL="0">
              <a:buNone/>
            </a:pPr>
            <a:r>
              <a:rPr lang="en-US" sz="103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定位为工程底座：采集、协议解析、会话化、Kafka/Flink实时处理、ClickHouse/Nebula/MinIO证据存储、Web安全运营台。</a:t>
            </a:r>
            <a:endParaRPr lang="en-US" sz="1030" dirty="0"/>
          </a:p>
        </p:txBody>
      </p:sp>
      <p:sp>
        <p:nvSpPr>
          <p:cNvPr id="9" name="Shape 7"/>
          <p:cNvSpPr/>
          <p:nvPr/>
        </p:nvSpPr>
        <p:spPr>
          <a:xfrm>
            <a:off x="6291072" y="1417320"/>
            <a:ext cx="5257800" cy="1444752"/>
          </a:xfrm>
          <a:prstGeom prst="roundRect">
            <a:avLst>
              <a:gd name="adj" fmla="val 3165"/>
            </a:avLst>
          </a:prstGeom>
          <a:solidFill>
            <a:srgbClr val="FFFFFF"/>
          </a:solidFill>
          <a:ln w="10160">
            <a:solidFill>
              <a:srgbClr val="D6E0E3"/>
            </a:solidFill>
            <a:prstDash val="solid"/>
          </a:ln>
          <a:effectLst>
            <a:outerShdw sx="100000" sy="100000" kx="0" ky="0" algn="bl" rotWithShape="0" blurRad="38100" dist="12700" dir="2700000">
              <a:srgbClr val="000000">
                <a:alpha val="7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6291072" y="1417320"/>
            <a:ext cx="73152" cy="1444752"/>
          </a:xfrm>
          <a:prstGeom prst="rect">
            <a:avLst/>
          </a:prstGeom>
          <a:solidFill>
            <a:srgbClr val="6C63FF"/>
          </a:solidFill>
          <a:ln w="12700">
            <a:solidFill>
              <a:srgbClr val="6C63F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92240" y="1581912"/>
            <a:ext cx="49103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80" b="1" dirty="0">
                <a:solidFill>
                  <a:srgbClr val="10182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AI驱动网络流量检测系统</a:t>
            </a:r>
            <a:endParaRPr lang="en-US" sz="1280" dirty="0"/>
          </a:p>
        </p:txBody>
      </p:sp>
      <p:sp>
        <p:nvSpPr>
          <p:cNvPr id="12" name="Text 10"/>
          <p:cNvSpPr/>
          <p:nvPr/>
        </p:nvSpPr>
        <p:spPr>
          <a:xfrm>
            <a:off x="6492240" y="1920240"/>
            <a:ext cx="4910328" cy="86868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indent="0" marL="0">
              <a:buNone/>
            </a:pPr>
            <a:r>
              <a:rPr lang="en-US" sz="103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定位为智能能力层：表征学习、动态图少样本检测、可信开放集拒识、多源融合、可解释告警和持续学习。</a:t>
            </a:r>
            <a:endParaRPr lang="en-US" sz="1030" dirty="0"/>
          </a:p>
        </p:txBody>
      </p:sp>
      <p:sp>
        <p:nvSpPr>
          <p:cNvPr id="13" name="Shape 11"/>
          <p:cNvSpPr/>
          <p:nvPr/>
        </p:nvSpPr>
        <p:spPr>
          <a:xfrm>
            <a:off x="5870448" y="2121408"/>
            <a:ext cx="384048" cy="0"/>
          </a:xfrm>
          <a:prstGeom prst="line">
            <a:avLst/>
          </a:prstGeom>
          <a:noFill/>
          <a:ln w="17780">
            <a:solidFill>
              <a:srgbClr val="101820"/>
            </a:solidFill>
            <a:prstDash val="solid"/>
            <a:headEnd type="none"/>
            <a:tailEnd type="triangle"/>
          </a:ln>
        </p:spPr>
      </p:sp>
      <p:sp>
        <p:nvSpPr>
          <p:cNvPr id="14" name="Shape 12"/>
          <p:cNvSpPr/>
          <p:nvPr/>
        </p:nvSpPr>
        <p:spPr>
          <a:xfrm>
            <a:off x="1097280" y="3456432"/>
            <a:ext cx="9966960" cy="1051560"/>
          </a:xfrm>
          <a:prstGeom prst="roundRect">
            <a:avLst>
              <a:gd name="adj" fmla="val 6957"/>
            </a:avLst>
          </a:prstGeom>
          <a:solidFill>
            <a:srgbClr val="101820"/>
          </a:solidFill>
          <a:ln w="12700">
            <a:solidFill>
              <a:srgbClr val="10182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353312" y="3675888"/>
            <a:ext cx="1600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7D1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融合后的系统定义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2907792" y="3611880"/>
            <a:ext cx="7726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5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以全流量遥测为底座，以AI模型和多源图关联为检测核心，以PCAP证据、告警研判、反馈学习和盲测验收为闭环的园区网络智能检测分析系统。</a:t>
            </a:r>
            <a:endParaRPr lang="en-US" sz="1450" dirty="0"/>
          </a:p>
        </p:txBody>
      </p:sp>
      <p:sp>
        <p:nvSpPr>
          <p:cNvPr id="17" name="Shape 15"/>
          <p:cNvSpPr/>
          <p:nvPr/>
        </p:nvSpPr>
        <p:spPr>
          <a:xfrm>
            <a:off x="658368" y="5074920"/>
            <a:ext cx="5138928" cy="713232"/>
          </a:xfrm>
          <a:prstGeom prst="roundRect">
            <a:avLst>
              <a:gd name="adj" fmla="val 6410"/>
            </a:avLst>
          </a:prstGeom>
          <a:solidFill>
            <a:srgbClr val="FFFFFF"/>
          </a:solidFill>
          <a:ln w="10160">
            <a:solidFill>
              <a:srgbClr val="D6E0E3"/>
            </a:solidFill>
            <a:prstDash val="solid"/>
          </a:ln>
          <a:effectLst>
            <a:outerShdw sx="100000" sy="100000" kx="0" ky="0" algn="bl" rotWithShape="0" blurRad="38100" dist="12700" dir="2700000">
              <a:srgbClr val="000000">
                <a:alpha val="7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658368" y="5074920"/>
            <a:ext cx="73152" cy="713232"/>
          </a:xfrm>
          <a:prstGeom prst="rect">
            <a:avLst/>
          </a:prstGeom>
          <a:solidFill>
            <a:srgbClr val="F06543"/>
          </a:solidFill>
          <a:ln w="12700">
            <a:solidFill>
              <a:srgbClr val="F06543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59536" y="5239512"/>
            <a:ext cx="479145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80" b="1" dirty="0">
                <a:solidFill>
                  <a:srgbClr val="10182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不建议</a:t>
            </a:r>
            <a:endParaRPr lang="en-US" sz="1280" dirty="0"/>
          </a:p>
        </p:txBody>
      </p:sp>
      <p:sp>
        <p:nvSpPr>
          <p:cNvPr id="20" name="Text 18"/>
          <p:cNvSpPr/>
          <p:nvPr/>
        </p:nvSpPr>
        <p:spPr>
          <a:xfrm>
            <a:off x="859536" y="5431536"/>
            <a:ext cx="4791456" cy="283464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indent="0" marL="0">
              <a:buNone/>
            </a:pPr>
            <a:r>
              <a:rPr lang="en-US" sz="103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另起一套AI平台，重复采集、重复存储、重复告警；这会造成数据口径、证据链和验收材料分裂。</a:t>
            </a:r>
            <a:endParaRPr lang="en-US" sz="1030" dirty="0"/>
          </a:p>
        </p:txBody>
      </p:sp>
      <p:sp>
        <p:nvSpPr>
          <p:cNvPr id="21" name="Shape 19"/>
          <p:cNvSpPr/>
          <p:nvPr/>
        </p:nvSpPr>
        <p:spPr>
          <a:xfrm>
            <a:off x="6327648" y="5074920"/>
            <a:ext cx="5138928" cy="713232"/>
          </a:xfrm>
          <a:prstGeom prst="roundRect">
            <a:avLst>
              <a:gd name="adj" fmla="val 6410"/>
            </a:avLst>
          </a:prstGeom>
          <a:solidFill>
            <a:srgbClr val="FFFFFF"/>
          </a:solidFill>
          <a:ln w="10160">
            <a:solidFill>
              <a:srgbClr val="D6E0E3"/>
            </a:solidFill>
            <a:prstDash val="solid"/>
          </a:ln>
          <a:effectLst>
            <a:outerShdw sx="100000" sy="100000" kx="0" ky="0" algn="bl" rotWithShape="0" blurRad="38100" dist="12700" dir="2700000">
              <a:srgbClr val="000000">
                <a:alpha val="7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6327648" y="5074920"/>
            <a:ext cx="73152" cy="713232"/>
          </a:xfrm>
          <a:prstGeom prst="rect">
            <a:avLst/>
          </a:prstGeom>
          <a:solidFill>
            <a:srgbClr val="087E8B"/>
          </a:solidFill>
          <a:ln w="12700">
            <a:solidFill>
              <a:srgbClr val="087E8B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528816" y="5239512"/>
            <a:ext cx="479145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80" b="1" dirty="0">
                <a:solidFill>
                  <a:srgbClr val="10182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建议</a:t>
            </a:r>
            <a:endParaRPr lang="en-US" sz="1280" dirty="0"/>
          </a:p>
        </p:txBody>
      </p:sp>
      <p:sp>
        <p:nvSpPr>
          <p:cNvPr id="24" name="Text 22"/>
          <p:cNvSpPr/>
          <p:nvPr/>
        </p:nvSpPr>
        <p:spPr>
          <a:xfrm>
            <a:off x="6528816" y="5431536"/>
            <a:ext cx="4791456" cy="283464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indent="0" marL="0">
              <a:buNone/>
            </a:pPr>
            <a:r>
              <a:rPr lang="en-US" sz="103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把DA-FDIDS、Evidence-OpenEMTD、图融合和级联检测做成现有平台的模型插件、评测包和专题能力。</a:t>
            </a:r>
            <a:endParaRPr lang="en-US" sz="1030" dirty="0"/>
          </a:p>
        </p:txBody>
      </p:sp>
      <p:sp>
        <p:nvSpPr>
          <p:cNvPr id="25" name="Text 23"/>
          <p:cNvSpPr/>
          <p:nvPr/>
        </p:nvSpPr>
        <p:spPr>
          <a:xfrm>
            <a:off x="411480" y="6510528"/>
            <a:ext cx="80467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园区全流量采集分析系统 × AI驱动网络流量检测系统 | 融合分析</a:t>
            </a:r>
            <a:endParaRPr lang="en-US" sz="850" dirty="0"/>
          </a:p>
        </p:txBody>
      </p:sp>
      <p:sp>
        <p:nvSpPr>
          <p:cNvPr id="26" name="Text 24"/>
          <p:cNvSpPr/>
          <p:nvPr/>
        </p:nvSpPr>
        <p:spPr>
          <a:xfrm>
            <a:off x="11265408" y="6446520"/>
            <a:ext cx="62179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6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87E8B"/>
          </a:solidFill>
          <a:ln w="12700">
            <a:solidFill>
              <a:srgbClr val="087E8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30352" y="292608"/>
            <a:ext cx="4023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87E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ASSET MAP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30352" y="603504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10182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已有资产：工程系统主链路已成型，研究系统给出算法与评测路线</a:t>
            </a:r>
            <a:endParaRPr lang="en-US" sz="2500" dirty="0"/>
          </a:p>
        </p:txBody>
      </p:sp>
      <p:sp>
        <p:nvSpPr>
          <p:cNvPr id="5" name="Shape 3"/>
          <p:cNvSpPr/>
          <p:nvPr/>
        </p:nvSpPr>
        <p:spPr>
          <a:xfrm>
            <a:off x="658368" y="1417320"/>
            <a:ext cx="3429000" cy="4251960"/>
          </a:xfrm>
          <a:prstGeom prst="roundRect">
            <a:avLst>
              <a:gd name="adj" fmla="val 1333"/>
            </a:avLst>
          </a:prstGeom>
          <a:solidFill>
            <a:srgbClr val="FFFFFF"/>
          </a:solidFill>
          <a:ln w="10160">
            <a:solidFill>
              <a:srgbClr val="D6E0E3"/>
            </a:solidFill>
            <a:prstDash val="solid"/>
          </a:ln>
          <a:effectLst>
            <a:outerShdw sx="100000" sy="100000" kx="0" ky="0" algn="bl" rotWithShape="0" blurRad="38100" dist="12700" dir="2700000">
              <a:srgbClr val="000000">
                <a:alpha val="7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59536" y="1700784"/>
            <a:ext cx="566928" cy="566928"/>
          </a:xfrm>
          <a:prstGeom prst="ellipse">
            <a:avLst/>
          </a:prstGeom>
          <a:solidFill>
            <a:srgbClr val="087E8B"/>
          </a:solidFill>
          <a:ln w="12700">
            <a:solidFill>
              <a:srgbClr val="087E8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59536" y="1856232"/>
            <a:ext cx="566928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1554480" y="1700784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182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远程工程系统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932688" y="2468880"/>
            <a:ext cx="2834640" cy="14173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122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Probe、Kafka、Flink、ClickHouse、PostgreSQL、OpenSearch、NebulaGraph、Redis、MinIO、Go APIs、Web UI、MLOps。</a:t>
            </a:r>
            <a:endParaRPr lang="en-US" sz="1220" dirty="0"/>
          </a:p>
        </p:txBody>
      </p:sp>
      <p:sp>
        <p:nvSpPr>
          <p:cNvPr id="10" name="Shape 8"/>
          <p:cNvSpPr/>
          <p:nvPr/>
        </p:nvSpPr>
        <p:spPr>
          <a:xfrm>
            <a:off x="932688" y="4535424"/>
            <a:ext cx="1143000" cy="292608"/>
          </a:xfrm>
          <a:prstGeom prst="roundRect">
            <a:avLst>
              <a:gd name="adj" fmla="val 18750"/>
            </a:avLst>
          </a:prstGeom>
          <a:solidFill>
            <a:srgbClr val="087E8B"/>
          </a:solidFill>
          <a:ln w="12700">
            <a:solidFill>
              <a:srgbClr val="087E8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05840" y="4604004"/>
            <a:ext cx="996696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工程闭环</a:t>
            </a:r>
            <a:endParaRPr lang="en-US" sz="850" dirty="0"/>
          </a:p>
        </p:txBody>
      </p:sp>
      <p:sp>
        <p:nvSpPr>
          <p:cNvPr id="12" name="Shape 10"/>
          <p:cNvSpPr/>
          <p:nvPr/>
        </p:nvSpPr>
        <p:spPr>
          <a:xfrm>
            <a:off x="4453128" y="1417320"/>
            <a:ext cx="3429000" cy="4251960"/>
          </a:xfrm>
          <a:prstGeom prst="roundRect">
            <a:avLst>
              <a:gd name="adj" fmla="val 1333"/>
            </a:avLst>
          </a:prstGeom>
          <a:solidFill>
            <a:srgbClr val="FFFFFF"/>
          </a:solidFill>
          <a:ln w="10160">
            <a:solidFill>
              <a:srgbClr val="D6E0E3"/>
            </a:solidFill>
            <a:prstDash val="solid"/>
          </a:ln>
          <a:effectLst>
            <a:outerShdw sx="100000" sy="100000" kx="0" ky="0" algn="bl" rotWithShape="0" blurRad="38100" dist="12700" dir="2700000">
              <a:srgbClr val="000000">
                <a:alpha val="7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4654296" y="1700784"/>
            <a:ext cx="566928" cy="566928"/>
          </a:xfrm>
          <a:prstGeom prst="ellipse">
            <a:avLst/>
          </a:prstGeom>
          <a:solidFill>
            <a:srgbClr val="6C63FF"/>
          </a:solidFill>
          <a:ln w="12700">
            <a:solidFill>
              <a:srgbClr val="6C63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654296" y="1856232"/>
            <a:ext cx="566928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5349240" y="1700784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182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本地研究系统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4727448" y="2468880"/>
            <a:ext cx="2834640" cy="14173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122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858篇论文地图、439篇强相关、120个代码资源、DA-FDIDS、Evidence-OpenEMTD、专利化方向。</a:t>
            </a:r>
            <a:endParaRPr lang="en-US" sz="1220" dirty="0"/>
          </a:p>
        </p:txBody>
      </p:sp>
      <p:sp>
        <p:nvSpPr>
          <p:cNvPr id="17" name="Shape 15"/>
          <p:cNvSpPr/>
          <p:nvPr/>
        </p:nvSpPr>
        <p:spPr>
          <a:xfrm>
            <a:off x="4727448" y="4535424"/>
            <a:ext cx="1143000" cy="292608"/>
          </a:xfrm>
          <a:prstGeom prst="roundRect">
            <a:avLst>
              <a:gd name="adj" fmla="val 18750"/>
            </a:avLst>
          </a:prstGeom>
          <a:solidFill>
            <a:srgbClr val="6C63FF"/>
          </a:solidFill>
          <a:ln w="12700">
            <a:solidFill>
              <a:srgbClr val="6C63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800600" y="4604004"/>
            <a:ext cx="996696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科研供给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8247888" y="1417320"/>
            <a:ext cx="3429000" cy="4251960"/>
          </a:xfrm>
          <a:prstGeom prst="roundRect">
            <a:avLst>
              <a:gd name="adj" fmla="val 1333"/>
            </a:avLst>
          </a:prstGeom>
          <a:solidFill>
            <a:srgbClr val="FFFFFF"/>
          </a:solidFill>
          <a:ln w="10160">
            <a:solidFill>
              <a:srgbClr val="D6E0E3"/>
            </a:solidFill>
            <a:prstDash val="solid"/>
          </a:ln>
          <a:effectLst>
            <a:outerShdw sx="100000" sy="100000" kx="0" ky="0" algn="bl" rotWithShape="0" blurRad="38100" dist="12700" dir="2700000">
              <a:srgbClr val="000000">
                <a:alpha val="7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8449056" y="1700784"/>
            <a:ext cx="566928" cy="566928"/>
          </a:xfrm>
          <a:prstGeom prst="ellipse">
            <a:avLst/>
          </a:prstGeom>
          <a:solidFill>
            <a:srgbClr val="F06543"/>
          </a:solidFill>
          <a:ln w="12700">
            <a:solidFill>
              <a:srgbClr val="F06543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449056" y="1856232"/>
            <a:ext cx="566928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9144000" y="1700784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182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共同缺口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8522208" y="2468880"/>
            <a:ext cx="2834640" cy="14173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122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检测质量冻结包、未知攻击召回、真实多源消融、高速链路预算、第三方签认与试点数据。</a:t>
            </a:r>
            <a:endParaRPr lang="en-US" sz="1220" dirty="0"/>
          </a:p>
        </p:txBody>
      </p:sp>
      <p:sp>
        <p:nvSpPr>
          <p:cNvPr id="24" name="Shape 22"/>
          <p:cNvSpPr/>
          <p:nvPr/>
        </p:nvSpPr>
        <p:spPr>
          <a:xfrm>
            <a:off x="8522208" y="4535424"/>
            <a:ext cx="1143000" cy="292608"/>
          </a:xfrm>
          <a:prstGeom prst="roundRect">
            <a:avLst>
              <a:gd name="adj" fmla="val 18750"/>
            </a:avLst>
          </a:prstGeom>
          <a:solidFill>
            <a:srgbClr val="F06543"/>
          </a:solidFill>
          <a:ln w="12700">
            <a:solidFill>
              <a:srgbClr val="F06543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8595360" y="4604004"/>
            <a:ext cx="996696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融合抓手</a:t>
            </a:r>
            <a:endParaRPr lang="en-US" sz="850" dirty="0"/>
          </a:p>
        </p:txBody>
      </p:sp>
      <p:sp>
        <p:nvSpPr>
          <p:cNvPr id="26" name="Text 24"/>
          <p:cNvSpPr/>
          <p:nvPr/>
        </p:nvSpPr>
        <p:spPr>
          <a:xfrm>
            <a:off x="713232" y="6053328"/>
            <a:ext cx="10515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2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判断依据：工程侧已有真实链路、MLOps和证据目录；研究侧已把文献趋势压缩为可落地的模型与指标体系。</a:t>
            </a:r>
            <a:endParaRPr lang="en-US" sz="1120" dirty="0"/>
          </a:p>
        </p:txBody>
      </p:sp>
      <p:sp>
        <p:nvSpPr>
          <p:cNvPr id="27" name="Text 25"/>
          <p:cNvSpPr/>
          <p:nvPr/>
        </p:nvSpPr>
        <p:spPr>
          <a:xfrm>
            <a:off x="411480" y="6510528"/>
            <a:ext cx="80467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园区全流量采集分析系统 × AI驱动网络流量检测系统 | 融合分析</a:t>
            </a:r>
            <a:endParaRPr lang="en-US" sz="850" dirty="0"/>
          </a:p>
        </p:txBody>
      </p:sp>
      <p:sp>
        <p:nvSpPr>
          <p:cNvPr id="28" name="Text 26"/>
          <p:cNvSpPr/>
          <p:nvPr/>
        </p:nvSpPr>
        <p:spPr>
          <a:xfrm>
            <a:off x="11265408" y="6446520"/>
            <a:ext cx="62179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6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87E8B"/>
          </a:solidFill>
          <a:ln w="12700">
            <a:solidFill>
              <a:srgbClr val="087E8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30352" y="292608"/>
            <a:ext cx="4023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87E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ENGINEERING BACKBONE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30352" y="603504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10182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全流量系统主链路：AI能力应插入实时流处理和运营反馈之间</a:t>
            </a:r>
            <a:endParaRPr lang="en-US" sz="2500" dirty="0"/>
          </a:p>
        </p:txBody>
      </p:sp>
      <p:sp>
        <p:nvSpPr>
          <p:cNvPr id="5" name="Shape 3"/>
          <p:cNvSpPr/>
          <p:nvPr/>
        </p:nvSpPr>
        <p:spPr>
          <a:xfrm>
            <a:off x="493776" y="1874520"/>
            <a:ext cx="1536192" cy="2011680"/>
          </a:xfrm>
          <a:prstGeom prst="roundRect">
            <a:avLst>
              <a:gd name="adj" fmla="val 2976"/>
            </a:avLst>
          </a:prstGeom>
          <a:solidFill>
            <a:srgbClr val="FFFFFF"/>
          </a:solidFill>
          <a:ln w="10160">
            <a:solidFill>
              <a:srgbClr val="D6E0E3"/>
            </a:solidFill>
            <a:prstDash val="solid"/>
          </a:ln>
          <a:effectLst>
            <a:outerShdw sx="100000" sy="100000" kx="0" ky="0" algn="bl" rotWithShape="0" blurRad="38100" dist="12700" dir="2700000">
              <a:srgbClr val="000000">
                <a:alpha val="7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640080" y="2084832"/>
            <a:ext cx="1234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87E8B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Probe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658368" y="2615184"/>
            <a:ext cx="1207008" cy="749808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AF_XDP/AF_PACKET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PCAP归档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DNS/DHCP/ARP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2066544" y="2852928"/>
            <a:ext cx="256032" cy="0"/>
          </a:xfrm>
          <a:prstGeom prst="line">
            <a:avLst/>
          </a:prstGeom>
          <a:noFill/>
          <a:ln w="17780">
            <a:solidFill>
              <a:srgbClr val="64748B"/>
            </a:solidFill>
            <a:prstDash val="solid"/>
            <a:headEnd type="none"/>
            <a:tailEnd type="triangle"/>
          </a:ln>
        </p:spPr>
      </p:sp>
      <p:sp>
        <p:nvSpPr>
          <p:cNvPr id="9" name="Shape 7"/>
          <p:cNvSpPr/>
          <p:nvPr/>
        </p:nvSpPr>
        <p:spPr>
          <a:xfrm>
            <a:off x="2395728" y="1874520"/>
            <a:ext cx="1536192" cy="2011680"/>
          </a:xfrm>
          <a:prstGeom prst="roundRect">
            <a:avLst>
              <a:gd name="adj" fmla="val 2976"/>
            </a:avLst>
          </a:prstGeom>
          <a:solidFill>
            <a:srgbClr val="F4FAFA"/>
          </a:solidFill>
          <a:ln w="10160">
            <a:solidFill>
              <a:srgbClr val="D6E0E3"/>
            </a:solidFill>
            <a:prstDash val="solid"/>
          </a:ln>
          <a:effectLst>
            <a:outerShdw sx="100000" sy="100000" kx="0" ky="0" algn="bl" rotWithShape="0" blurRad="38100" dist="12700" dir="2700000">
              <a:srgbClr val="000000">
                <a:alpha val="7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2542032" y="2084832"/>
            <a:ext cx="1234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87E8B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Kafka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2560320" y="2615184"/>
            <a:ext cx="1207008" cy="749808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flow.events.v1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feature.stat.v1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model-updates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3968496" y="2852928"/>
            <a:ext cx="256032" cy="0"/>
          </a:xfrm>
          <a:prstGeom prst="line">
            <a:avLst/>
          </a:prstGeom>
          <a:noFill/>
          <a:ln w="17780">
            <a:solidFill>
              <a:srgbClr val="64748B"/>
            </a:solidFill>
            <a:prstDash val="solid"/>
            <a:headEnd type="none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4297680" y="1874520"/>
            <a:ext cx="1536192" cy="2011680"/>
          </a:xfrm>
          <a:prstGeom prst="roundRect">
            <a:avLst>
              <a:gd name="adj" fmla="val 2976"/>
            </a:avLst>
          </a:prstGeom>
          <a:solidFill>
            <a:srgbClr val="FFFFFF"/>
          </a:solidFill>
          <a:ln w="10160">
            <a:solidFill>
              <a:srgbClr val="D6E0E3"/>
            </a:solidFill>
            <a:prstDash val="solid"/>
          </a:ln>
          <a:effectLst>
            <a:outerShdw sx="100000" sy="100000" kx="0" ky="0" algn="bl" rotWithShape="0" blurRad="38100" dist="12700" dir="2700000">
              <a:srgbClr val="000000">
                <a:alpha val="7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4443984" y="2084832"/>
            <a:ext cx="1234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065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Flink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4462272" y="2615184"/>
            <a:ext cx="1207008" cy="749808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Session / Feature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Rule / Behavior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CEP / Alert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5870448" y="2852928"/>
            <a:ext cx="256032" cy="0"/>
          </a:xfrm>
          <a:prstGeom prst="line">
            <a:avLst/>
          </a:prstGeom>
          <a:noFill/>
          <a:ln w="17780">
            <a:solidFill>
              <a:srgbClr val="64748B"/>
            </a:solidFill>
            <a:prstDash val="solid"/>
            <a:headEnd type="none"/>
            <a:tailEnd type="triangle"/>
          </a:ln>
        </p:spPr>
      </p:sp>
      <p:sp>
        <p:nvSpPr>
          <p:cNvPr id="17" name="Shape 15"/>
          <p:cNvSpPr/>
          <p:nvPr/>
        </p:nvSpPr>
        <p:spPr>
          <a:xfrm>
            <a:off x="6199632" y="1874520"/>
            <a:ext cx="1536192" cy="2011680"/>
          </a:xfrm>
          <a:prstGeom prst="roundRect">
            <a:avLst>
              <a:gd name="adj" fmla="val 2976"/>
            </a:avLst>
          </a:prstGeom>
          <a:solidFill>
            <a:srgbClr val="F4FAFA"/>
          </a:solidFill>
          <a:ln w="10160">
            <a:solidFill>
              <a:srgbClr val="D6E0E3"/>
            </a:solidFill>
            <a:prstDash val="solid"/>
          </a:ln>
          <a:effectLst>
            <a:outerShdw sx="100000" sy="100000" kx="0" ky="0" algn="bl" rotWithShape="0" blurRad="38100" dist="12700" dir="2700000">
              <a:srgbClr val="000000">
                <a:alpha val="7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6345936" y="2084832"/>
            <a:ext cx="1234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87E8B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Storage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6364224" y="2615184"/>
            <a:ext cx="1207008" cy="749808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ClickHouse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NebulaGraph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MinIO / OpenSearch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7772400" y="2852928"/>
            <a:ext cx="256032" cy="0"/>
          </a:xfrm>
          <a:prstGeom prst="line">
            <a:avLst/>
          </a:prstGeom>
          <a:noFill/>
          <a:ln w="17780">
            <a:solidFill>
              <a:srgbClr val="64748B"/>
            </a:solidFill>
            <a:prstDash val="solid"/>
            <a:headEnd type="none"/>
            <a:tailEnd type="triangle"/>
          </a:ln>
        </p:spPr>
      </p:sp>
      <p:sp>
        <p:nvSpPr>
          <p:cNvPr id="21" name="Shape 19"/>
          <p:cNvSpPr/>
          <p:nvPr/>
        </p:nvSpPr>
        <p:spPr>
          <a:xfrm>
            <a:off x="8101584" y="1874520"/>
            <a:ext cx="1536192" cy="2011680"/>
          </a:xfrm>
          <a:prstGeom prst="roundRect">
            <a:avLst>
              <a:gd name="adj" fmla="val 2976"/>
            </a:avLst>
          </a:prstGeom>
          <a:solidFill>
            <a:srgbClr val="FFFFFF"/>
          </a:solidFill>
          <a:ln w="10160">
            <a:solidFill>
              <a:srgbClr val="D6E0E3"/>
            </a:solidFill>
            <a:prstDash val="solid"/>
          </a:ln>
          <a:effectLst>
            <a:outerShdw sx="100000" sy="100000" kx="0" ky="0" algn="bl" rotWithShape="0" blurRad="38100" dist="12700" dir="2700000">
              <a:srgbClr val="000000">
                <a:alpha val="7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8247888" y="2084832"/>
            <a:ext cx="1234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87E8B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Control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8266176" y="2615184"/>
            <a:ext cx="1207008" cy="749808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Go APIs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Rule/Model Registry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Audit/RBAC</a:t>
            </a:r>
            <a:endParaRPr lang="en-US" sz="950" dirty="0"/>
          </a:p>
        </p:txBody>
      </p:sp>
      <p:sp>
        <p:nvSpPr>
          <p:cNvPr id="24" name="Shape 22"/>
          <p:cNvSpPr/>
          <p:nvPr/>
        </p:nvSpPr>
        <p:spPr>
          <a:xfrm>
            <a:off x="9674352" y="2852928"/>
            <a:ext cx="256032" cy="0"/>
          </a:xfrm>
          <a:prstGeom prst="line">
            <a:avLst/>
          </a:prstGeom>
          <a:noFill/>
          <a:ln w="17780">
            <a:solidFill>
              <a:srgbClr val="64748B"/>
            </a:solidFill>
            <a:prstDash val="solid"/>
            <a:headEnd type="none"/>
            <a:tailEnd type="triangle"/>
          </a:ln>
        </p:spPr>
      </p:sp>
      <p:sp>
        <p:nvSpPr>
          <p:cNvPr id="25" name="Shape 23"/>
          <p:cNvSpPr/>
          <p:nvPr/>
        </p:nvSpPr>
        <p:spPr>
          <a:xfrm>
            <a:off x="10003536" y="1874520"/>
            <a:ext cx="1536192" cy="2011680"/>
          </a:xfrm>
          <a:prstGeom prst="roundRect">
            <a:avLst>
              <a:gd name="adj" fmla="val 2976"/>
            </a:avLst>
          </a:prstGeom>
          <a:solidFill>
            <a:srgbClr val="F4FAFA"/>
          </a:solidFill>
          <a:ln w="10160">
            <a:solidFill>
              <a:srgbClr val="D6E0E3"/>
            </a:solidFill>
            <a:prstDash val="solid"/>
          </a:ln>
          <a:effectLst>
            <a:outerShdw sx="100000" sy="100000" kx="0" ky="0" algn="bl" rotWithShape="0" blurRad="38100" dist="12700" dir="2700000">
              <a:srgbClr val="000000">
                <a:alpha val="7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10149840" y="2084832"/>
            <a:ext cx="1234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87E8B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UI</a:t>
            </a:r>
            <a:endParaRPr lang="en-US" sz="1500" dirty="0"/>
          </a:p>
        </p:txBody>
      </p:sp>
      <p:sp>
        <p:nvSpPr>
          <p:cNvPr id="27" name="Text 25"/>
          <p:cNvSpPr/>
          <p:nvPr/>
        </p:nvSpPr>
        <p:spPr>
          <a:xfrm>
            <a:off x="10168128" y="2615184"/>
            <a:ext cx="1207008" cy="749808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态势大屏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告警研判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取证/反馈</a:t>
            </a:r>
            <a:endParaRPr lang="en-US" sz="950" dirty="0"/>
          </a:p>
        </p:txBody>
      </p:sp>
      <p:sp>
        <p:nvSpPr>
          <p:cNvPr id="28" name="Shape 26"/>
          <p:cNvSpPr/>
          <p:nvPr/>
        </p:nvSpPr>
        <p:spPr>
          <a:xfrm>
            <a:off x="713232" y="4736592"/>
            <a:ext cx="3429000" cy="804672"/>
          </a:xfrm>
          <a:prstGeom prst="roundRect">
            <a:avLst>
              <a:gd name="adj" fmla="val 5682"/>
            </a:avLst>
          </a:prstGeom>
          <a:solidFill>
            <a:srgbClr val="FFFFFF"/>
          </a:solidFill>
          <a:ln w="10160">
            <a:solidFill>
              <a:srgbClr val="D6E0E3"/>
            </a:solidFill>
            <a:prstDash val="solid"/>
          </a:ln>
          <a:effectLst>
            <a:outerShdw sx="100000" sy="100000" kx="0" ky="0" algn="bl" rotWithShape="0" blurRad="38100" dist="12700" dir="2700000">
              <a:srgbClr val="000000">
                <a:alpha val="7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713232" y="4736592"/>
            <a:ext cx="73152" cy="804672"/>
          </a:xfrm>
          <a:prstGeom prst="rect">
            <a:avLst/>
          </a:prstGeom>
          <a:solidFill>
            <a:srgbClr val="F06543"/>
          </a:solidFill>
          <a:ln w="12700">
            <a:solidFill>
              <a:srgbClr val="F06543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914400" y="4901184"/>
            <a:ext cx="30815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80" b="1" dirty="0">
                <a:solidFill>
                  <a:srgbClr val="10182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AI插入点 1：Flink在线推理</a:t>
            </a:r>
            <a:endParaRPr lang="en-US" sz="1280" dirty="0"/>
          </a:p>
        </p:txBody>
      </p:sp>
      <p:sp>
        <p:nvSpPr>
          <p:cNvPr id="31" name="Text 29"/>
          <p:cNvSpPr/>
          <p:nvPr/>
        </p:nvSpPr>
        <p:spPr>
          <a:xfrm>
            <a:off x="914400" y="5138928"/>
            <a:ext cx="3081528" cy="329184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indent="0" marL="0">
              <a:buNone/>
            </a:pPr>
            <a:r>
              <a:rPr lang="en-US" sz="103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消费 feature.stat.v1 / 特征批次，输出 detections.v1，满足低延迟和热更新。</a:t>
            </a:r>
            <a:endParaRPr lang="en-US" sz="1030" dirty="0"/>
          </a:p>
        </p:txBody>
      </p:sp>
      <p:sp>
        <p:nvSpPr>
          <p:cNvPr id="32" name="Shape 30"/>
          <p:cNvSpPr/>
          <p:nvPr/>
        </p:nvSpPr>
        <p:spPr>
          <a:xfrm>
            <a:off x="4407408" y="4736592"/>
            <a:ext cx="3429000" cy="804672"/>
          </a:xfrm>
          <a:prstGeom prst="roundRect">
            <a:avLst>
              <a:gd name="adj" fmla="val 5682"/>
            </a:avLst>
          </a:prstGeom>
          <a:solidFill>
            <a:srgbClr val="FFFFFF"/>
          </a:solidFill>
          <a:ln w="10160">
            <a:solidFill>
              <a:srgbClr val="D6E0E3"/>
            </a:solidFill>
            <a:prstDash val="solid"/>
          </a:ln>
          <a:effectLst>
            <a:outerShdw sx="100000" sy="100000" kx="0" ky="0" algn="bl" rotWithShape="0" blurRad="38100" dist="12700" dir="2700000">
              <a:srgbClr val="000000">
                <a:alpha val="7000"/>
              </a:srgbClr>
            </a:outerShdw>
          </a:effectLst>
        </p:spPr>
      </p:sp>
      <p:sp>
        <p:nvSpPr>
          <p:cNvPr id="33" name="Shape 31"/>
          <p:cNvSpPr/>
          <p:nvPr/>
        </p:nvSpPr>
        <p:spPr>
          <a:xfrm>
            <a:off x="4407408" y="4736592"/>
            <a:ext cx="73152" cy="804672"/>
          </a:xfrm>
          <a:prstGeom prst="rect">
            <a:avLst/>
          </a:prstGeom>
          <a:solidFill>
            <a:srgbClr val="6C63FF"/>
          </a:solidFill>
          <a:ln w="12700">
            <a:solidFill>
              <a:srgbClr val="6C63FF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4608576" y="4901184"/>
            <a:ext cx="30815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80" b="1" dirty="0">
                <a:solidFill>
                  <a:srgbClr val="10182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AI插入点 2：MLOps训练评估</a:t>
            </a:r>
            <a:endParaRPr lang="en-US" sz="1280" dirty="0"/>
          </a:p>
        </p:txBody>
      </p:sp>
      <p:sp>
        <p:nvSpPr>
          <p:cNvPr id="35" name="Text 33"/>
          <p:cNvSpPr/>
          <p:nvPr/>
        </p:nvSpPr>
        <p:spPr>
          <a:xfrm>
            <a:off x="4608576" y="5138928"/>
            <a:ext cx="3081528" cy="329184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indent="0" marL="0">
              <a:buNone/>
            </a:pPr>
            <a:r>
              <a:rPr lang="en-US" sz="103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从ClickHouse抽取特征和反馈，生成模型版本、阈值、指标和artifact。</a:t>
            </a:r>
            <a:endParaRPr lang="en-US" sz="1030" dirty="0"/>
          </a:p>
        </p:txBody>
      </p:sp>
      <p:sp>
        <p:nvSpPr>
          <p:cNvPr id="36" name="Shape 34"/>
          <p:cNvSpPr/>
          <p:nvPr/>
        </p:nvSpPr>
        <p:spPr>
          <a:xfrm>
            <a:off x="8101584" y="4736592"/>
            <a:ext cx="3429000" cy="804672"/>
          </a:xfrm>
          <a:prstGeom prst="roundRect">
            <a:avLst>
              <a:gd name="adj" fmla="val 5682"/>
            </a:avLst>
          </a:prstGeom>
          <a:solidFill>
            <a:srgbClr val="FFFFFF"/>
          </a:solidFill>
          <a:ln w="10160">
            <a:solidFill>
              <a:srgbClr val="D6E0E3"/>
            </a:solidFill>
            <a:prstDash val="solid"/>
          </a:ln>
          <a:effectLst>
            <a:outerShdw sx="100000" sy="100000" kx="0" ky="0" algn="bl" rotWithShape="0" blurRad="38100" dist="12700" dir="2700000">
              <a:srgbClr val="000000">
                <a:alpha val="7000"/>
              </a:srgbClr>
            </a:outerShdw>
          </a:effectLst>
        </p:spPr>
      </p:sp>
      <p:sp>
        <p:nvSpPr>
          <p:cNvPr id="37" name="Shape 35"/>
          <p:cNvSpPr/>
          <p:nvPr/>
        </p:nvSpPr>
        <p:spPr>
          <a:xfrm>
            <a:off x="8101584" y="4736592"/>
            <a:ext cx="73152" cy="804672"/>
          </a:xfrm>
          <a:prstGeom prst="rect">
            <a:avLst/>
          </a:prstGeom>
          <a:solidFill>
            <a:srgbClr val="087E8B"/>
          </a:solidFill>
          <a:ln w="12700">
            <a:solidFill>
              <a:srgbClr val="087E8B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8302752" y="4901184"/>
            <a:ext cx="30815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80" b="1" dirty="0">
                <a:solidFill>
                  <a:srgbClr val="10182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AI插入点 3：证据解释层</a:t>
            </a:r>
            <a:endParaRPr lang="en-US" sz="1280" dirty="0"/>
          </a:p>
        </p:txBody>
      </p:sp>
      <p:sp>
        <p:nvSpPr>
          <p:cNvPr id="39" name="Text 37"/>
          <p:cNvSpPr/>
          <p:nvPr/>
        </p:nvSpPr>
        <p:spPr>
          <a:xfrm>
            <a:off x="8302752" y="5138928"/>
            <a:ext cx="3081528" cy="329184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indent="0" marL="0">
              <a:buNone/>
            </a:pPr>
            <a:r>
              <a:rPr lang="en-US" sz="103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把不确定性、冲突度、原型距离、相似历史样本写入Evidence和告警详情。</a:t>
            </a:r>
            <a:endParaRPr lang="en-US" sz="1030" dirty="0"/>
          </a:p>
        </p:txBody>
      </p:sp>
      <p:sp>
        <p:nvSpPr>
          <p:cNvPr id="40" name="Text 38"/>
          <p:cNvSpPr/>
          <p:nvPr/>
        </p:nvSpPr>
        <p:spPr>
          <a:xfrm>
            <a:off x="411480" y="6510528"/>
            <a:ext cx="80467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园区全流量采集分析系统 × AI驱动网络流量检测系统 | 融合分析</a:t>
            </a:r>
            <a:endParaRPr lang="en-US" sz="850" dirty="0"/>
          </a:p>
        </p:txBody>
      </p:sp>
      <p:sp>
        <p:nvSpPr>
          <p:cNvPr id="41" name="Text 39"/>
          <p:cNvSpPr/>
          <p:nvPr/>
        </p:nvSpPr>
        <p:spPr>
          <a:xfrm>
            <a:off x="11265408" y="6446520"/>
            <a:ext cx="62179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6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87E8B"/>
          </a:solidFill>
          <a:ln w="12700">
            <a:solidFill>
              <a:srgbClr val="087E8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30352" y="292608"/>
            <a:ext cx="4023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87E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RESEARCH SIGNAL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30352" y="603504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10182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文献侧启示：系统路线应从单点精度转向持续运营架构</a:t>
            </a:r>
            <a:endParaRPr lang="en-US" sz="2500" dirty="0"/>
          </a:p>
        </p:txBody>
      </p:sp>
      <p:pic>
        <p:nvPicPr>
          <p:cNvPr id="5" name="Image 0" descr="F:\泉城实验室\二期\论文\异常检测\综合分析\图表\创新点分布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58368" y="1325880"/>
            <a:ext cx="5166360" cy="4069080"/>
          </a:xfrm>
          <a:prstGeom prst="rect">
            <a:avLst/>
          </a:prstGeom>
        </p:spPr>
      </p:pic>
      <p:pic>
        <p:nvPicPr>
          <p:cNvPr id="6" name="Image 1" descr="F:\泉城实验室\二期\论文\异常检测\综合分析\图表\科学问题分布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6272784" y="1325880"/>
            <a:ext cx="5166360" cy="4069080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841248" y="5650992"/>
            <a:ext cx="10378440" cy="566928"/>
          </a:xfrm>
          <a:prstGeom prst="roundRect">
            <a:avLst>
              <a:gd name="adj" fmla="val 8065"/>
            </a:avLst>
          </a:prstGeom>
          <a:solidFill>
            <a:srgbClr val="101820"/>
          </a:solidFill>
          <a:ln w="12700">
            <a:solidFill>
              <a:srgbClr val="101820"/>
            </a:solidFill>
            <a:prstDash val="solid"/>
          </a:ln>
        </p:spPr>
      </p:sp>
      <p:sp>
        <p:nvSpPr>
          <p:cNvPr id="8" name="Text 4"/>
          <p:cNvSpPr/>
          <p:nvPr/>
        </p:nvSpPr>
        <p:spPr>
          <a:xfrm>
            <a:off x="1005840" y="5833872"/>
            <a:ext cx="100126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组合趋势：Transformer/预训练解决表征，自监督解决标签稀缺，图学习解决关联，可解释与反馈解决安全运营闭环。</a:t>
            </a:r>
            <a:endParaRPr lang="en-US" sz="1200" dirty="0"/>
          </a:p>
        </p:txBody>
      </p:sp>
      <p:sp>
        <p:nvSpPr>
          <p:cNvPr id="9" name="Text 5"/>
          <p:cNvSpPr/>
          <p:nvPr/>
        </p:nvSpPr>
        <p:spPr>
          <a:xfrm>
            <a:off x="411480" y="6510528"/>
            <a:ext cx="80467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园区全流量采集分析系统 × AI驱动网络流量检测系统 | 融合分析</a:t>
            </a:r>
            <a:endParaRPr lang="en-US" sz="850" dirty="0"/>
          </a:p>
        </p:txBody>
      </p:sp>
      <p:sp>
        <p:nvSpPr>
          <p:cNvPr id="10" name="Text 6"/>
          <p:cNvSpPr/>
          <p:nvPr/>
        </p:nvSpPr>
        <p:spPr>
          <a:xfrm>
            <a:off x="11265408" y="6446520"/>
            <a:ext cx="62179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6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87E8B"/>
          </a:solidFill>
          <a:ln w="12700">
            <a:solidFill>
              <a:srgbClr val="087E8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30352" y="292608"/>
            <a:ext cx="4023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87E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LAYERED FUSION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30352" y="603504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10182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融合方式：不是系统拼接，而是分层嵌入</a:t>
            </a:r>
            <a:endParaRPr lang="en-US" sz="2500" dirty="0"/>
          </a:p>
        </p:txBody>
      </p:sp>
      <p:sp>
        <p:nvSpPr>
          <p:cNvPr id="5" name="Shape 3"/>
          <p:cNvSpPr/>
          <p:nvPr/>
        </p:nvSpPr>
        <p:spPr>
          <a:xfrm>
            <a:off x="749808" y="1261872"/>
            <a:ext cx="10378440" cy="676656"/>
          </a:xfrm>
          <a:prstGeom prst="rect">
            <a:avLst/>
          </a:prstGeom>
          <a:solidFill>
            <a:srgbClr val="FFFFFF"/>
          </a:solidFill>
          <a:ln w="10160">
            <a:solidFill>
              <a:srgbClr val="D6E0E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49808" y="1261872"/>
            <a:ext cx="109728" cy="676656"/>
          </a:xfrm>
          <a:prstGeom prst="rect">
            <a:avLst/>
          </a:prstGeom>
          <a:solidFill>
            <a:srgbClr val="087E8B"/>
          </a:solidFill>
          <a:ln w="12700">
            <a:solidFill>
              <a:srgbClr val="087E8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60120" y="1444752"/>
            <a:ext cx="1463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87E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L0 数据底座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2487168" y="1444752"/>
            <a:ext cx="3337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018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Probe / Kafka / ClickHouse / MinIO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6144768" y="1444752"/>
            <a:ext cx="3977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提供真实流量、PCAP、会话、延迟和质量证据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987552" y="2221992"/>
            <a:ext cx="9902952" cy="676656"/>
          </a:xfrm>
          <a:prstGeom prst="rect">
            <a:avLst/>
          </a:prstGeom>
          <a:solidFill>
            <a:srgbClr val="F4FAFA"/>
          </a:solidFill>
          <a:ln w="10160">
            <a:solidFill>
              <a:srgbClr val="D6E0E3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987552" y="2221992"/>
            <a:ext cx="109728" cy="676656"/>
          </a:xfrm>
          <a:prstGeom prst="rect">
            <a:avLst/>
          </a:prstGeom>
          <a:solidFill>
            <a:srgbClr val="2F6BFF"/>
          </a:solidFill>
          <a:ln w="12700">
            <a:solidFill>
              <a:srgbClr val="2F6B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197864" y="2404872"/>
            <a:ext cx="1463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F6B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L1 特征底座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2724912" y="2404872"/>
            <a:ext cx="3337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018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FeatureStat / FeatureSeq / FeatureFingerprint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6382512" y="2404872"/>
            <a:ext cx="373989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支撑统计、序列、TLS/QUIC指纹和多粒度建模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1225296" y="3182112"/>
            <a:ext cx="9427464" cy="676656"/>
          </a:xfrm>
          <a:prstGeom prst="rect">
            <a:avLst/>
          </a:prstGeom>
          <a:solidFill>
            <a:srgbClr val="FFFFFF"/>
          </a:solidFill>
          <a:ln w="10160">
            <a:solidFill>
              <a:srgbClr val="D6E0E3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225296" y="3182112"/>
            <a:ext cx="109728" cy="676656"/>
          </a:xfrm>
          <a:prstGeom prst="rect">
            <a:avLst/>
          </a:prstGeom>
          <a:solidFill>
            <a:srgbClr val="6C63FF"/>
          </a:solidFill>
          <a:ln w="12700">
            <a:solidFill>
              <a:srgbClr val="6C63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435608" y="3364992"/>
            <a:ext cx="1463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6C63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L2 检测模型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2962656" y="3364992"/>
            <a:ext cx="3337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018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DA-FDIDS / Evidence-OpenEMTD / 级联模型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6620256" y="3364992"/>
            <a:ext cx="35021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输出已知类、未知风险、低可信复核和模型版本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1463040" y="4142232"/>
            <a:ext cx="8951976" cy="676656"/>
          </a:xfrm>
          <a:prstGeom prst="rect">
            <a:avLst/>
          </a:prstGeom>
          <a:solidFill>
            <a:srgbClr val="F4FAFA"/>
          </a:solidFill>
          <a:ln w="10160">
            <a:solidFill>
              <a:srgbClr val="D6E0E3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463040" y="4142232"/>
            <a:ext cx="109728" cy="676656"/>
          </a:xfrm>
          <a:prstGeom prst="rect">
            <a:avLst/>
          </a:prstGeom>
          <a:solidFill>
            <a:srgbClr val="F06543"/>
          </a:solidFill>
          <a:ln w="12700">
            <a:solidFill>
              <a:srgbClr val="F06543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673352" y="4325112"/>
            <a:ext cx="1463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0654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L3 关联解释</a:t>
            </a:r>
            <a:endParaRPr lang="en-US" sz="1250" dirty="0"/>
          </a:p>
        </p:txBody>
      </p:sp>
      <p:sp>
        <p:nvSpPr>
          <p:cNvPr id="23" name="Text 21"/>
          <p:cNvSpPr/>
          <p:nvPr/>
        </p:nvSpPr>
        <p:spPr>
          <a:xfrm>
            <a:off x="3200400" y="4325112"/>
            <a:ext cx="3337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018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NebulaGraph / Evidence / PCAP / Threat Intel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6858000" y="4325112"/>
            <a:ext cx="326440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形成攻击链、相似样本、证据冲突和取证报告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1700784" y="5102352"/>
            <a:ext cx="8476488" cy="676656"/>
          </a:xfrm>
          <a:prstGeom prst="rect">
            <a:avLst/>
          </a:prstGeom>
          <a:solidFill>
            <a:srgbClr val="FFFFFF"/>
          </a:solidFill>
          <a:ln w="10160">
            <a:solidFill>
              <a:srgbClr val="D6E0E3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1700784" y="5102352"/>
            <a:ext cx="109728" cy="676656"/>
          </a:xfrm>
          <a:prstGeom prst="rect">
            <a:avLst/>
          </a:prstGeom>
          <a:solidFill>
            <a:srgbClr val="F5B841"/>
          </a:solidFill>
          <a:ln w="12700">
            <a:solidFill>
              <a:srgbClr val="F5B84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1911096" y="5285232"/>
            <a:ext cx="1463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5B84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L4 运营闭环</a:t>
            </a:r>
            <a:endParaRPr lang="en-US" sz="1250" dirty="0"/>
          </a:p>
        </p:txBody>
      </p:sp>
      <p:sp>
        <p:nvSpPr>
          <p:cNvPr id="28" name="Text 26"/>
          <p:cNvSpPr/>
          <p:nvPr/>
        </p:nvSpPr>
        <p:spPr>
          <a:xfrm>
            <a:off x="3438144" y="5285232"/>
            <a:ext cx="3337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018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Feedback / Whitelist / MLOps / model-updates</a:t>
            </a:r>
            <a:endParaRPr lang="en-US" sz="1150" dirty="0"/>
          </a:p>
        </p:txBody>
      </p:sp>
      <p:sp>
        <p:nvSpPr>
          <p:cNvPr id="29" name="Text 27"/>
          <p:cNvSpPr/>
          <p:nvPr/>
        </p:nvSpPr>
        <p:spPr>
          <a:xfrm>
            <a:off x="7095744" y="5285232"/>
            <a:ext cx="302666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把TP/FP、未知候选和误报原因回流为模型迭代</a:t>
            </a:r>
            <a:endParaRPr lang="en-US" sz="1050" dirty="0"/>
          </a:p>
        </p:txBody>
      </p:sp>
      <p:sp>
        <p:nvSpPr>
          <p:cNvPr id="30" name="Shape 28"/>
          <p:cNvSpPr/>
          <p:nvPr/>
        </p:nvSpPr>
        <p:spPr>
          <a:xfrm>
            <a:off x="822960" y="6053328"/>
            <a:ext cx="1056132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0160">
            <a:solidFill>
              <a:srgbClr val="D6E0E3"/>
            </a:solidFill>
            <a:prstDash val="solid"/>
          </a:ln>
          <a:effectLst>
            <a:outerShdw sx="100000" sy="100000" kx="0" ky="0" algn="bl" rotWithShape="0" blurRad="38100" dist="12700" dir="2700000">
              <a:srgbClr val="000000">
                <a:alpha val="7000"/>
              </a:srgbClr>
            </a:outerShdw>
          </a:effectLst>
        </p:spPr>
      </p:sp>
      <p:sp>
        <p:nvSpPr>
          <p:cNvPr id="31" name="Shape 29"/>
          <p:cNvSpPr/>
          <p:nvPr/>
        </p:nvSpPr>
        <p:spPr>
          <a:xfrm>
            <a:off x="822960" y="6053328"/>
            <a:ext cx="73152" cy="457200"/>
          </a:xfrm>
          <a:prstGeom prst="rect">
            <a:avLst/>
          </a:prstGeom>
          <a:solidFill>
            <a:srgbClr val="087E8B"/>
          </a:solidFill>
          <a:ln w="12700">
            <a:solidFill>
              <a:srgbClr val="087E8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024128" y="6163056"/>
            <a:ext cx="102138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80" b="1" dirty="0">
                <a:solidFill>
                  <a:srgbClr val="10182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融合原则</a:t>
            </a:r>
            <a:endParaRPr lang="en-US" sz="1280" dirty="0"/>
          </a:p>
        </p:txBody>
      </p:sp>
      <p:sp>
        <p:nvSpPr>
          <p:cNvPr id="33" name="Text 31"/>
          <p:cNvSpPr/>
          <p:nvPr/>
        </p:nvSpPr>
        <p:spPr>
          <a:xfrm>
            <a:off x="1024128" y="6281928"/>
            <a:ext cx="10213848" cy="155448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indent="0" marL="0">
              <a:buNone/>
            </a:pPr>
            <a:r>
              <a:rPr lang="en-US" sz="112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算法模块必须共享同一批特征、同一套模型版本、同一条证据链和同一个反馈闭环；否则验收指标和论文实验无法互证。</a:t>
            </a:r>
            <a:endParaRPr lang="en-US" sz="1120" dirty="0"/>
          </a:p>
        </p:txBody>
      </p:sp>
      <p:sp>
        <p:nvSpPr>
          <p:cNvPr id="34" name="Text 32"/>
          <p:cNvSpPr/>
          <p:nvPr/>
        </p:nvSpPr>
        <p:spPr>
          <a:xfrm>
            <a:off x="411480" y="6510528"/>
            <a:ext cx="80467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园区全流量采集分析系统 × AI驱动网络流量检测系统 | 融合分析</a:t>
            </a:r>
            <a:endParaRPr lang="en-US" sz="850" dirty="0"/>
          </a:p>
        </p:txBody>
      </p:sp>
      <p:sp>
        <p:nvSpPr>
          <p:cNvPr id="35" name="Text 33"/>
          <p:cNvSpPr/>
          <p:nvPr/>
        </p:nvSpPr>
        <p:spPr>
          <a:xfrm>
            <a:off x="11265408" y="6446520"/>
            <a:ext cx="62179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6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87E8B"/>
          </a:solidFill>
          <a:ln w="12700">
            <a:solidFill>
              <a:srgbClr val="087E8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30352" y="292608"/>
            <a:ext cx="4023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87E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DATA CONTRACT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30352" y="603504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10182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数据契约融合：现有特征已覆盖可信开放集检测的前三模态</a:t>
            </a:r>
            <a:endParaRPr lang="en-US" sz="2500" dirty="0"/>
          </a:p>
        </p:txBody>
      </p:sp>
      <p:sp>
        <p:nvSpPr>
          <p:cNvPr id="5" name="Shape 3"/>
          <p:cNvSpPr/>
          <p:nvPr/>
        </p:nvSpPr>
        <p:spPr>
          <a:xfrm>
            <a:off x="676656" y="1389888"/>
            <a:ext cx="5074920" cy="1325880"/>
          </a:xfrm>
          <a:prstGeom prst="roundRect">
            <a:avLst>
              <a:gd name="adj" fmla="val 3448"/>
            </a:avLst>
          </a:prstGeom>
          <a:solidFill>
            <a:srgbClr val="FFFFFF"/>
          </a:solidFill>
          <a:ln w="10160">
            <a:solidFill>
              <a:srgbClr val="D6E0E3"/>
            </a:solidFill>
            <a:prstDash val="solid"/>
          </a:ln>
          <a:effectLst>
            <a:outerShdw sx="100000" sy="100000" kx="0" ky="0" algn="bl" rotWithShape="0" blurRad="38100" dist="12700" dir="2700000">
              <a:srgbClr val="000000">
                <a:alpha val="7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676656" y="1389888"/>
            <a:ext cx="73152" cy="1325880"/>
          </a:xfrm>
          <a:prstGeom prst="rect">
            <a:avLst/>
          </a:prstGeom>
          <a:solidFill>
            <a:srgbClr val="087E8B"/>
          </a:solidFill>
          <a:ln w="12700">
            <a:solidFill>
              <a:srgbClr val="087E8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77824" y="1554480"/>
            <a:ext cx="47274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80" b="1" dirty="0">
                <a:solidFill>
                  <a:srgbClr val="10182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FeatureStat</a:t>
            </a:r>
            <a:endParaRPr lang="en-US" sz="1280" dirty="0"/>
          </a:p>
        </p:txBody>
      </p:sp>
      <p:sp>
        <p:nvSpPr>
          <p:cNvPr id="8" name="Text 6"/>
          <p:cNvSpPr/>
          <p:nvPr/>
        </p:nvSpPr>
        <p:spPr>
          <a:xfrm>
            <a:off x="877824" y="1892808"/>
            <a:ext cx="4727448" cy="749808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indent="0" marL="0">
              <a:buNone/>
            </a:pPr>
            <a:r>
              <a:rPr lang="en-US" sz="103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持续时间、pps/bps、包长/IAT、TCP标志、上下行比例</a:t>
            </a:r>
            <a:endParaRPr lang="en-US" sz="1030" dirty="0"/>
          </a:p>
        </p:txBody>
      </p:sp>
      <p:sp>
        <p:nvSpPr>
          <p:cNvPr id="9" name="Shape 7"/>
          <p:cNvSpPr/>
          <p:nvPr/>
        </p:nvSpPr>
        <p:spPr>
          <a:xfrm>
            <a:off x="4197096" y="1554480"/>
            <a:ext cx="1115568" cy="292608"/>
          </a:xfrm>
          <a:prstGeom prst="roundRect">
            <a:avLst>
              <a:gd name="adj" fmla="val 18750"/>
            </a:avLst>
          </a:prstGeom>
          <a:solidFill>
            <a:srgbClr val="087E8B"/>
          </a:solidFill>
          <a:ln w="12700">
            <a:solidFill>
              <a:srgbClr val="087E8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270248" y="1623060"/>
            <a:ext cx="96926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统计模态</a:t>
            </a:r>
            <a:endParaRPr lang="en-US" sz="850" dirty="0"/>
          </a:p>
        </p:txBody>
      </p:sp>
      <p:sp>
        <p:nvSpPr>
          <p:cNvPr id="11" name="Shape 9"/>
          <p:cNvSpPr/>
          <p:nvPr/>
        </p:nvSpPr>
        <p:spPr>
          <a:xfrm>
            <a:off x="6208776" y="1389888"/>
            <a:ext cx="5074920" cy="1325880"/>
          </a:xfrm>
          <a:prstGeom prst="roundRect">
            <a:avLst>
              <a:gd name="adj" fmla="val 3448"/>
            </a:avLst>
          </a:prstGeom>
          <a:solidFill>
            <a:srgbClr val="FFFFFF"/>
          </a:solidFill>
          <a:ln w="10160">
            <a:solidFill>
              <a:srgbClr val="D6E0E3"/>
            </a:solidFill>
            <a:prstDash val="solid"/>
          </a:ln>
          <a:effectLst>
            <a:outerShdw sx="100000" sy="100000" kx="0" ky="0" algn="bl" rotWithShape="0" blurRad="38100" dist="12700" dir="2700000">
              <a:srgbClr val="000000">
                <a:alpha val="7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6208776" y="1389888"/>
            <a:ext cx="73152" cy="1325880"/>
          </a:xfrm>
          <a:prstGeom prst="rect">
            <a:avLst/>
          </a:prstGeom>
          <a:solidFill>
            <a:srgbClr val="2F6BFF"/>
          </a:solidFill>
          <a:ln w="12700">
            <a:solidFill>
              <a:srgbClr val="2F6B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09944" y="1554480"/>
            <a:ext cx="47274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80" b="1" dirty="0">
                <a:solidFill>
                  <a:srgbClr val="10182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FeatureSeq</a:t>
            </a:r>
            <a:endParaRPr lang="en-US" sz="1280" dirty="0"/>
          </a:p>
        </p:txBody>
      </p:sp>
      <p:sp>
        <p:nvSpPr>
          <p:cNvPr id="14" name="Text 12"/>
          <p:cNvSpPr/>
          <p:nvPr/>
        </p:nvSpPr>
        <p:spPr>
          <a:xfrm>
            <a:off x="6409944" y="1892808"/>
            <a:ext cx="4727448" cy="749808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indent="0" marL="0">
              <a:buNone/>
            </a:pPr>
            <a:r>
              <a:rPr lang="en-US" sz="103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包长序列hash、IAT序列hash、小波能量与熵、序列blob引用</a:t>
            </a:r>
            <a:endParaRPr lang="en-US" sz="1030" dirty="0"/>
          </a:p>
        </p:txBody>
      </p:sp>
      <p:sp>
        <p:nvSpPr>
          <p:cNvPr id="15" name="Shape 13"/>
          <p:cNvSpPr/>
          <p:nvPr/>
        </p:nvSpPr>
        <p:spPr>
          <a:xfrm>
            <a:off x="9729216" y="1554480"/>
            <a:ext cx="1115568" cy="292608"/>
          </a:xfrm>
          <a:prstGeom prst="roundRect">
            <a:avLst>
              <a:gd name="adj" fmla="val 18750"/>
            </a:avLst>
          </a:prstGeom>
          <a:solidFill>
            <a:srgbClr val="2F6BFF"/>
          </a:solidFill>
          <a:ln w="12700">
            <a:solidFill>
              <a:srgbClr val="2F6BF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802368" y="1623060"/>
            <a:ext cx="96926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序列模态</a:t>
            </a:r>
            <a:endParaRPr lang="en-US" sz="850" dirty="0"/>
          </a:p>
        </p:txBody>
      </p:sp>
      <p:sp>
        <p:nvSpPr>
          <p:cNvPr id="17" name="Shape 15"/>
          <p:cNvSpPr/>
          <p:nvPr/>
        </p:nvSpPr>
        <p:spPr>
          <a:xfrm>
            <a:off x="676656" y="3355848"/>
            <a:ext cx="5074920" cy="1325880"/>
          </a:xfrm>
          <a:prstGeom prst="roundRect">
            <a:avLst>
              <a:gd name="adj" fmla="val 3448"/>
            </a:avLst>
          </a:prstGeom>
          <a:solidFill>
            <a:srgbClr val="FFFFFF"/>
          </a:solidFill>
          <a:ln w="10160">
            <a:solidFill>
              <a:srgbClr val="D6E0E3"/>
            </a:solidFill>
            <a:prstDash val="solid"/>
          </a:ln>
          <a:effectLst>
            <a:outerShdw sx="100000" sy="100000" kx="0" ky="0" algn="bl" rotWithShape="0" blurRad="38100" dist="12700" dir="2700000">
              <a:srgbClr val="000000">
                <a:alpha val="7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676656" y="3355848"/>
            <a:ext cx="73152" cy="1325880"/>
          </a:xfrm>
          <a:prstGeom prst="rect">
            <a:avLst/>
          </a:prstGeom>
          <a:solidFill>
            <a:srgbClr val="6C63FF"/>
          </a:solidFill>
          <a:ln w="12700">
            <a:solidFill>
              <a:srgbClr val="6C63F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77824" y="3520440"/>
            <a:ext cx="47274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80" b="1" dirty="0">
                <a:solidFill>
                  <a:srgbClr val="10182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FeatureFingerprint</a:t>
            </a:r>
            <a:endParaRPr lang="en-US" sz="1280" dirty="0"/>
          </a:p>
        </p:txBody>
      </p:sp>
      <p:sp>
        <p:nvSpPr>
          <p:cNvPr id="20" name="Text 18"/>
          <p:cNvSpPr/>
          <p:nvPr/>
        </p:nvSpPr>
        <p:spPr>
          <a:xfrm>
            <a:off x="877824" y="3858768"/>
            <a:ext cx="4727448" cy="749808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indent="0" marL="0">
              <a:buNone/>
            </a:pPr>
            <a:r>
              <a:rPr lang="en-US" sz="103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TLS版本、JA3、SNI hash、证书sha256、payload熵</a:t>
            </a:r>
            <a:endParaRPr lang="en-US" sz="1030" dirty="0"/>
          </a:p>
        </p:txBody>
      </p:sp>
      <p:sp>
        <p:nvSpPr>
          <p:cNvPr id="21" name="Shape 19"/>
          <p:cNvSpPr/>
          <p:nvPr/>
        </p:nvSpPr>
        <p:spPr>
          <a:xfrm>
            <a:off x="4197096" y="3520440"/>
            <a:ext cx="1115568" cy="292608"/>
          </a:xfrm>
          <a:prstGeom prst="roundRect">
            <a:avLst>
              <a:gd name="adj" fmla="val 18750"/>
            </a:avLst>
          </a:prstGeom>
          <a:solidFill>
            <a:srgbClr val="6C63FF"/>
          </a:solidFill>
          <a:ln w="12700">
            <a:solidFill>
              <a:srgbClr val="6C63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270248" y="3589020"/>
            <a:ext cx="96926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协议指纹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6208776" y="3355848"/>
            <a:ext cx="5074920" cy="1325880"/>
          </a:xfrm>
          <a:prstGeom prst="roundRect">
            <a:avLst>
              <a:gd name="adj" fmla="val 3448"/>
            </a:avLst>
          </a:prstGeom>
          <a:solidFill>
            <a:srgbClr val="FFFFFF"/>
          </a:solidFill>
          <a:ln w="10160">
            <a:solidFill>
              <a:srgbClr val="D6E0E3"/>
            </a:solidFill>
            <a:prstDash val="solid"/>
          </a:ln>
          <a:effectLst>
            <a:outerShdw sx="100000" sy="100000" kx="0" ky="0" algn="bl" rotWithShape="0" blurRad="38100" dist="12700" dir="2700000">
              <a:srgbClr val="000000">
                <a:alpha val="7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6208776" y="3355848"/>
            <a:ext cx="73152" cy="1325880"/>
          </a:xfrm>
          <a:prstGeom prst="rect">
            <a:avLst/>
          </a:prstGeom>
          <a:solidFill>
            <a:srgbClr val="F06543"/>
          </a:solidFill>
          <a:ln w="12700">
            <a:solidFill>
              <a:srgbClr val="F06543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409944" y="3520440"/>
            <a:ext cx="47274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80" b="1" dirty="0">
                <a:solidFill>
                  <a:srgbClr val="10182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Graph Context</a:t>
            </a:r>
            <a:endParaRPr lang="en-US" sz="1280" dirty="0"/>
          </a:p>
        </p:txBody>
      </p:sp>
      <p:sp>
        <p:nvSpPr>
          <p:cNvPr id="26" name="Text 24"/>
          <p:cNvSpPr/>
          <p:nvPr/>
        </p:nvSpPr>
        <p:spPr>
          <a:xfrm>
            <a:off x="6409944" y="3858768"/>
            <a:ext cx="4727448" cy="749808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indent="0" marL="0">
              <a:buNone/>
            </a:pPr>
            <a:r>
              <a:rPr lang="en-US" sz="103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IP/资产/域名/证书/告警/情报关系，来自NebulaGraph和Fusion</a:t>
            </a:r>
            <a:endParaRPr lang="en-US" sz="1030" dirty="0"/>
          </a:p>
        </p:txBody>
      </p:sp>
      <p:sp>
        <p:nvSpPr>
          <p:cNvPr id="27" name="Shape 25"/>
          <p:cNvSpPr/>
          <p:nvPr/>
        </p:nvSpPr>
        <p:spPr>
          <a:xfrm>
            <a:off x="9729216" y="3520440"/>
            <a:ext cx="1115568" cy="292608"/>
          </a:xfrm>
          <a:prstGeom prst="roundRect">
            <a:avLst>
              <a:gd name="adj" fmla="val 18750"/>
            </a:avLst>
          </a:prstGeom>
          <a:solidFill>
            <a:srgbClr val="F06543"/>
          </a:solidFill>
          <a:ln w="12700">
            <a:solidFill>
              <a:srgbClr val="F06543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9802368" y="3589020"/>
            <a:ext cx="96926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图上下文</a:t>
            </a:r>
            <a:endParaRPr lang="en-US" sz="850" dirty="0"/>
          </a:p>
        </p:txBody>
      </p:sp>
      <p:sp>
        <p:nvSpPr>
          <p:cNvPr id="29" name="Shape 27"/>
          <p:cNvSpPr/>
          <p:nvPr/>
        </p:nvSpPr>
        <p:spPr>
          <a:xfrm>
            <a:off x="1051560" y="5486400"/>
            <a:ext cx="9921240" cy="502920"/>
          </a:xfrm>
          <a:prstGeom prst="roundRect">
            <a:avLst>
              <a:gd name="adj" fmla="val 7273"/>
            </a:avLst>
          </a:prstGeom>
          <a:solidFill>
            <a:srgbClr val="EAF7F5"/>
          </a:solidFill>
          <a:ln w="12700">
            <a:solidFill>
              <a:srgbClr val="B6DFDA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1234440" y="5650992"/>
            <a:ext cx="95554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80" b="1" dirty="0">
                <a:solidFill>
                  <a:srgbClr val="10182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下一步契约扩展：在 Detection / Evidence 中显式加入 unknown_risk、uncertainty、conflict_score、prototype_distance、energy_score、candidate_cluster_id。</a:t>
            </a:r>
            <a:endParaRPr lang="en-US" sz="1080" dirty="0"/>
          </a:p>
        </p:txBody>
      </p:sp>
      <p:sp>
        <p:nvSpPr>
          <p:cNvPr id="31" name="Text 29"/>
          <p:cNvSpPr/>
          <p:nvPr/>
        </p:nvSpPr>
        <p:spPr>
          <a:xfrm>
            <a:off x="411480" y="6510528"/>
            <a:ext cx="80467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园区全流量采集分析系统 × AI驱动网络流量检测系统 | 融合分析</a:t>
            </a:r>
            <a:endParaRPr lang="en-US" sz="850" dirty="0"/>
          </a:p>
        </p:txBody>
      </p:sp>
      <p:sp>
        <p:nvSpPr>
          <p:cNvPr id="32" name="Text 30"/>
          <p:cNvSpPr/>
          <p:nvPr/>
        </p:nvSpPr>
        <p:spPr>
          <a:xfrm>
            <a:off x="11265408" y="6446520"/>
            <a:ext cx="62179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6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87E8B"/>
          </a:solidFill>
          <a:ln w="12700">
            <a:solidFill>
              <a:srgbClr val="087E8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30352" y="292608"/>
            <a:ext cx="4023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87E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MODEL INSERTION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30352" y="603504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10182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模型接入点：研究算法以插件形式进入 Flink 与 MLOps</a:t>
            </a:r>
            <a:endParaRPr lang="en-US" sz="2500" dirty="0"/>
          </a:p>
        </p:txBody>
      </p:sp>
      <p:sp>
        <p:nvSpPr>
          <p:cNvPr id="5" name="Shape 3"/>
          <p:cNvSpPr/>
          <p:nvPr/>
        </p:nvSpPr>
        <p:spPr>
          <a:xfrm>
            <a:off x="640080" y="1417320"/>
            <a:ext cx="5166360" cy="960120"/>
          </a:xfrm>
          <a:prstGeom prst="roundRect">
            <a:avLst>
              <a:gd name="adj" fmla="val 4762"/>
            </a:avLst>
          </a:prstGeom>
          <a:solidFill>
            <a:srgbClr val="FFFFFF"/>
          </a:solidFill>
          <a:ln w="10160">
            <a:solidFill>
              <a:srgbClr val="D6E0E3"/>
            </a:solidFill>
            <a:prstDash val="solid"/>
          </a:ln>
          <a:effectLst>
            <a:outerShdw sx="100000" sy="100000" kx="0" ky="0" algn="bl" rotWithShape="0" blurRad="38100" dist="12700" dir="2700000">
              <a:srgbClr val="000000">
                <a:alpha val="7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640080" y="1417320"/>
            <a:ext cx="73152" cy="960120"/>
          </a:xfrm>
          <a:prstGeom prst="rect">
            <a:avLst/>
          </a:prstGeom>
          <a:solidFill>
            <a:srgbClr val="6C63FF"/>
          </a:solidFill>
          <a:ln w="12700">
            <a:solidFill>
              <a:srgbClr val="6C63F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1581912"/>
            <a:ext cx="481888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80" b="1" dirty="0">
                <a:solidFill>
                  <a:srgbClr val="10182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DA-FDIDS</a:t>
            </a:r>
            <a:endParaRPr lang="en-US" sz="1280" dirty="0"/>
          </a:p>
        </p:txBody>
      </p:sp>
      <p:sp>
        <p:nvSpPr>
          <p:cNvPr id="8" name="Text 6"/>
          <p:cNvSpPr/>
          <p:nvPr/>
        </p:nvSpPr>
        <p:spPr>
          <a:xfrm>
            <a:off x="841248" y="1897380"/>
            <a:ext cx="4818888" cy="406908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indent="0" marL="0">
              <a:buNone/>
            </a:pPr>
            <a:r>
              <a:rPr lang="en-US" sz="97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动态图少样本检测 + GRL/MMD域适应 + LoRA在线适配</a:t>
            </a:r>
            <a:endParaRPr lang="en-US" sz="970" dirty="0"/>
          </a:p>
          <a:p>
            <a:pPr indent="0" marL="0">
              <a:buNone/>
            </a:pPr>
            <a:r>
              <a:rPr lang="en-US" sz="97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适合：跨域NIDS、少样本攻击、新环境快速适配</a:t>
            </a:r>
            <a:endParaRPr lang="en-US" sz="970" dirty="0"/>
          </a:p>
        </p:txBody>
      </p:sp>
      <p:sp>
        <p:nvSpPr>
          <p:cNvPr id="9" name="Shape 7"/>
          <p:cNvSpPr/>
          <p:nvPr/>
        </p:nvSpPr>
        <p:spPr>
          <a:xfrm>
            <a:off x="640080" y="2834640"/>
            <a:ext cx="5166360" cy="960120"/>
          </a:xfrm>
          <a:prstGeom prst="roundRect">
            <a:avLst>
              <a:gd name="adj" fmla="val 4762"/>
            </a:avLst>
          </a:prstGeom>
          <a:solidFill>
            <a:srgbClr val="FFFFFF"/>
          </a:solidFill>
          <a:ln w="10160">
            <a:solidFill>
              <a:srgbClr val="D6E0E3"/>
            </a:solidFill>
            <a:prstDash val="solid"/>
          </a:ln>
          <a:effectLst>
            <a:outerShdw sx="100000" sy="100000" kx="0" ky="0" algn="bl" rotWithShape="0" blurRad="38100" dist="12700" dir="2700000">
              <a:srgbClr val="000000">
                <a:alpha val="7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640080" y="2834640"/>
            <a:ext cx="73152" cy="960120"/>
          </a:xfrm>
          <a:prstGeom prst="rect">
            <a:avLst/>
          </a:prstGeom>
          <a:solidFill>
            <a:srgbClr val="087E8B"/>
          </a:solidFill>
          <a:ln w="12700">
            <a:solidFill>
              <a:srgbClr val="087E8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41248" y="2999232"/>
            <a:ext cx="481888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80" b="1" dirty="0">
                <a:solidFill>
                  <a:srgbClr val="10182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Evidence-OpenEMTD</a:t>
            </a:r>
            <a:endParaRPr lang="en-US" sz="1280" dirty="0"/>
          </a:p>
        </p:txBody>
      </p:sp>
      <p:sp>
        <p:nvSpPr>
          <p:cNvPr id="12" name="Text 10"/>
          <p:cNvSpPr/>
          <p:nvPr/>
        </p:nvSpPr>
        <p:spPr>
          <a:xfrm>
            <a:off x="841248" y="3314700"/>
            <a:ext cx="4818888" cy="406908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indent="0" marL="0">
              <a:buNone/>
            </a:pPr>
            <a:r>
              <a:rPr lang="en-US" sz="97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多模态证据、不确定性、模态冲突、原型距离、能量分数</a:t>
            </a:r>
            <a:endParaRPr lang="en-US" sz="970" dirty="0"/>
          </a:p>
          <a:p>
            <a:pPr indent="0" marL="0">
              <a:buNone/>
            </a:pPr>
            <a:r>
              <a:rPr lang="en-US" sz="97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适合：加密恶意流量、未知攻击、低可信复核</a:t>
            </a:r>
            <a:endParaRPr lang="en-US" sz="970" dirty="0"/>
          </a:p>
        </p:txBody>
      </p:sp>
      <p:sp>
        <p:nvSpPr>
          <p:cNvPr id="13" name="Shape 11"/>
          <p:cNvSpPr/>
          <p:nvPr/>
        </p:nvSpPr>
        <p:spPr>
          <a:xfrm>
            <a:off x="640080" y="4251960"/>
            <a:ext cx="5166360" cy="960120"/>
          </a:xfrm>
          <a:prstGeom prst="roundRect">
            <a:avLst>
              <a:gd name="adj" fmla="val 4762"/>
            </a:avLst>
          </a:prstGeom>
          <a:solidFill>
            <a:srgbClr val="FFFFFF"/>
          </a:solidFill>
          <a:ln w="10160">
            <a:solidFill>
              <a:srgbClr val="D6E0E3"/>
            </a:solidFill>
            <a:prstDash val="solid"/>
          </a:ln>
          <a:effectLst>
            <a:outerShdw sx="100000" sy="100000" kx="0" ky="0" algn="bl" rotWithShape="0" blurRad="38100" dist="12700" dir="2700000">
              <a:srgbClr val="000000">
                <a:alpha val="7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640080" y="4251960"/>
            <a:ext cx="73152" cy="960120"/>
          </a:xfrm>
          <a:prstGeom prst="rect">
            <a:avLst/>
          </a:prstGeom>
          <a:solidFill>
            <a:srgbClr val="F06543"/>
          </a:solidFill>
          <a:ln w="12700">
            <a:solidFill>
              <a:srgbClr val="F06543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41248" y="4416552"/>
            <a:ext cx="481888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80" b="1" dirty="0">
                <a:solidFill>
                  <a:srgbClr val="10182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Cascade Budget Detector</a:t>
            </a:r>
            <a:endParaRPr lang="en-US" sz="1280" dirty="0"/>
          </a:p>
        </p:txBody>
      </p:sp>
      <p:sp>
        <p:nvSpPr>
          <p:cNvPr id="16" name="Text 14"/>
          <p:cNvSpPr/>
          <p:nvPr/>
        </p:nvSpPr>
        <p:spPr>
          <a:xfrm>
            <a:off x="841248" y="4732020"/>
            <a:ext cx="4818888" cy="406908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indent="0" marL="0">
              <a:buNone/>
            </a:pPr>
            <a:r>
              <a:rPr lang="en-US" sz="97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L0快速统计 -&gt; L1序列 -&gt; L2指纹 -&gt; L3图 -&gt; L4深度模型</a:t>
            </a:r>
            <a:endParaRPr lang="en-US" sz="970" dirty="0"/>
          </a:p>
          <a:p>
            <a:pPr indent="0" marL="0">
              <a:buNone/>
            </a:pPr>
            <a:r>
              <a:rPr lang="en-US" sz="97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适合：高速链路、资源约束、分层推理</a:t>
            </a:r>
            <a:endParaRPr lang="en-US" sz="970" dirty="0"/>
          </a:p>
        </p:txBody>
      </p:sp>
      <p:sp>
        <p:nvSpPr>
          <p:cNvPr id="17" name="Shape 15"/>
          <p:cNvSpPr/>
          <p:nvPr/>
        </p:nvSpPr>
        <p:spPr>
          <a:xfrm>
            <a:off x="6400800" y="1234440"/>
            <a:ext cx="4206240" cy="658368"/>
          </a:xfrm>
          <a:prstGeom prst="roundRect">
            <a:avLst>
              <a:gd name="adj" fmla="val 6944"/>
            </a:avLst>
          </a:prstGeom>
          <a:solidFill>
            <a:srgbClr val="FFFFFF"/>
          </a:solidFill>
          <a:ln w="10160">
            <a:solidFill>
              <a:srgbClr val="D6E0E3"/>
            </a:solidFill>
            <a:prstDash val="solid"/>
          </a:ln>
          <a:effectLst>
            <a:outerShdw sx="100000" sy="100000" kx="0" ky="0" algn="bl" rotWithShape="0" blurRad="38100" dist="12700" dir="2700000">
              <a:srgbClr val="000000">
                <a:alpha val="7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6601968" y="1353312"/>
            <a:ext cx="17373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87E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feature.stat.v1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8458200" y="1353312"/>
            <a:ext cx="19202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实时特征输入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8503920" y="1929384"/>
            <a:ext cx="0" cy="320040"/>
          </a:xfrm>
          <a:prstGeom prst="line">
            <a:avLst/>
          </a:prstGeom>
          <a:noFill/>
          <a:ln w="15240">
            <a:solidFill>
              <a:srgbClr val="64748B"/>
            </a:solidFill>
            <a:prstDash val="solid"/>
            <a:headEnd type="none"/>
            <a:tailEnd type="triangle"/>
          </a:ln>
        </p:spPr>
      </p:sp>
      <p:sp>
        <p:nvSpPr>
          <p:cNvPr id="21" name="Shape 19"/>
          <p:cNvSpPr/>
          <p:nvPr/>
        </p:nvSpPr>
        <p:spPr>
          <a:xfrm>
            <a:off x="6400800" y="2350008"/>
            <a:ext cx="4206240" cy="658368"/>
          </a:xfrm>
          <a:prstGeom prst="roundRect">
            <a:avLst>
              <a:gd name="adj" fmla="val 6944"/>
            </a:avLst>
          </a:prstGeom>
          <a:solidFill>
            <a:srgbClr val="FFF7ED"/>
          </a:solidFill>
          <a:ln w="10160">
            <a:solidFill>
              <a:srgbClr val="D6E0E3"/>
            </a:solidFill>
            <a:prstDash val="solid"/>
          </a:ln>
          <a:effectLst>
            <a:outerShdw sx="100000" sy="100000" kx="0" ky="0" algn="bl" rotWithShape="0" blurRad="38100" dist="12700" dir="2700000">
              <a:srgbClr val="000000">
                <a:alpha val="7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6601968" y="2468880"/>
            <a:ext cx="17373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065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Flink Behavior Job</a:t>
            </a:r>
            <a:endParaRPr lang="en-US" sz="1150" dirty="0"/>
          </a:p>
        </p:txBody>
      </p:sp>
      <p:sp>
        <p:nvSpPr>
          <p:cNvPr id="23" name="Text 21"/>
          <p:cNvSpPr/>
          <p:nvPr/>
        </p:nvSpPr>
        <p:spPr>
          <a:xfrm>
            <a:off x="8458200" y="2468880"/>
            <a:ext cx="19202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异步推理 / 热更新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8503920" y="3044952"/>
            <a:ext cx="0" cy="320040"/>
          </a:xfrm>
          <a:prstGeom prst="line">
            <a:avLst/>
          </a:prstGeom>
          <a:noFill/>
          <a:ln w="15240">
            <a:solidFill>
              <a:srgbClr val="64748B"/>
            </a:solidFill>
            <a:prstDash val="solid"/>
            <a:headEnd type="none"/>
            <a:tailEnd type="triangle"/>
          </a:ln>
        </p:spPr>
      </p:sp>
      <p:sp>
        <p:nvSpPr>
          <p:cNvPr id="25" name="Shape 23"/>
          <p:cNvSpPr/>
          <p:nvPr/>
        </p:nvSpPr>
        <p:spPr>
          <a:xfrm>
            <a:off x="6400800" y="3465576"/>
            <a:ext cx="4206240" cy="658368"/>
          </a:xfrm>
          <a:prstGeom prst="roundRect">
            <a:avLst>
              <a:gd name="adj" fmla="val 6944"/>
            </a:avLst>
          </a:prstGeom>
          <a:solidFill>
            <a:srgbClr val="FFFFFF"/>
          </a:solidFill>
          <a:ln w="10160">
            <a:solidFill>
              <a:srgbClr val="D6E0E3"/>
            </a:solidFill>
            <a:prstDash val="solid"/>
          </a:ln>
          <a:effectLst>
            <a:outerShdw sx="100000" sy="100000" kx="0" ky="0" algn="bl" rotWithShape="0" blurRad="38100" dist="12700" dir="2700000">
              <a:srgbClr val="000000">
                <a:alpha val="7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601968" y="3584448"/>
            <a:ext cx="17373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87E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detections.v1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8458200" y="3584448"/>
            <a:ext cx="19202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检测结果输出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8503920" y="4160520"/>
            <a:ext cx="0" cy="320040"/>
          </a:xfrm>
          <a:prstGeom prst="line">
            <a:avLst/>
          </a:prstGeom>
          <a:noFill/>
          <a:ln w="15240">
            <a:solidFill>
              <a:srgbClr val="64748B"/>
            </a:solidFill>
            <a:prstDash val="solid"/>
            <a:headEnd type="none"/>
            <a:tailEnd type="triangle"/>
          </a:ln>
        </p:spPr>
      </p:sp>
      <p:sp>
        <p:nvSpPr>
          <p:cNvPr id="29" name="Shape 27"/>
          <p:cNvSpPr/>
          <p:nvPr/>
        </p:nvSpPr>
        <p:spPr>
          <a:xfrm>
            <a:off x="6400800" y="4581144"/>
            <a:ext cx="4206240" cy="658368"/>
          </a:xfrm>
          <a:prstGeom prst="roundRect">
            <a:avLst>
              <a:gd name="adj" fmla="val 6944"/>
            </a:avLst>
          </a:prstGeom>
          <a:solidFill>
            <a:srgbClr val="FFFFFF"/>
          </a:solidFill>
          <a:ln w="10160">
            <a:solidFill>
              <a:srgbClr val="D6E0E3"/>
            </a:solidFill>
            <a:prstDash val="solid"/>
          </a:ln>
          <a:effectLst>
            <a:outerShdw sx="100000" sy="100000" kx="0" ky="0" algn="bl" rotWithShape="0" blurRad="38100" dist="12700" dir="2700000">
              <a:srgbClr val="000000">
                <a:alpha val="7000"/>
              </a:srgbClr>
            </a:outerShdw>
          </a:effectLst>
        </p:spPr>
      </p:sp>
      <p:sp>
        <p:nvSpPr>
          <p:cNvPr id="30" name="Text 28"/>
          <p:cNvSpPr/>
          <p:nvPr/>
        </p:nvSpPr>
        <p:spPr>
          <a:xfrm>
            <a:off x="6601968" y="4700016"/>
            <a:ext cx="17373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87E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Alert + Evidence</a:t>
            </a:r>
            <a:endParaRPr lang="en-US" sz="1150" dirty="0"/>
          </a:p>
        </p:txBody>
      </p:sp>
      <p:sp>
        <p:nvSpPr>
          <p:cNvPr id="31" name="Text 29"/>
          <p:cNvSpPr/>
          <p:nvPr/>
        </p:nvSpPr>
        <p:spPr>
          <a:xfrm>
            <a:off x="8458200" y="4700016"/>
            <a:ext cx="19202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告警证据化</a:t>
            </a:r>
            <a:endParaRPr lang="en-US" sz="1050" dirty="0"/>
          </a:p>
        </p:txBody>
      </p:sp>
      <p:sp>
        <p:nvSpPr>
          <p:cNvPr id="32" name="Text 30"/>
          <p:cNvSpPr/>
          <p:nvPr/>
        </p:nvSpPr>
        <p:spPr>
          <a:xfrm>
            <a:off x="411480" y="6510528"/>
            <a:ext cx="80467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园区全流量采集分析系统 × AI驱动网络流量检测系统 | 融合分析</a:t>
            </a:r>
            <a:endParaRPr lang="en-US" sz="850" dirty="0"/>
          </a:p>
        </p:txBody>
      </p:sp>
      <p:sp>
        <p:nvSpPr>
          <p:cNvPr id="33" name="Text 31"/>
          <p:cNvSpPr/>
          <p:nvPr/>
        </p:nvSpPr>
        <p:spPr>
          <a:xfrm>
            <a:off x="11265408" y="6446520"/>
            <a:ext cx="62179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6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87E8B"/>
          </a:solidFill>
          <a:ln w="12700">
            <a:solidFill>
              <a:srgbClr val="087E8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30352" y="292608"/>
            <a:ext cx="4023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87E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MLOPS LOOP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30352" y="603504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10182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反馈学习闭环：从告警研判回到模型版本和在线热更新</a:t>
            </a:r>
            <a:endParaRPr lang="en-US" sz="2500" dirty="0"/>
          </a:p>
        </p:txBody>
      </p:sp>
      <p:sp>
        <p:nvSpPr>
          <p:cNvPr id="5" name="Shape 3"/>
          <p:cNvSpPr/>
          <p:nvPr/>
        </p:nvSpPr>
        <p:spPr>
          <a:xfrm>
            <a:off x="1005840" y="1508760"/>
            <a:ext cx="1417320" cy="658368"/>
          </a:xfrm>
          <a:prstGeom prst="roundRect">
            <a:avLst>
              <a:gd name="adj" fmla="val 11111"/>
            </a:avLst>
          </a:prstGeom>
          <a:solidFill>
            <a:srgbClr val="F06543"/>
          </a:solidFill>
          <a:ln w="12700">
            <a:solidFill>
              <a:srgbClr val="F0654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78992" y="1737360"/>
            <a:ext cx="1271016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2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告警研判</a:t>
            </a:r>
            <a:endParaRPr lang="en-US" sz="1020" dirty="0"/>
          </a:p>
        </p:txBody>
      </p:sp>
      <p:sp>
        <p:nvSpPr>
          <p:cNvPr id="7" name="Shape 5"/>
          <p:cNvSpPr/>
          <p:nvPr/>
        </p:nvSpPr>
        <p:spPr>
          <a:xfrm>
            <a:off x="3063240" y="1508760"/>
            <a:ext cx="1417320" cy="658368"/>
          </a:xfrm>
          <a:prstGeom prst="roundRect">
            <a:avLst>
              <a:gd name="adj" fmla="val 11111"/>
            </a:avLst>
          </a:prstGeom>
          <a:solidFill>
            <a:srgbClr val="F5B841"/>
          </a:solidFill>
          <a:ln w="12700">
            <a:solidFill>
              <a:srgbClr val="F5B84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136392" y="1737360"/>
            <a:ext cx="1271016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2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TP / FP反馈</a:t>
            </a:r>
            <a:endParaRPr lang="en-US" sz="1020" dirty="0"/>
          </a:p>
        </p:txBody>
      </p:sp>
      <p:sp>
        <p:nvSpPr>
          <p:cNvPr id="9" name="Shape 7"/>
          <p:cNvSpPr/>
          <p:nvPr/>
        </p:nvSpPr>
        <p:spPr>
          <a:xfrm>
            <a:off x="5074920" y="1508760"/>
            <a:ext cx="1417320" cy="658368"/>
          </a:xfrm>
          <a:prstGeom prst="roundRect">
            <a:avLst>
              <a:gd name="adj" fmla="val 11111"/>
            </a:avLst>
          </a:prstGeom>
          <a:solidFill>
            <a:srgbClr val="087E8B"/>
          </a:solidFill>
          <a:ln w="12700">
            <a:solidFill>
              <a:srgbClr val="087E8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148072" y="1737360"/>
            <a:ext cx="1271016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2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样本池</a:t>
            </a:r>
            <a:endParaRPr lang="en-US" sz="1020" dirty="0"/>
          </a:p>
        </p:txBody>
      </p:sp>
      <p:sp>
        <p:nvSpPr>
          <p:cNvPr id="11" name="Shape 9"/>
          <p:cNvSpPr/>
          <p:nvPr/>
        </p:nvSpPr>
        <p:spPr>
          <a:xfrm>
            <a:off x="6903720" y="1508760"/>
            <a:ext cx="1417320" cy="658368"/>
          </a:xfrm>
          <a:prstGeom prst="roundRect">
            <a:avLst>
              <a:gd name="adj" fmla="val 11111"/>
            </a:avLst>
          </a:prstGeom>
          <a:solidFill>
            <a:srgbClr val="6C63FF"/>
          </a:solidFill>
          <a:ln w="12700">
            <a:solidFill>
              <a:srgbClr val="6C63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976872" y="1737360"/>
            <a:ext cx="1271016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2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训练评估</a:t>
            </a:r>
            <a:endParaRPr lang="en-US" sz="1020" dirty="0"/>
          </a:p>
        </p:txBody>
      </p:sp>
      <p:sp>
        <p:nvSpPr>
          <p:cNvPr id="13" name="Shape 11"/>
          <p:cNvSpPr/>
          <p:nvPr/>
        </p:nvSpPr>
        <p:spPr>
          <a:xfrm>
            <a:off x="8823960" y="1508760"/>
            <a:ext cx="1417320" cy="658368"/>
          </a:xfrm>
          <a:prstGeom prst="roundRect">
            <a:avLst>
              <a:gd name="adj" fmla="val 11111"/>
            </a:avLst>
          </a:prstGeom>
          <a:solidFill>
            <a:srgbClr val="2F6BFF"/>
          </a:solidFill>
          <a:ln w="12700">
            <a:solidFill>
              <a:srgbClr val="2F6B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897112" y="1737360"/>
            <a:ext cx="1271016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2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模型注册</a:t>
            </a:r>
            <a:endParaRPr lang="en-US" sz="1020" dirty="0"/>
          </a:p>
        </p:txBody>
      </p:sp>
      <p:sp>
        <p:nvSpPr>
          <p:cNvPr id="15" name="Shape 13"/>
          <p:cNvSpPr/>
          <p:nvPr/>
        </p:nvSpPr>
        <p:spPr>
          <a:xfrm>
            <a:off x="4983480" y="3703320"/>
            <a:ext cx="1417320" cy="658368"/>
          </a:xfrm>
          <a:prstGeom prst="roundRect">
            <a:avLst>
              <a:gd name="adj" fmla="val 11111"/>
            </a:avLst>
          </a:prstGeom>
          <a:solidFill>
            <a:srgbClr val="101820"/>
          </a:solidFill>
          <a:ln w="12700">
            <a:solidFill>
              <a:srgbClr val="10182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056632" y="3931920"/>
            <a:ext cx="1271016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2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model-updates</a:t>
            </a:r>
            <a:endParaRPr lang="en-US" sz="1020" dirty="0"/>
          </a:p>
        </p:txBody>
      </p:sp>
      <p:sp>
        <p:nvSpPr>
          <p:cNvPr id="17" name="Shape 15"/>
          <p:cNvSpPr/>
          <p:nvPr/>
        </p:nvSpPr>
        <p:spPr>
          <a:xfrm>
            <a:off x="2487168" y="1828800"/>
            <a:ext cx="566928" cy="0"/>
          </a:xfrm>
          <a:prstGeom prst="line">
            <a:avLst/>
          </a:prstGeom>
          <a:noFill/>
          <a:ln w="17780">
            <a:solidFill>
              <a:srgbClr val="64748B"/>
            </a:solidFill>
            <a:prstDash val="solid"/>
            <a:headEnd type="none"/>
            <a:tailEnd type="triangle"/>
          </a:ln>
        </p:spPr>
      </p:sp>
      <p:sp>
        <p:nvSpPr>
          <p:cNvPr id="18" name="Shape 16"/>
          <p:cNvSpPr/>
          <p:nvPr/>
        </p:nvSpPr>
        <p:spPr>
          <a:xfrm>
            <a:off x="4544568" y="1828800"/>
            <a:ext cx="566928" cy="0"/>
          </a:xfrm>
          <a:prstGeom prst="line">
            <a:avLst/>
          </a:prstGeom>
          <a:noFill/>
          <a:ln w="17780">
            <a:solidFill>
              <a:srgbClr val="64748B"/>
            </a:solidFill>
            <a:prstDash val="solid"/>
            <a:headEnd type="none"/>
            <a:tailEnd type="triangle"/>
          </a:ln>
        </p:spPr>
      </p:sp>
      <p:sp>
        <p:nvSpPr>
          <p:cNvPr id="19" name="Shape 17"/>
          <p:cNvSpPr/>
          <p:nvPr/>
        </p:nvSpPr>
        <p:spPr>
          <a:xfrm>
            <a:off x="6556248" y="1828800"/>
            <a:ext cx="566928" cy="0"/>
          </a:xfrm>
          <a:prstGeom prst="line">
            <a:avLst/>
          </a:prstGeom>
          <a:noFill/>
          <a:ln w="17780">
            <a:solidFill>
              <a:srgbClr val="64748B"/>
            </a:solidFill>
            <a:prstDash val="solid"/>
            <a:headEnd type="none"/>
            <a:tailEnd type="triangle"/>
          </a:ln>
        </p:spPr>
      </p:sp>
      <p:sp>
        <p:nvSpPr>
          <p:cNvPr id="20" name="Shape 18"/>
          <p:cNvSpPr/>
          <p:nvPr/>
        </p:nvSpPr>
        <p:spPr>
          <a:xfrm>
            <a:off x="8385048" y="1828800"/>
            <a:ext cx="566928" cy="0"/>
          </a:xfrm>
          <a:prstGeom prst="line">
            <a:avLst/>
          </a:prstGeom>
          <a:noFill/>
          <a:ln w="17780">
            <a:solidFill>
              <a:srgbClr val="64748B"/>
            </a:solidFill>
            <a:prstDash val="solid"/>
            <a:headEnd type="none"/>
            <a:tailEnd type="triangle"/>
          </a:ln>
        </p:spPr>
      </p:sp>
      <p:sp>
        <p:nvSpPr>
          <p:cNvPr id="21" name="Shape 19"/>
          <p:cNvSpPr/>
          <p:nvPr/>
        </p:nvSpPr>
        <p:spPr>
          <a:xfrm>
            <a:off x="9528048" y="2185416"/>
            <a:ext cx="0" cy="1152144"/>
          </a:xfrm>
          <a:prstGeom prst="line">
            <a:avLst/>
          </a:prstGeom>
          <a:noFill/>
          <a:ln w="15240">
            <a:solidFill>
              <a:srgbClr val="64748B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382512" y="3337560"/>
            <a:ext cx="3145536" cy="0"/>
          </a:xfrm>
          <a:prstGeom prst="line">
            <a:avLst/>
          </a:prstGeom>
          <a:noFill/>
          <a:ln w="15240">
            <a:solidFill>
              <a:srgbClr val="64748B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010912" y="3337560"/>
            <a:ext cx="1371600" cy="0"/>
          </a:xfrm>
          <a:prstGeom prst="line">
            <a:avLst/>
          </a:prstGeom>
          <a:noFill/>
          <a:ln w="15240">
            <a:solidFill>
              <a:srgbClr val="64748B"/>
            </a:solidFill>
            <a:prstDash val="solid"/>
            <a:headEnd type="none"/>
            <a:tailEnd type="triangle"/>
          </a:ln>
        </p:spPr>
      </p:sp>
      <p:sp>
        <p:nvSpPr>
          <p:cNvPr id="24" name="Shape 22"/>
          <p:cNvSpPr/>
          <p:nvPr/>
        </p:nvSpPr>
        <p:spPr>
          <a:xfrm>
            <a:off x="1783080" y="2185416"/>
            <a:ext cx="0" cy="1078992"/>
          </a:xfrm>
          <a:prstGeom prst="line">
            <a:avLst/>
          </a:prstGeom>
          <a:noFill/>
          <a:ln w="15240">
            <a:solidFill>
              <a:srgbClr val="64748B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783080" y="3264408"/>
            <a:ext cx="3090672" cy="0"/>
          </a:xfrm>
          <a:prstGeom prst="line">
            <a:avLst/>
          </a:prstGeom>
          <a:noFill/>
          <a:ln w="15240">
            <a:solidFill>
              <a:srgbClr val="64748B"/>
            </a:solidFill>
            <a:prstDash val="solid"/>
            <a:headEnd type="none"/>
            <a:tailEnd type="triangle"/>
          </a:ln>
        </p:spPr>
      </p:sp>
      <p:sp>
        <p:nvSpPr>
          <p:cNvPr id="26" name="Shape 24"/>
          <p:cNvSpPr/>
          <p:nvPr/>
        </p:nvSpPr>
        <p:spPr>
          <a:xfrm>
            <a:off x="713232" y="4892040"/>
            <a:ext cx="5138928" cy="877824"/>
          </a:xfrm>
          <a:prstGeom prst="roundRect">
            <a:avLst>
              <a:gd name="adj" fmla="val 5208"/>
            </a:avLst>
          </a:prstGeom>
          <a:solidFill>
            <a:srgbClr val="FFFFFF"/>
          </a:solidFill>
          <a:ln w="10160">
            <a:solidFill>
              <a:srgbClr val="D6E0E3"/>
            </a:solidFill>
            <a:prstDash val="solid"/>
          </a:ln>
          <a:effectLst>
            <a:outerShdw sx="100000" sy="100000" kx="0" ky="0" algn="bl" rotWithShape="0" blurRad="38100" dist="12700" dir="2700000">
              <a:srgbClr val="000000">
                <a:alpha val="7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713232" y="4892040"/>
            <a:ext cx="73152" cy="877824"/>
          </a:xfrm>
          <a:prstGeom prst="rect">
            <a:avLst/>
          </a:prstGeom>
          <a:solidFill>
            <a:srgbClr val="087E8B"/>
          </a:solidFill>
          <a:ln w="12700">
            <a:solidFill>
              <a:srgbClr val="087E8B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914400" y="5056632"/>
            <a:ext cx="479145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80" b="1" dirty="0">
                <a:solidFill>
                  <a:srgbClr val="10182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闭环关键字段</a:t>
            </a:r>
            <a:endParaRPr lang="en-US" sz="1280" dirty="0"/>
          </a:p>
        </p:txBody>
      </p:sp>
      <p:sp>
        <p:nvSpPr>
          <p:cNvPr id="29" name="Text 27"/>
          <p:cNvSpPr/>
          <p:nvPr/>
        </p:nvSpPr>
        <p:spPr>
          <a:xfrm>
            <a:off x="914400" y="5330952"/>
            <a:ext cx="4791456" cy="36576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indent="0" marL="0">
              <a:buNone/>
            </a:pPr>
            <a:r>
              <a:rPr lang="en-US" sz="103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alert_id、model_version、feature_set_id、feedback_label、reason_code、threshold-lock、artifact_uri、metrics、activation action。</a:t>
            </a:r>
            <a:endParaRPr lang="en-US" sz="1030" dirty="0"/>
          </a:p>
        </p:txBody>
      </p:sp>
      <p:sp>
        <p:nvSpPr>
          <p:cNvPr id="30" name="Shape 28"/>
          <p:cNvSpPr/>
          <p:nvPr/>
        </p:nvSpPr>
        <p:spPr>
          <a:xfrm>
            <a:off x="6327648" y="4892040"/>
            <a:ext cx="5138928" cy="877824"/>
          </a:xfrm>
          <a:prstGeom prst="roundRect">
            <a:avLst>
              <a:gd name="adj" fmla="val 5208"/>
            </a:avLst>
          </a:prstGeom>
          <a:solidFill>
            <a:srgbClr val="FFFFFF"/>
          </a:solidFill>
          <a:ln w="10160">
            <a:solidFill>
              <a:srgbClr val="D6E0E3"/>
            </a:solidFill>
            <a:prstDash val="solid"/>
          </a:ln>
          <a:effectLst>
            <a:outerShdw sx="100000" sy="100000" kx="0" ky="0" algn="bl" rotWithShape="0" blurRad="38100" dist="12700" dir="2700000">
              <a:srgbClr val="000000">
                <a:alpha val="7000"/>
              </a:srgbClr>
            </a:outerShdw>
          </a:effectLst>
        </p:spPr>
      </p:sp>
      <p:sp>
        <p:nvSpPr>
          <p:cNvPr id="31" name="Shape 29"/>
          <p:cNvSpPr/>
          <p:nvPr/>
        </p:nvSpPr>
        <p:spPr>
          <a:xfrm>
            <a:off x="6327648" y="4892040"/>
            <a:ext cx="73152" cy="877824"/>
          </a:xfrm>
          <a:prstGeom prst="rect">
            <a:avLst/>
          </a:prstGeom>
          <a:solidFill>
            <a:srgbClr val="F06543"/>
          </a:solidFill>
          <a:ln w="12700">
            <a:solidFill>
              <a:srgbClr val="F06543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528816" y="5056632"/>
            <a:ext cx="479145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80" b="1" dirty="0">
                <a:solidFill>
                  <a:srgbClr val="10182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融合要求</a:t>
            </a:r>
            <a:endParaRPr lang="en-US" sz="1280" dirty="0"/>
          </a:p>
        </p:txBody>
      </p:sp>
      <p:sp>
        <p:nvSpPr>
          <p:cNvPr id="33" name="Text 31"/>
          <p:cNvSpPr/>
          <p:nvPr/>
        </p:nvSpPr>
        <p:spPr>
          <a:xfrm>
            <a:off x="6528816" y="5330952"/>
            <a:ext cx="4791456" cy="36576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indent="0" marL="0">
              <a:buNone/>
            </a:pPr>
            <a:r>
              <a:rPr lang="en-US" sz="103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研究模型必须接入同一套模型注册、灰度激活、回滚、审计和Flink广播热更新机制，不能脱离平台单跑。</a:t>
            </a:r>
            <a:endParaRPr lang="en-US" sz="1030" dirty="0"/>
          </a:p>
        </p:txBody>
      </p:sp>
      <p:sp>
        <p:nvSpPr>
          <p:cNvPr id="34" name="Text 32"/>
          <p:cNvSpPr/>
          <p:nvPr/>
        </p:nvSpPr>
        <p:spPr>
          <a:xfrm>
            <a:off x="411480" y="6510528"/>
            <a:ext cx="80467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园区全流量采集分析系统 × AI驱动网络流量检测系统 | 融合分析</a:t>
            </a:r>
            <a:endParaRPr lang="en-US" sz="850" dirty="0"/>
          </a:p>
        </p:txBody>
      </p:sp>
      <p:sp>
        <p:nvSpPr>
          <p:cNvPr id="35" name="Text 33"/>
          <p:cNvSpPr/>
          <p:nvPr/>
        </p:nvSpPr>
        <p:spPr>
          <a:xfrm>
            <a:off x="11265408" y="6446520"/>
            <a:ext cx="62179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6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87E8B"/>
          </a:solidFill>
          <a:ln w="12700">
            <a:solidFill>
              <a:srgbClr val="087E8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30352" y="292608"/>
            <a:ext cx="4023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87E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EVIDENCE-OPENEMTD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30352" y="603504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10182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可信开放集检测：把“未知攻击”做成可复核风险，而不是低置信标签</a:t>
            </a:r>
            <a:endParaRPr lang="en-US" sz="2500" dirty="0"/>
          </a:p>
        </p:txBody>
      </p:sp>
      <p:sp>
        <p:nvSpPr>
          <p:cNvPr id="5" name="Shape 3"/>
          <p:cNvSpPr/>
          <p:nvPr/>
        </p:nvSpPr>
        <p:spPr>
          <a:xfrm>
            <a:off x="841248" y="1325880"/>
            <a:ext cx="10469880" cy="566928"/>
          </a:xfrm>
          <a:prstGeom prst="roundRect">
            <a:avLst>
              <a:gd name="adj" fmla="val 9677"/>
            </a:avLst>
          </a:prstGeom>
          <a:solidFill>
            <a:srgbClr val="101820"/>
          </a:solidFill>
          <a:ln w="12700">
            <a:solidFill>
              <a:srgbClr val="10182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05840" y="1517904"/>
            <a:ext cx="1014984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unknown_risk = λ1·uncertainty + λ2·conflict + λ3·prototype_distance + λ4·energy + λ5·drift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658368" y="2761488"/>
            <a:ext cx="1691640" cy="1261872"/>
          </a:xfrm>
          <a:prstGeom prst="roundRect">
            <a:avLst>
              <a:gd name="adj" fmla="val 3623"/>
            </a:avLst>
          </a:prstGeom>
          <a:solidFill>
            <a:srgbClr val="FFFFFF"/>
          </a:solidFill>
          <a:ln w="10160">
            <a:solidFill>
              <a:srgbClr val="D6E0E3"/>
            </a:solidFill>
            <a:prstDash val="solid"/>
          </a:ln>
          <a:effectLst>
            <a:outerShdw sx="100000" sy="100000" kx="0" ky="0" algn="bl" rotWithShape="0" blurRad="38100" dist="12700" dir="2700000">
              <a:srgbClr val="000000">
                <a:alpha val="7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768096" y="2971800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20" b="1" dirty="0">
                <a:solidFill>
                  <a:srgbClr val="087E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多模态特征</a:t>
            </a:r>
            <a:endParaRPr lang="en-US" sz="1220" dirty="0"/>
          </a:p>
        </p:txBody>
      </p:sp>
      <p:sp>
        <p:nvSpPr>
          <p:cNvPr id="9" name="Text 7"/>
          <p:cNvSpPr/>
          <p:nvPr/>
        </p:nvSpPr>
        <p:spPr>
          <a:xfrm>
            <a:off x="804672" y="3429000"/>
            <a:ext cx="13898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4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统计 / 序列 / 指纹 / 图</a:t>
            </a:r>
            <a:endParaRPr lang="en-US" sz="940" dirty="0"/>
          </a:p>
        </p:txBody>
      </p:sp>
      <p:sp>
        <p:nvSpPr>
          <p:cNvPr id="10" name="Shape 8"/>
          <p:cNvSpPr/>
          <p:nvPr/>
        </p:nvSpPr>
        <p:spPr>
          <a:xfrm>
            <a:off x="2414016" y="3383280"/>
            <a:ext cx="365760" cy="0"/>
          </a:xfrm>
          <a:prstGeom prst="line">
            <a:avLst/>
          </a:prstGeom>
          <a:noFill/>
          <a:ln w="17780">
            <a:solidFill>
              <a:srgbClr val="64748B"/>
            </a:solidFill>
            <a:prstDash val="solid"/>
            <a:headEnd type="none"/>
            <a:tailEnd type="triangle"/>
          </a:ln>
        </p:spPr>
      </p:sp>
      <p:sp>
        <p:nvSpPr>
          <p:cNvPr id="11" name="Shape 9"/>
          <p:cNvSpPr/>
          <p:nvPr/>
        </p:nvSpPr>
        <p:spPr>
          <a:xfrm>
            <a:off x="2898648" y="2761488"/>
            <a:ext cx="1691640" cy="1261872"/>
          </a:xfrm>
          <a:prstGeom prst="roundRect">
            <a:avLst>
              <a:gd name="adj" fmla="val 3623"/>
            </a:avLst>
          </a:prstGeom>
          <a:solidFill>
            <a:srgbClr val="FFFFFF"/>
          </a:solidFill>
          <a:ln w="10160">
            <a:solidFill>
              <a:srgbClr val="D6E0E3"/>
            </a:solidFill>
            <a:prstDash val="solid"/>
          </a:ln>
          <a:effectLst>
            <a:outerShdw sx="100000" sy="100000" kx="0" ky="0" algn="bl" rotWithShape="0" blurRad="38100" dist="12700" dir="2700000">
              <a:srgbClr val="000000">
                <a:alpha val="7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008376" y="2971800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20" b="1" dirty="0">
                <a:solidFill>
                  <a:srgbClr val="2F6B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证据意见</a:t>
            </a:r>
            <a:endParaRPr lang="en-US" sz="1220" dirty="0"/>
          </a:p>
        </p:txBody>
      </p:sp>
      <p:sp>
        <p:nvSpPr>
          <p:cNvPr id="13" name="Text 11"/>
          <p:cNvSpPr/>
          <p:nvPr/>
        </p:nvSpPr>
        <p:spPr>
          <a:xfrm>
            <a:off x="3044952" y="3429000"/>
            <a:ext cx="13898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4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belief / uncertainty</a:t>
            </a:r>
            <a:endParaRPr lang="en-US" sz="940" dirty="0"/>
          </a:p>
        </p:txBody>
      </p:sp>
      <p:sp>
        <p:nvSpPr>
          <p:cNvPr id="14" name="Shape 12"/>
          <p:cNvSpPr/>
          <p:nvPr/>
        </p:nvSpPr>
        <p:spPr>
          <a:xfrm>
            <a:off x="4654296" y="3383280"/>
            <a:ext cx="365760" cy="0"/>
          </a:xfrm>
          <a:prstGeom prst="line">
            <a:avLst/>
          </a:prstGeom>
          <a:noFill/>
          <a:ln w="17780">
            <a:solidFill>
              <a:srgbClr val="64748B"/>
            </a:solidFill>
            <a:prstDash val="solid"/>
            <a:headEnd type="none"/>
            <a:tailEnd type="triangle"/>
          </a:ln>
        </p:spPr>
      </p:sp>
      <p:sp>
        <p:nvSpPr>
          <p:cNvPr id="15" name="Shape 13"/>
          <p:cNvSpPr/>
          <p:nvPr/>
        </p:nvSpPr>
        <p:spPr>
          <a:xfrm>
            <a:off x="5138928" y="2761488"/>
            <a:ext cx="1691640" cy="1261872"/>
          </a:xfrm>
          <a:prstGeom prst="roundRect">
            <a:avLst>
              <a:gd name="adj" fmla="val 3623"/>
            </a:avLst>
          </a:prstGeom>
          <a:solidFill>
            <a:srgbClr val="FFFFFF"/>
          </a:solidFill>
          <a:ln w="10160">
            <a:solidFill>
              <a:srgbClr val="D6E0E3"/>
            </a:solidFill>
            <a:prstDash val="solid"/>
          </a:ln>
          <a:effectLst>
            <a:outerShdw sx="100000" sy="100000" kx="0" ky="0" algn="bl" rotWithShape="0" blurRad="38100" dist="12700" dir="2700000">
              <a:srgbClr val="000000">
                <a:alpha val="7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248656" y="2971800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20" b="1" dirty="0">
                <a:solidFill>
                  <a:srgbClr val="6C63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冲突融合</a:t>
            </a:r>
            <a:endParaRPr lang="en-US" sz="1220" dirty="0"/>
          </a:p>
        </p:txBody>
      </p:sp>
      <p:sp>
        <p:nvSpPr>
          <p:cNvPr id="17" name="Text 15"/>
          <p:cNvSpPr/>
          <p:nvPr/>
        </p:nvSpPr>
        <p:spPr>
          <a:xfrm>
            <a:off x="5285232" y="3429000"/>
            <a:ext cx="13898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4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模态一致性与折扣</a:t>
            </a:r>
            <a:endParaRPr lang="en-US" sz="940" dirty="0"/>
          </a:p>
        </p:txBody>
      </p:sp>
      <p:sp>
        <p:nvSpPr>
          <p:cNvPr id="18" name="Shape 16"/>
          <p:cNvSpPr/>
          <p:nvPr/>
        </p:nvSpPr>
        <p:spPr>
          <a:xfrm>
            <a:off x="6894576" y="3383280"/>
            <a:ext cx="365760" cy="0"/>
          </a:xfrm>
          <a:prstGeom prst="line">
            <a:avLst/>
          </a:prstGeom>
          <a:noFill/>
          <a:ln w="17780">
            <a:solidFill>
              <a:srgbClr val="64748B"/>
            </a:solidFill>
            <a:prstDash val="solid"/>
            <a:headEnd type="none"/>
            <a:tailEnd type="triangle"/>
          </a:ln>
        </p:spPr>
      </p:sp>
      <p:sp>
        <p:nvSpPr>
          <p:cNvPr id="19" name="Shape 17"/>
          <p:cNvSpPr/>
          <p:nvPr/>
        </p:nvSpPr>
        <p:spPr>
          <a:xfrm>
            <a:off x="7379208" y="2761488"/>
            <a:ext cx="1691640" cy="1261872"/>
          </a:xfrm>
          <a:prstGeom prst="roundRect">
            <a:avLst>
              <a:gd name="adj" fmla="val 3623"/>
            </a:avLst>
          </a:prstGeom>
          <a:solidFill>
            <a:srgbClr val="FFFFFF"/>
          </a:solidFill>
          <a:ln w="10160">
            <a:solidFill>
              <a:srgbClr val="D6E0E3"/>
            </a:solidFill>
            <a:prstDash val="solid"/>
          </a:ln>
          <a:effectLst>
            <a:outerShdw sx="100000" sy="100000" kx="0" ky="0" algn="bl" rotWithShape="0" blurRad="38100" dist="12700" dir="2700000">
              <a:srgbClr val="000000">
                <a:alpha val="7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7488936" y="2971800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20" b="1" dirty="0">
                <a:solidFill>
                  <a:srgbClr val="F0654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风险分层</a:t>
            </a:r>
            <a:endParaRPr lang="en-US" sz="1220" dirty="0"/>
          </a:p>
        </p:txBody>
      </p:sp>
      <p:sp>
        <p:nvSpPr>
          <p:cNvPr id="21" name="Text 19"/>
          <p:cNvSpPr/>
          <p:nvPr/>
        </p:nvSpPr>
        <p:spPr>
          <a:xfrm>
            <a:off x="7525512" y="3429000"/>
            <a:ext cx="13898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4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known / review / unknown</a:t>
            </a:r>
            <a:endParaRPr lang="en-US" sz="940" dirty="0"/>
          </a:p>
        </p:txBody>
      </p:sp>
      <p:sp>
        <p:nvSpPr>
          <p:cNvPr id="22" name="Shape 20"/>
          <p:cNvSpPr/>
          <p:nvPr/>
        </p:nvSpPr>
        <p:spPr>
          <a:xfrm>
            <a:off x="9134856" y="3383280"/>
            <a:ext cx="365760" cy="0"/>
          </a:xfrm>
          <a:prstGeom prst="line">
            <a:avLst/>
          </a:prstGeom>
          <a:noFill/>
          <a:ln w="17780">
            <a:solidFill>
              <a:srgbClr val="64748B"/>
            </a:solidFill>
            <a:prstDash val="solid"/>
            <a:headEnd type="none"/>
            <a:tailEnd type="triangle"/>
          </a:ln>
        </p:spPr>
      </p:sp>
      <p:sp>
        <p:nvSpPr>
          <p:cNvPr id="23" name="Shape 21"/>
          <p:cNvSpPr/>
          <p:nvPr/>
        </p:nvSpPr>
        <p:spPr>
          <a:xfrm>
            <a:off x="9619488" y="2761488"/>
            <a:ext cx="1691640" cy="1261872"/>
          </a:xfrm>
          <a:prstGeom prst="roundRect">
            <a:avLst>
              <a:gd name="adj" fmla="val 3623"/>
            </a:avLst>
          </a:prstGeom>
          <a:solidFill>
            <a:srgbClr val="FFFFFF"/>
          </a:solidFill>
          <a:ln w="10160">
            <a:solidFill>
              <a:srgbClr val="D6E0E3"/>
            </a:solidFill>
            <a:prstDash val="solid"/>
          </a:ln>
          <a:effectLst>
            <a:outerShdw sx="100000" sy="100000" kx="0" ky="0" algn="bl" rotWithShape="0" blurRad="38100" dist="12700" dir="2700000">
              <a:srgbClr val="000000">
                <a:alpha val="7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9729216" y="2971800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20" b="1" dirty="0">
                <a:solidFill>
                  <a:srgbClr val="F5B84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证据包</a:t>
            </a:r>
            <a:endParaRPr lang="en-US" sz="1220" dirty="0"/>
          </a:p>
        </p:txBody>
      </p:sp>
      <p:sp>
        <p:nvSpPr>
          <p:cNvPr id="25" name="Text 23"/>
          <p:cNvSpPr/>
          <p:nvPr/>
        </p:nvSpPr>
        <p:spPr>
          <a:xfrm>
            <a:off x="9765792" y="3429000"/>
            <a:ext cx="13898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4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相似样本 / 异常子图 / 复核建议</a:t>
            </a:r>
            <a:endParaRPr lang="en-US" sz="940" dirty="0"/>
          </a:p>
        </p:txBody>
      </p:sp>
      <p:sp>
        <p:nvSpPr>
          <p:cNvPr id="26" name="Shape 24"/>
          <p:cNvSpPr/>
          <p:nvPr/>
        </p:nvSpPr>
        <p:spPr>
          <a:xfrm>
            <a:off x="713232" y="4919472"/>
            <a:ext cx="5212080" cy="841248"/>
          </a:xfrm>
          <a:prstGeom prst="roundRect">
            <a:avLst>
              <a:gd name="adj" fmla="val 5435"/>
            </a:avLst>
          </a:prstGeom>
          <a:solidFill>
            <a:srgbClr val="FFFFFF"/>
          </a:solidFill>
          <a:ln w="10160">
            <a:solidFill>
              <a:srgbClr val="D6E0E3"/>
            </a:solidFill>
            <a:prstDash val="solid"/>
          </a:ln>
          <a:effectLst>
            <a:outerShdw sx="100000" sy="100000" kx="0" ky="0" algn="bl" rotWithShape="0" blurRad="38100" dist="12700" dir="2700000">
              <a:srgbClr val="000000">
                <a:alpha val="7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713232" y="4919472"/>
            <a:ext cx="73152" cy="841248"/>
          </a:xfrm>
          <a:prstGeom prst="rect">
            <a:avLst/>
          </a:prstGeom>
          <a:solidFill>
            <a:srgbClr val="087E8B"/>
          </a:solidFill>
          <a:ln w="12700">
            <a:solidFill>
              <a:srgbClr val="087E8B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914400" y="5084064"/>
            <a:ext cx="48646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80" b="1" dirty="0">
                <a:solidFill>
                  <a:srgbClr val="10182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产品落点</a:t>
            </a:r>
            <a:endParaRPr lang="en-US" sz="1280" dirty="0"/>
          </a:p>
        </p:txBody>
      </p:sp>
      <p:sp>
        <p:nvSpPr>
          <p:cNvPr id="29" name="Text 27"/>
          <p:cNvSpPr/>
          <p:nvPr/>
        </p:nvSpPr>
        <p:spPr>
          <a:xfrm>
            <a:off x="914400" y="5340096"/>
            <a:ext cx="4864608" cy="347472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indent="0" marL="0">
              <a:buNone/>
            </a:pPr>
            <a:r>
              <a:rPr lang="en-US" sz="103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告警详情页展示：未知风险、综合不确定性、模态冲突、最近已知原型、弱证据模态、建议复核动作。</a:t>
            </a:r>
            <a:endParaRPr lang="en-US" sz="1030" dirty="0"/>
          </a:p>
        </p:txBody>
      </p:sp>
      <p:sp>
        <p:nvSpPr>
          <p:cNvPr id="30" name="Shape 28"/>
          <p:cNvSpPr/>
          <p:nvPr/>
        </p:nvSpPr>
        <p:spPr>
          <a:xfrm>
            <a:off x="6272784" y="4919472"/>
            <a:ext cx="5212080" cy="841248"/>
          </a:xfrm>
          <a:prstGeom prst="roundRect">
            <a:avLst>
              <a:gd name="adj" fmla="val 5435"/>
            </a:avLst>
          </a:prstGeom>
          <a:solidFill>
            <a:srgbClr val="FFFFFF"/>
          </a:solidFill>
          <a:ln w="10160">
            <a:solidFill>
              <a:srgbClr val="D6E0E3"/>
            </a:solidFill>
            <a:prstDash val="solid"/>
          </a:ln>
          <a:effectLst>
            <a:outerShdw sx="100000" sy="100000" kx="0" ky="0" algn="bl" rotWithShape="0" blurRad="38100" dist="12700" dir="2700000">
              <a:srgbClr val="000000">
                <a:alpha val="7000"/>
              </a:srgbClr>
            </a:outerShdw>
          </a:effectLst>
        </p:spPr>
      </p:sp>
      <p:sp>
        <p:nvSpPr>
          <p:cNvPr id="31" name="Shape 29"/>
          <p:cNvSpPr/>
          <p:nvPr/>
        </p:nvSpPr>
        <p:spPr>
          <a:xfrm>
            <a:off x="6272784" y="4919472"/>
            <a:ext cx="73152" cy="841248"/>
          </a:xfrm>
          <a:prstGeom prst="rect">
            <a:avLst/>
          </a:prstGeom>
          <a:solidFill>
            <a:srgbClr val="6C63FF"/>
          </a:solidFill>
          <a:ln w="12700">
            <a:solidFill>
              <a:srgbClr val="6C63FF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73952" y="5084064"/>
            <a:ext cx="48646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80" b="1" dirty="0">
                <a:solidFill>
                  <a:srgbClr val="10182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论文落点</a:t>
            </a:r>
            <a:endParaRPr lang="en-US" sz="1280" dirty="0"/>
          </a:p>
        </p:txBody>
      </p:sp>
      <p:sp>
        <p:nvSpPr>
          <p:cNvPr id="33" name="Text 31"/>
          <p:cNvSpPr/>
          <p:nvPr/>
        </p:nvSpPr>
        <p:spPr>
          <a:xfrm>
            <a:off x="6473952" y="5340096"/>
            <a:ext cx="4864608" cy="347472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indent="0" marL="0">
              <a:buNone/>
            </a:pPr>
            <a:r>
              <a:rPr lang="en-US" sz="103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模态缺失、模态污染、模态冲突、混合噪声标签、开放集留出、校准可信性和证据包复核实验。</a:t>
            </a:r>
            <a:endParaRPr lang="en-US" sz="1030" dirty="0"/>
          </a:p>
        </p:txBody>
      </p:sp>
      <p:sp>
        <p:nvSpPr>
          <p:cNvPr id="34" name="Text 32"/>
          <p:cNvSpPr/>
          <p:nvPr/>
        </p:nvSpPr>
        <p:spPr>
          <a:xfrm>
            <a:off x="411480" y="6510528"/>
            <a:ext cx="80467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园区全流量采集分析系统 × AI驱动网络流量检测系统 | 融合分析</a:t>
            </a:r>
            <a:endParaRPr lang="en-US" sz="850" dirty="0"/>
          </a:p>
        </p:txBody>
      </p:sp>
      <p:sp>
        <p:nvSpPr>
          <p:cNvPr id="35" name="Text 33"/>
          <p:cNvSpPr/>
          <p:nvPr/>
        </p:nvSpPr>
        <p:spPr>
          <a:xfrm>
            <a:off x="11265408" y="6446520"/>
            <a:ext cx="62179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6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87E8B"/>
          </a:solidFill>
          <a:ln w="12700">
            <a:solidFill>
              <a:srgbClr val="087E8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30352" y="292608"/>
            <a:ext cx="4023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87E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DA-FDIDS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30352" y="603504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10182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DA-FDIDS 的正确融入方式：动态少样本与跨域适配插件</a:t>
            </a:r>
            <a:endParaRPr lang="en-US" sz="2500" dirty="0"/>
          </a:p>
        </p:txBody>
      </p:sp>
      <p:sp>
        <p:nvSpPr>
          <p:cNvPr id="5" name="Shape 3"/>
          <p:cNvSpPr/>
          <p:nvPr/>
        </p:nvSpPr>
        <p:spPr>
          <a:xfrm>
            <a:off x="713232" y="1371600"/>
            <a:ext cx="347472" cy="347472"/>
          </a:xfrm>
          <a:prstGeom prst="ellipse">
            <a:avLst/>
          </a:prstGeom>
          <a:solidFill>
            <a:srgbClr val="087E8B"/>
          </a:solidFill>
          <a:ln w="12700">
            <a:solidFill>
              <a:srgbClr val="087E8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13232" y="1458468"/>
            <a:ext cx="347472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适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70432" y="1417320"/>
            <a:ext cx="3840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20" b="1" dirty="0">
                <a:solidFill>
                  <a:srgbClr val="10182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适合做什么</a:t>
            </a:r>
            <a:endParaRPr lang="en-US" sz="1120" dirty="0"/>
          </a:p>
        </p:txBody>
      </p:sp>
      <p:sp>
        <p:nvSpPr>
          <p:cNvPr id="8" name="Text 6"/>
          <p:cNvSpPr/>
          <p:nvPr/>
        </p:nvSpPr>
        <p:spPr>
          <a:xfrm>
            <a:off x="822960" y="1828800"/>
            <a:ext cx="4892040" cy="12344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165100" indent="-165100">
              <a:buSzPct val="100000"/>
              <a:buChar char="•"/>
            </a:pPr>
            <a:r>
              <a:rPr lang="en-US" sz="1120" dirty="0">
                <a:solidFill>
                  <a:srgbClr val="10182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动态图入侵检测：基于通信实体和流事件的时序关系建模。</a:t>
            </a:r>
            <a:endParaRPr lang="en-US" sz="1120" dirty="0"/>
          </a:p>
          <a:p>
            <a:pPr marL="165100" indent="-165100">
              <a:buSzPct val="100000"/>
              <a:buChar char="•"/>
            </a:pPr>
            <a:r>
              <a:rPr lang="en-US" sz="1120" dirty="0">
                <a:solidFill>
                  <a:srgbClr val="10182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少样本攻击识别：support/query episode 适配新类别或小样本攻击。</a:t>
            </a:r>
            <a:endParaRPr lang="en-US" sz="1120" dirty="0"/>
          </a:p>
          <a:p>
            <a:pPr marL="165100" indent="-165100">
              <a:buSzPct val="100000"/>
              <a:buChar char="•"/>
            </a:pPr>
            <a:r>
              <a:rPr lang="en-US" sz="1120" dirty="0">
                <a:solidFill>
                  <a:srgbClr val="10182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跨域泛化：GRL/MMD/Stable-LoRA 缓解园区、时间、协议和设备分布偏移。</a:t>
            </a:r>
            <a:endParaRPr lang="en-US" sz="1120" dirty="0"/>
          </a:p>
        </p:txBody>
      </p:sp>
      <p:sp>
        <p:nvSpPr>
          <p:cNvPr id="9" name="Shape 7"/>
          <p:cNvSpPr/>
          <p:nvPr/>
        </p:nvSpPr>
        <p:spPr>
          <a:xfrm>
            <a:off x="713232" y="3703320"/>
            <a:ext cx="347472" cy="347472"/>
          </a:xfrm>
          <a:prstGeom prst="ellipse">
            <a:avLst/>
          </a:prstGeom>
          <a:solidFill>
            <a:srgbClr val="F06543"/>
          </a:solidFill>
          <a:ln w="12700">
            <a:solidFill>
              <a:srgbClr val="F06543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13232" y="3790188"/>
            <a:ext cx="347472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1170432" y="3749040"/>
            <a:ext cx="3840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20" b="1" dirty="0">
                <a:solidFill>
                  <a:srgbClr val="10182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不应夸大什么</a:t>
            </a:r>
            <a:endParaRPr lang="en-US" sz="1120" dirty="0"/>
          </a:p>
        </p:txBody>
      </p:sp>
      <p:sp>
        <p:nvSpPr>
          <p:cNvPr id="12" name="Text 10"/>
          <p:cNvSpPr/>
          <p:nvPr/>
        </p:nvSpPr>
        <p:spPr>
          <a:xfrm>
            <a:off x="822960" y="4160520"/>
            <a:ext cx="4892040" cy="11430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165100" indent="-165100">
              <a:buSzPct val="100000"/>
              <a:buChar char="•"/>
            </a:pPr>
            <a:r>
              <a:rPr lang="en-US" sz="1120" dirty="0">
                <a:solidFill>
                  <a:srgbClr val="10182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不是完整全流量采集工程，不替代 Probe/Kafka/Flink。</a:t>
            </a:r>
            <a:endParaRPr lang="en-US" sz="1120" dirty="0"/>
          </a:p>
          <a:p>
            <a:pPr marL="165100" indent="-165100">
              <a:buSzPct val="100000"/>
              <a:buChar char="•"/>
            </a:pPr>
            <a:r>
              <a:rPr lang="en-US" sz="1120" dirty="0">
                <a:solidFill>
                  <a:srgbClr val="10182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当前更接近闭集 few-shot episode 分类，不能直接等同开放集拒识。</a:t>
            </a:r>
            <a:endParaRPr lang="en-US" sz="1120" dirty="0"/>
          </a:p>
          <a:p>
            <a:pPr marL="165100" indent="-165100">
              <a:buSzPct val="100000"/>
              <a:buChar char="•"/>
            </a:pPr>
            <a:r>
              <a:rPr lang="en-US" sz="1120" dirty="0">
                <a:solidFill>
                  <a:srgbClr val="10182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TrafficEncoder 若无真实预训练权重，不宜直接称为流量基础大模型。</a:t>
            </a:r>
            <a:endParaRPr lang="en-US" sz="1120" dirty="0"/>
          </a:p>
        </p:txBody>
      </p:sp>
      <p:sp>
        <p:nvSpPr>
          <p:cNvPr id="13" name="Shape 11"/>
          <p:cNvSpPr/>
          <p:nvPr/>
        </p:nvSpPr>
        <p:spPr>
          <a:xfrm>
            <a:off x="6446520" y="1389888"/>
            <a:ext cx="3429000" cy="384048"/>
          </a:xfrm>
          <a:prstGeom prst="roundRect">
            <a:avLst>
              <a:gd name="adj" fmla="val 9524"/>
            </a:avLst>
          </a:prstGeom>
          <a:solidFill>
            <a:srgbClr val="F4FAFA"/>
          </a:solidFill>
          <a:ln w="12700">
            <a:solidFill>
              <a:srgbClr val="D6E0E3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601968" y="1499616"/>
            <a:ext cx="41148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6C63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B0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7150608" y="1481328"/>
            <a:ext cx="242316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80" b="1" dirty="0">
                <a:solidFill>
                  <a:srgbClr val="10182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DIDS-MFL</a:t>
            </a:r>
            <a:endParaRPr lang="en-US" sz="980" dirty="0"/>
          </a:p>
        </p:txBody>
      </p:sp>
      <p:sp>
        <p:nvSpPr>
          <p:cNvPr id="16" name="Shape 14"/>
          <p:cNvSpPr/>
          <p:nvPr/>
        </p:nvSpPr>
        <p:spPr>
          <a:xfrm>
            <a:off x="6446520" y="2103120"/>
            <a:ext cx="3429000" cy="384048"/>
          </a:xfrm>
          <a:prstGeom prst="roundRect">
            <a:avLst>
              <a:gd name="adj" fmla="val 9524"/>
            </a:avLst>
          </a:prstGeom>
          <a:solidFill>
            <a:srgbClr val="F4FAFA"/>
          </a:solidFill>
          <a:ln w="12700">
            <a:solidFill>
              <a:srgbClr val="D6E0E3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601968" y="2212848"/>
            <a:ext cx="41148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6C63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B1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7150608" y="2194560"/>
            <a:ext cx="242316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80" b="1" dirty="0">
                <a:solidFill>
                  <a:srgbClr val="10182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TrafficEncoder</a:t>
            </a:r>
            <a:endParaRPr lang="en-US" sz="980" dirty="0"/>
          </a:p>
        </p:txBody>
      </p:sp>
      <p:sp>
        <p:nvSpPr>
          <p:cNvPr id="19" name="Shape 17"/>
          <p:cNvSpPr/>
          <p:nvPr/>
        </p:nvSpPr>
        <p:spPr>
          <a:xfrm>
            <a:off x="6446520" y="2816352"/>
            <a:ext cx="3429000" cy="384048"/>
          </a:xfrm>
          <a:prstGeom prst="roundRect">
            <a:avLst>
              <a:gd name="adj" fmla="val 9524"/>
            </a:avLst>
          </a:prstGeom>
          <a:solidFill>
            <a:srgbClr val="F4FAFA"/>
          </a:solidFill>
          <a:ln w="12700">
            <a:solidFill>
              <a:srgbClr val="D6E0E3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601968" y="2926080"/>
            <a:ext cx="41148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6C63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B2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7150608" y="2907792"/>
            <a:ext cx="242316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80" b="1" dirty="0">
                <a:solidFill>
                  <a:srgbClr val="10182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LoRA</a:t>
            </a:r>
            <a:endParaRPr lang="en-US" sz="980" dirty="0"/>
          </a:p>
        </p:txBody>
      </p:sp>
      <p:sp>
        <p:nvSpPr>
          <p:cNvPr id="22" name="Shape 20"/>
          <p:cNvSpPr/>
          <p:nvPr/>
        </p:nvSpPr>
        <p:spPr>
          <a:xfrm>
            <a:off x="6446520" y="3529584"/>
            <a:ext cx="3429000" cy="384048"/>
          </a:xfrm>
          <a:prstGeom prst="roundRect">
            <a:avLst>
              <a:gd name="adj" fmla="val 9524"/>
            </a:avLst>
          </a:prstGeom>
          <a:solidFill>
            <a:srgbClr val="F4FAFA"/>
          </a:solidFill>
          <a:ln w="12700">
            <a:solidFill>
              <a:srgbClr val="D6E0E3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601968" y="3639312"/>
            <a:ext cx="41148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6C63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B4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7150608" y="3621024"/>
            <a:ext cx="242316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80" b="1" dirty="0">
                <a:solidFill>
                  <a:srgbClr val="10182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GRL</a:t>
            </a:r>
            <a:endParaRPr lang="en-US" sz="980" dirty="0"/>
          </a:p>
        </p:txBody>
      </p:sp>
      <p:sp>
        <p:nvSpPr>
          <p:cNvPr id="25" name="Shape 23"/>
          <p:cNvSpPr/>
          <p:nvPr/>
        </p:nvSpPr>
        <p:spPr>
          <a:xfrm>
            <a:off x="6446520" y="4242816"/>
            <a:ext cx="3429000" cy="384048"/>
          </a:xfrm>
          <a:prstGeom prst="roundRect">
            <a:avLst>
              <a:gd name="adj" fmla="val 9524"/>
            </a:avLst>
          </a:prstGeom>
          <a:solidFill>
            <a:srgbClr val="F4FAFA"/>
          </a:solidFill>
          <a:ln w="12700">
            <a:solidFill>
              <a:srgbClr val="D6E0E3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601968" y="4352544"/>
            <a:ext cx="41148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6C63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B5</a:t>
            </a:r>
            <a:endParaRPr lang="en-US" sz="950" dirty="0"/>
          </a:p>
        </p:txBody>
      </p:sp>
      <p:sp>
        <p:nvSpPr>
          <p:cNvPr id="27" name="Text 25"/>
          <p:cNvSpPr/>
          <p:nvPr/>
        </p:nvSpPr>
        <p:spPr>
          <a:xfrm>
            <a:off x="7150608" y="4334256"/>
            <a:ext cx="242316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80" b="1" dirty="0">
                <a:solidFill>
                  <a:srgbClr val="10182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MMD</a:t>
            </a:r>
            <a:endParaRPr lang="en-US" sz="980" dirty="0"/>
          </a:p>
        </p:txBody>
      </p:sp>
      <p:sp>
        <p:nvSpPr>
          <p:cNvPr id="28" name="Shape 26"/>
          <p:cNvSpPr/>
          <p:nvPr/>
        </p:nvSpPr>
        <p:spPr>
          <a:xfrm>
            <a:off x="6446520" y="4956048"/>
            <a:ext cx="3429000" cy="384048"/>
          </a:xfrm>
          <a:prstGeom prst="roundRect">
            <a:avLst>
              <a:gd name="adj" fmla="val 9524"/>
            </a:avLst>
          </a:prstGeom>
          <a:solidFill>
            <a:srgbClr val="101820"/>
          </a:solidFill>
          <a:ln w="12700">
            <a:solidFill>
              <a:srgbClr val="10182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601968" y="5065776"/>
            <a:ext cx="41148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B7D1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B8</a:t>
            </a:r>
            <a:endParaRPr lang="en-US" sz="950" dirty="0"/>
          </a:p>
        </p:txBody>
      </p:sp>
      <p:sp>
        <p:nvSpPr>
          <p:cNvPr id="30" name="Text 28"/>
          <p:cNvSpPr/>
          <p:nvPr/>
        </p:nvSpPr>
        <p:spPr>
          <a:xfrm>
            <a:off x="7150608" y="5047488"/>
            <a:ext cx="242316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8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Full DA-FDIDS</a:t>
            </a:r>
            <a:endParaRPr lang="en-US" sz="980" dirty="0"/>
          </a:p>
        </p:txBody>
      </p:sp>
      <p:sp>
        <p:nvSpPr>
          <p:cNvPr id="31" name="Shape 29"/>
          <p:cNvSpPr/>
          <p:nvPr/>
        </p:nvSpPr>
        <p:spPr>
          <a:xfrm>
            <a:off x="6309360" y="5577840"/>
            <a:ext cx="3840480" cy="621792"/>
          </a:xfrm>
          <a:prstGeom prst="roundRect">
            <a:avLst>
              <a:gd name="adj" fmla="val 7353"/>
            </a:avLst>
          </a:prstGeom>
          <a:solidFill>
            <a:srgbClr val="FFFFFF"/>
          </a:solidFill>
          <a:ln w="10160">
            <a:solidFill>
              <a:srgbClr val="D6E0E3"/>
            </a:solidFill>
            <a:prstDash val="solid"/>
          </a:ln>
          <a:effectLst>
            <a:outerShdw sx="100000" sy="100000" kx="0" ky="0" algn="bl" rotWithShape="0" blurRad="38100" dist="12700" dir="2700000">
              <a:srgbClr val="000000">
                <a:alpha val="7000"/>
              </a:srgbClr>
            </a:outerShdw>
          </a:effectLst>
        </p:spPr>
      </p:sp>
      <p:sp>
        <p:nvSpPr>
          <p:cNvPr id="32" name="Shape 30"/>
          <p:cNvSpPr/>
          <p:nvPr/>
        </p:nvSpPr>
        <p:spPr>
          <a:xfrm>
            <a:off x="6309360" y="5577840"/>
            <a:ext cx="73152" cy="621792"/>
          </a:xfrm>
          <a:prstGeom prst="rect">
            <a:avLst/>
          </a:prstGeom>
          <a:solidFill>
            <a:srgbClr val="F06543"/>
          </a:solidFill>
          <a:ln w="12700">
            <a:solidFill>
              <a:srgbClr val="F06543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510528" y="5727070"/>
            <a:ext cx="3493008" cy="23628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80" b="1" dirty="0">
                <a:solidFill>
                  <a:srgbClr val="10182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实验门槛</a:t>
            </a:r>
            <a:endParaRPr lang="en-US" sz="1280" dirty="0"/>
          </a:p>
        </p:txBody>
      </p:sp>
      <p:sp>
        <p:nvSpPr>
          <p:cNvPr id="34" name="Text 32"/>
          <p:cNvSpPr/>
          <p:nvPr/>
        </p:nvSpPr>
        <p:spPr>
          <a:xfrm>
            <a:off x="6510528" y="5888736"/>
            <a:ext cx="3493008" cy="237744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indent="0" marL="0">
              <a:buNone/>
            </a:pPr>
            <a:r>
              <a:rPr lang="en-US" sz="102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必须补 cross-domain、host-disjoint、time-disjoint、flow-disjoint 和 B0-B8 消融，否则容易被质疑为随机划分高分。</a:t>
            </a:r>
            <a:endParaRPr lang="en-US" sz="1020" dirty="0"/>
          </a:p>
        </p:txBody>
      </p:sp>
      <p:sp>
        <p:nvSpPr>
          <p:cNvPr id="35" name="Text 33"/>
          <p:cNvSpPr/>
          <p:nvPr/>
        </p:nvSpPr>
        <p:spPr>
          <a:xfrm>
            <a:off x="411480" y="6510528"/>
            <a:ext cx="80467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园区全流量采集分析系统 × AI驱动网络流量检测系统 | 融合分析</a:t>
            </a:r>
            <a:endParaRPr lang="en-US" sz="850" dirty="0"/>
          </a:p>
        </p:txBody>
      </p:sp>
      <p:sp>
        <p:nvSpPr>
          <p:cNvPr id="36" name="Text 34"/>
          <p:cNvSpPr/>
          <p:nvPr/>
        </p:nvSpPr>
        <p:spPr>
          <a:xfrm>
            <a:off x="11265408" y="6446520"/>
            <a:ext cx="62179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6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87E8B"/>
          </a:solidFill>
          <a:ln w="12700">
            <a:solidFill>
              <a:srgbClr val="087E8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30352" y="292608"/>
            <a:ext cx="4023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87E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GRAPH FUSION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30352" y="603504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10182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多源融合：把模型分数变成攻击上下文和误报消解能力</a:t>
            </a:r>
            <a:endParaRPr lang="en-US" sz="2500" dirty="0"/>
          </a:p>
        </p:txBody>
      </p:sp>
      <p:sp>
        <p:nvSpPr>
          <p:cNvPr id="5" name="Shape 3"/>
          <p:cNvSpPr/>
          <p:nvPr/>
        </p:nvSpPr>
        <p:spPr>
          <a:xfrm>
            <a:off x="5074920" y="2468880"/>
            <a:ext cx="1463040" cy="822960"/>
          </a:xfrm>
          <a:prstGeom prst="ellipse">
            <a:avLst/>
          </a:prstGeom>
          <a:solidFill>
            <a:srgbClr val="101820"/>
          </a:solidFill>
          <a:ln w="12700">
            <a:solidFill>
              <a:srgbClr val="10182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202936" y="2761488"/>
            <a:ext cx="1207008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安全实体图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914400" y="1280160"/>
            <a:ext cx="1874520" cy="548640"/>
          </a:xfrm>
          <a:prstGeom prst="roundRect">
            <a:avLst>
              <a:gd name="adj" fmla="val 10000"/>
            </a:avLst>
          </a:prstGeom>
          <a:solidFill>
            <a:srgbClr val="087E8B"/>
          </a:solidFill>
          <a:ln w="12700">
            <a:solidFill>
              <a:srgbClr val="087E8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024128" y="1463040"/>
            <a:ext cx="164592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4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Flow/Session</a:t>
            </a:r>
            <a:endParaRPr lang="en-US" sz="1040" dirty="0"/>
          </a:p>
        </p:txBody>
      </p:sp>
      <p:sp>
        <p:nvSpPr>
          <p:cNvPr id="9" name="Shape 7"/>
          <p:cNvSpPr/>
          <p:nvPr/>
        </p:nvSpPr>
        <p:spPr>
          <a:xfrm>
            <a:off x="1847088" y="1554480"/>
            <a:ext cx="1979676" cy="0"/>
          </a:xfrm>
          <a:prstGeom prst="line">
            <a:avLst/>
          </a:prstGeom>
          <a:noFill/>
          <a:ln w="12700">
            <a:solidFill>
              <a:srgbClr val="9CA3AF">
                <a:alpha val="88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826764" y="1554480"/>
            <a:ext cx="0" cy="1325880"/>
          </a:xfrm>
          <a:prstGeom prst="line">
            <a:avLst/>
          </a:prstGeom>
          <a:noFill/>
          <a:ln w="12700">
            <a:solidFill>
              <a:srgbClr val="9CA3AF">
                <a:alpha val="88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3826764" y="2880360"/>
            <a:ext cx="1979676" cy="0"/>
          </a:xfrm>
          <a:prstGeom prst="line">
            <a:avLst/>
          </a:prstGeom>
          <a:noFill/>
          <a:ln w="12700">
            <a:solidFill>
              <a:srgbClr val="9CA3AF">
                <a:alpha val="88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120640" y="960120"/>
            <a:ext cx="1874520" cy="548640"/>
          </a:xfrm>
          <a:prstGeom prst="roundRect">
            <a:avLst>
              <a:gd name="adj" fmla="val 10000"/>
            </a:avLst>
          </a:prstGeom>
          <a:solidFill>
            <a:srgbClr val="2F6BFF"/>
          </a:solidFill>
          <a:ln w="12700">
            <a:solidFill>
              <a:srgbClr val="2F6B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230368" y="1143000"/>
            <a:ext cx="164592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4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Asset</a:t>
            </a:r>
            <a:endParaRPr lang="en-US" sz="1040" dirty="0"/>
          </a:p>
        </p:txBody>
      </p:sp>
      <p:sp>
        <p:nvSpPr>
          <p:cNvPr id="14" name="Shape 12"/>
          <p:cNvSpPr/>
          <p:nvPr/>
        </p:nvSpPr>
        <p:spPr>
          <a:xfrm>
            <a:off x="5929884" y="1234440"/>
            <a:ext cx="123444" cy="0"/>
          </a:xfrm>
          <a:prstGeom prst="line">
            <a:avLst/>
          </a:prstGeom>
          <a:noFill/>
          <a:ln w="12700">
            <a:solidFill>
              <a:srgbClr val="9CA3AF">
                <a:alpha val="8800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5929884" y="1234440"/>
            <a:ext cx="0" cy="1645920"/>
          </a:xfrm>
          <a:prstGeom prst="line">
            <a:avLst/>
          </a:prstGeom>
          <a:noFill/>
          <a:ln w="12700">
            <a:solidFill>
              <a:srgbClr val="9CA3AF">
                <a:alpha val="8800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806440" y="2880360"/>
            <a:ext cx="123444" cy="0"/>
          </a:xfrm>
          <a:prstGeom prst="line">
            <a:avLst/>
          </a:prstGeom>
          <a:noFill/>
          <a:ln w="12700">
            <a:solidFill>
              <a:srgbClr val="9CA3AF">
                <a:alpha val="8800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961120" y="1325880"/>
            <a:ext cx="1874520" cy="548640"/>
          </a:xfrm>
          <a:prstGeom prst="roundRect">
            <a:avLst>
              <a:gd name="adj" fmla="val 10000"/>
            </a:avLst>
          </a:prstGeom>
          <a:solidFill>
            <a:srgbClr val="6C63FF"/>
          </a:solidFill>
          <a:ln w="12700">
            <a:solidFill>
              <a:srgbClr val="6C63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070848" y="1508760"/>
            <a:ext cx="164592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4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Device Log</a:t>
            </a:r>
            <a:endParaRPr lang="en-US" sz="1040" dirty="0"/>
          </a:p>
        </p:txBody>
      </p:sp>
      <p:sp>
        <p:nvSpPr>
          <p:cNvPr id="19" name="Shape 17"/>
          <p:cNvSpPr/>
          <p:nvPr/>
        </p:nvSpPr>
        <p:spPr>
          <a:xfrm>
            <a:off x="7850124" y="1600200"/>
            <a:ext cx="2043684" cy="0"/>
          </a:xfrm>
          <a:prstGeom prst="line">
            <a:avLst/>
          </a:prstGeom>
          <a:noFill/>
          <a:ln w="12700">
            <a:solidFill>
              <a:srgbClr val="9CA3AF">
                <a:alpha val="8800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7850124" y="1600200"/>
            <a:ext cx="0" cy="1280160"/>
          </a:xfrm>
          <a:prstGeom prst="line">
            <a:avLst/>
          </a:prstGeom>
          <a:noFill/>
          <a:ln w="12700">
            <a:solidFill>
              <a:srgbClr val="9CA3AF">
                <a:alpha val="8800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806440" y="2880360"/>
            <a:ext cx="2043684" cy="0"/>
          </a:xfrm>
          <a:prstGeom prst="line">
            <a:avLst/>
          </a:prstGeom>
          <a:noFill/>
          <a:ln w="12700">
            <a:solidFill>
              <a:srgbClr val="9CA3AF">
                <a:alpha val="8800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9235440" y="4434840"/>
            <a:ext cx="1874520" cy="548640"/>
          </a:xfrm>
          <a:prstGeom prst="roundRect">
            <a:avLst>
              <a:gd name="adj" fmla="val 10000"/>
            </a:avLst>
          </a:prstGeom>
          <a:solidFill>
            <a:srgbClr val="F06543"/>
          </a:solidFill>
          <a:ln w="12700">
            <a:solidFill>
              <a:srgbClr val="F06543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9345168" y="4617720"/>
            <a:ext cx="164592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4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User Event</a:t>
            </a:r>
            <a:endParaRPr lang="en-US" sz="1040" dirty="0"/>
          </a:p>
        </p:txBody>
      </p:sp>
      <p:sp>
        <p:nvSpPr>
          <p:cNvPr id="24" name="Shape 22"/>
          <p:cNvSpPr/>
          <p:nvPr/>
        </p:nvSpPr>
        <p:spPr>
          <a:xfrm>
            <a:off x="7987284" y="4709160"/>
            <a:ext cx="2180844" cy="0"/>
          </a:xfrm>
          <a:prstGeom prst="line">
            <a:avLst/>
          </a:prstGeom>
          <a:noFill/>
          <a:ln w="12700">
            <a:solidFill>
              <a:srgbClr val="9CA3AF">
                <a:alpha val="8800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7987284" y="2880360"/>
            <a:ext cx="0" cy="1828800"/>
          </a:xfrm>
          <a:prstGeom prst="line">
            <a:avLst/>
          </a:prstGeom>
          <a:noFill/>
          <a:ln w="12700">
            <a:solidFill>
              <a:srgbClr val="9CA3AF">
                <a:alpha val="8800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806440" y="2880360"/>
            <a:ext cx="2180844" cy="0"/>
          </a:xfrm>
          <a:prstGeom prst="line">
            <a:avLst/>
          </a:prstGeom>
          <a:noFill/>
          <a:ln w="12700">
            <a:solidFill>
              <a:srgbClr val="9CA3AF">
                <a:alpha val="8800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120640" y="5074920"/>
            <a:ext cx="1874520" cy="548640"/>
          </a:xfrm>
          <a:prstGeom prst="roundRect">
            <a:avLst>
              <a:gd name="adj" fmla="val 10000"/>
            </a:avLst>
          </a:prstGeom>
          <a:solidFill>
            <a:srgbClr val="F5B841"/>
          </a:solidFill>
          <a:ln w="12700">
            <a:solidFill>
              <a:srgbClr val="F5B841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5230368" y="5257800"/>
            <a:ext cx="164592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4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Threat Intel</a:t>
            </a:r>
            <a:endParaRPr lang="en-US" sz="1040" dirty="0"/>
          </a:p>
        </p:txBody>
      </p:sp>
      <p:sp>
        <p:nvSpPr>
          <p:cNvPr id="29" name="Shape 27"/>
          <p:cNvSpPr/>
          <p:nvPr/>
        </p:nvSpPr>
        <p:spPr>
          <a:xfrm>
            <a:off x="5929884" y="5349240"/>
            <a:ext cx="123444" cy="0"/>
          </a:xfrm>
          <a:prstGeom prst="line">
            <a:avLst/>
          </a:prstGeom>
          <a:noFill/>
          <a:ln w="12700">
            <a:solidFill>
              <a:srgbClr val="9CA3AF">
                <a:alpha val="8800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5929884" y="2880360"/>
            <a:ext cx="0" cy="2468880"/>
          </a:xfrm>
          <a:prstGeom prst="line">
            <a:avLst/>
          </a:prstGeom>
          <a:noFill/>
          <a:ln w="12700">
            <a:solidFill>
              <a:srgbClr val="9CA3AF">
                <a:alpha val="88000"/>
              </a:srgbClr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806440" y="2880360"/>
            <a:ext cx="123444" cy="0"/>
          </a:xfrm>
          <a:prstGeom prst="line">
            <a:avLst/>
          </a:prstGeom>
          <a:noFill/>
          <a:ln w="12700">
            <a:solidFill>
              <a:srgbClr val="9CA3AF">
                <a:alpha val="88000"/>
              </a:srgbClr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914400" y="4389120"/>
            <a:ext cx="1874520" cy="548640"/>
          </a:xfrm>
          <a:prstGeom prst="roundRect">
            <a:avLst>
              <a:gd name="adj" fmla="val 10000"/>
            </a:avLst>
          </a:prstGeom>
          <a:solidFill>
            <a:srgbClr val="101820"/>
          </a:solidFill>
          <a:ln w="12700">
            <a:solidFill>
              <a:srgbClr val="10182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1024128" y="4572000"/>
            <a:ext cx="164592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4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Alert/Evidence</a:t>
            </a:r>
            <a:endParaRPr lang="en-US" sz="1040" dirty="0"/>
          </a:p>
        </p:txBody>
      </p:sp>
      <p:sp>
        <p:nvSpPr>
          <p:cNvPr id="34" name="Shape 32"/>
          <p:cNvSpPr/>
          <p:nvPr/>
        </p:nvSpPr>
        <p:spPr>
          <a:xfrm>
            <a:off x="1847088" y="4663440"/>
            <a:ext cx="1979676" cy="0"/>
          </a:xfrm>
          <a:prstGeom prst="line">
            <a:avLst/>
          </a:prstGeom>
          <a:noFill/>
          <a:ln w="12700">
            <a:solidFill>
              <a:srgbClr val="9CA3AF">
                <a:alpha val="88000"/>
              </a:srgbClr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826764" y="2880360"/>
            <a:ext cx="0" cy="1783080"/>
          </a:xfrm>
          <a:prstGeom prst="line">
            <a:avLst/>
          </a:prstGeom>
          <a:noFill/>
          <a:ln w="12700">
            <a:solidFill>
              <a:srgbClr val="9CA3AF">
                <a:alpha val="88000"/>
              </a:srgbClr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3826764" y="2880360"/>
            <a:ext cx="1979676" cy="0"/>
          </a:xfrm>
          <a:prstGeom prst="line">
            <a:avLst/>
          </a:prstGeom>
          <a:noFill/>
          <a:ln w="12700">
            <a:solidFill>
              <a:srgbClr val="9CA3AF">
                <a:alpha val="88000"/>
              </a:srgbClr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713232" y="5806440"/>
            <a:ext cx="5257800" cy="530352"/>
          </a:xfrm>
          <a:prstGeom prst="roundRect">
            <a:avLst>
              <a:gd name="adj" fmla="val 8621"/>
            </a:avLst>
          </a:prstGeom>
          <a:solidFill>
            <a:srgbClr val="FFFFFF"/>
          </a:solidFill>
          <a:ln w="10160">
            <a:solidFill>
              <a:srgbClr val="D6E0E3"/>
            </a:solidFill>
            <a:prstDash val="solid"/>
          </a:ln>
          <a:effectLst>
            <a:outerShdw sx="100000" sy="100000" kx="0" ky="0" algn="bl" rotWithShape="0" blurRad="38100" dist="12700" dir="2700000">
              <a:srgbClr val="000000">
                <a:alpha val="7000"/>
              </a:srgbClr>
            </a:outerShdw>
          </a:effectLst>
        </p:spPr>
      </p:sp>
      <p:sp>
        <p:nvSpPr>
          <p:cNvPr id="38" name="Shape 36"/>
          <p:cNvSpPr/>
          <p:nvPr/>
        </p:nvSpPr>
        <p:spPr>
          <a:xfrm>
            <a:off x="713232" y="5806440"/>
            <a:ext cx="73152" cy="530352"/>
          </a:xfrm>
          <a:prstGeom prst="rect">
            <a:avLst/>
          </a:prstGeom>
          <a:solidFill>
            <a:srgbClr val="087E8B"/>
          </a:solidFill>
          <a:ln w="12700">
            <a:solidFill>
              <a:srgbClr val="087E8B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914400" y="5933724"/>
            <a:ext cx="4910328" cy="2015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80" b="1" dirty="0">
                <a:solidFill>
                  <a:srgbClr val="10182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检测增益</a:t>
            </a:r>
            <a:endParaRPr lang="en-US" sz="1280" dirty="0"/>
          </a:p>
        </p:txBody>
      </p:sp>
      <p:sp>
        <p:nvSpPr>
          <p:cNvPr id="40" name="Text 38"/>
          <p:cNvSpPr/>
          <p:nvPr/>
        </p:nvSpPr>
        <p:spPr>
          <a:xfrm>
            <a:off x="914400" y="6071616"/>
            <a:ext cx="4910328" cy="192024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indent="0" marL="0">
              <a:buNone/>
            </a:pPr>
            <a:r>
              <a:rPr lang="en-US" sz="106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图上下文补齐单流模型看不到的资产重要性、账号行为、IOC命中、横向移动路径和历史相似告警。</a:t>
            </a:r>
            <a:endParaRPr lang="en-US" sz="1060" dirty="0"/>
          </a:p>
        </p:txBody>
      </p:sp>
      <p:sp>
        <p:nvSpPr>
          <p:cNvPr id="41" name="Shape 39"/>
          <p:cNvSpPr/>
          <p:nvPr/>
        </p:nvSpPr>
        <p:spPr>
          <a:xfrm>
            <a:off x="6291072" y="5806440"/>
            <a:ext cx="5257800" cy="530352"/>
          </a:xfrm>
          <a:prstGeom prst="roundRect">
            <a:avLst>
              <a:gd name="adj" fmla="val 8621"/>
            </a:avLst>
          </a:prstGeom>
          <a:solidFill>
            <a:srgbClr val="FFFFFF"/>
          </a:solidFill>
          <a:ln w="10160">
            <a:solidFill>
              <a:srgbClr val="D6E0E3"/>
            </a:solidFill>
            <a:prstDash val="solid"/>
          </a:ln>
          <a:effectLst>
            <a:outerShdw sx="100000" sy="100000" kx="0" ky="0" algn="bl" rotWithShape="0" blurRad="38100" dist="12700" dir="2700000">
              <a:srgbClr val="000000">
                <a:alpha val="7000"/>
              </a:srgbClr>
            </a:outerShdw>
          </a:effectLst>
        </p:spPr>
      </p:sp>
      <p:sp>
        <p:nvSpPr>
          <p:cNvPr id="42" name="Shape 40"/>
          <p:cNvSpPr/>
          <p:nvPr/>
        </p:nvSpPr>
        <p:spPr>
          <a:xfrm>
            <a:off x="6291072" y="5806440"/>
            <a:ext cx="73152" cy="530352"/>
          </a:xfrm>
          <a:prstGeom prst="rect">
            <a:avLst/>
          </a:prstGeom>
          <a:solidFill>
            <a:srgbClr val="6C63FF"/>
          </a:solidFill>
          <a:ln w="12700">
            <a:solidFill>
              <a:srgbClr val="6C63FF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6492240" y="5933724"/>
            <a:ext cx="4910328" cy="2015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80" b="1" dirty="0">
                <a:solidFill>
                  <a:srgbClr val="10182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科研切入</a:t>
            </a:r>
            <a:endParaRPr lang="en-US" sz="1280" dirty="0"/>
          </a:p>
        </p:txBody>
      </p:sp>
      <p:sp>
        <p:nvSpPr>
          <p:cNvPr id="44" name="Text 42"/>
          <p:cNvSpPr/>
          <p:nvPr/>
        </p:nvSpPr>
        <p:spPr>
          <a:xfrm>
            <a:off x="6492240" y="6071616"/>
            <a:ext cx="4910328" cy="192024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indent="0" marL="0">
              <a:buNone/>
            </a:pPr>
            <a:r>
              <a:rPr lang="en-US" sz="106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做单源/多源消融：只流量 vs 流量+资产 vs 流量+日志+用户行为+情报，量化误报下降和提前量。</a:t>
            </a:r>
            <a:endParaRPr lang="en-US" sz="1060" dirty="0"/>
          </a:p>
        </p:txBody>
      </p:sp>
      <p:sp>
        <p:nvSpPr>
          <p:cNvPr id="45" name="Text 43"/>
          <p:cNvSpPr/>
          <p:nvPr/>
        </p:nvSpPr>
        <p:spPr>
          <a:xfrm>
            <a:off x="411480" y="6510528"/>
            <a:ext cx="80467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园区全流量采集分析系统 × AI驱动网络流量检测系统 | 融合分析</a:t>
            </a:r>
            <a:endParaRPr lang="en-US" sz="850" dirty="0"/>
          </a:p>
        </p:txBody>
      </p:sp>
      <p:sp>
        <p:nvSpPr>
          <p:cNvPr id="46" name="Text 44"/>
          <p:cNvSpPr/>
          <p:nvPr/>
        </p:nvSpPr>
        <p:spPr>
          <a:xfrm>
            <a:off x="11265408" y="6446520"/>
            <a:ext cx="62179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6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87E8B"/>
          </a:solidFill>
          <a:ln w="12700">
            <a:solidFill>
              <a:srgbClr val="087E8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30352" y="292608"/>
            <a:ext cx="4023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87E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HIGH-SPEED PATH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30352" y="603504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10182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高速全流量约束：用级联检测和预算调度兼顾吞吐与精度</a:t>
            </a:r>
            <a:endParaRPr lang="en-US" sz="2500" dirty="0"/>
          </a:p>
        </p:txBody>
      </p:sp>
      <p:sp>
        <p:nvSpPr>
          <p:cNvPr id="5" name="Shape 3"/>
          <p:cNvSpPr/>
          <p:nvPr/>
        </p:nvSpPr>
        <p:spPr>
          <a:xfrm>
            <a:off x="685800" y="1965960"/>
            <a:ext cx="1874520" cy="1078992"/>
          </a:xfrm>
          <a:prstGeom prst="chevron">
            <a:avLst/>
          </a:prstGeom>
          <a:solidFill>
            <a:srgbClr val="087E8B"/>
          </a:solidFill>
          <a:ln w="12700">
            <a:solidFill>
              <a:srgbClr val="087E8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68680" y="2157984"/>
            <a:ext cx="457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L0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252728" y="2139696"/>
            <a:ext cx="93268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快速统计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914400" y="2542032"/>
            <a:ext cx="1234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2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pps/bps、包长、IAT、端口、方向</a:t>
            </a:r>
            <a:endParaRPr lang="en-US" sz="820" dirty="0"/>
          </a:p>
        </p:txBody>
      </p:sp>
      <p:sp>
        <p:nvSpPr>
          <p:cNvPr id="9" name="Shape 7"/>
          <p:cNvSpPr/>
          <p:nvPr/>
        </p:nvSpPr>
        <p:spPr>
          <a:xfrm>
            <a:off x="2953512" y="1965960"/>
            <a:ext cx="1874520" cy="1078992"/>
          </a:xfrm>
          <a:prstGeom prst="chevron">
            <a:avLst/>
          </a:prstGeom>
          <a:solidFill>
            <a:srgbClr val="2F6BFF"/>
          </a:solidFill>
          <a:ln w="12700">
            <a:solidFill>
              <a:srgbClr val="2F6B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136392" y="2157984"/>
            <a:ext cx="457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L1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3520440" y="2139696"/>
            <a:ext cx="93268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序列特征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3182112" y="2542032"/>
            <a:ext cx="1234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2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前N包长度/方向/时间间隔</a:t>
            </a:r>
            <a:endParaRPr lang="en-US" sz="820" dirty="0"/>
          </a:p>
        </p:txBody>
      </p:sp>
      <p:sp>
        <p:nvSpPr>
          <p:cNvPr id="13" name="Shape 11"/>
          <p:cNvSpPr/>
          <p:nvPr/>
        </p:nvSpPr>
        <p:spPr>
          <a:xfrm>
            <a:off x="5221224" y="1965960"/>
            <a:ext cx="1874520" cy="1078992"/>
          </a:xfrm>
          <a:prstGeom prst="chevron">
            <a:avLst/>
          </a:prstGeom>
          <a:solidFill>
            <a:srgbClr val="6C63FF"/>
          </a:solidFill>
          <a:ln w="12700">
            <a:solidFill>
              <a:srgbClr val="6C63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404104" y="2157984"/>
            <a:ext cx="457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L2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5788152" y="2139696"/>
            <a:ext cx="93268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协议指纹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5449824" y="2542032"/>
            <a:ext cx="1234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2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TLS/QUIC、JA3、SNI、证书</a:t>
            </a:r>
            <a:endParaRPr lang="en-US" sz="820" dirty="0"/>
          </a:p>
        </p:txBody>
      </p:sp>
      <p:sp>
        <p:nvSpPr>
          <p:cNvPr id="17" name="Shape 15"/>
          <p:cNvSpPr/>
          <p:nvPr/>
        </p:nvSpPr>
        <p:spPr>
          <a:xfrm>
            <a:off x="7488936" y="1965960"/>
            <a:ext cx="1874520" cy="1078992"/>
          </a:xfrm>
          <a:prstGeom prst="chevron">
            <a:avLst/>
          </a:prstGeom>
          <a:solidFill>
            <a:srgbClr val="F06543"/>
          </a:solidFill>
          <a:ln w="12700">
            <a:solidFill>
              <a:srgbClr val="F06543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671816" y="2157984"/>
            <a:ext cx="457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L3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8055864" y="2139696"/>
            <a:ext cx="93268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图关系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7717536" y="2542032"/>
            <a:ext cx="1234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2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通信邻域、资产、情报、历史告警</a:t>
            </a:r>
            <a:endParaRPr lang="en-US" sz="820" dirty="0"/>
          </a:p>
        </p:txBody>
      </p:sp>
      <p:sp>
        <p:nvSpPr>
          <p:cNvPr id="21" name="Shape 19"/>
          <p:cNvSpPr/>
          <p:nvPr/>
        </p:nvSpPr>
        <p:spPr>
          <a:xfrm>
            <a:off x="9756648" y="1965960"/>
            <a:ext cx="1874520" cy="1078992"/>
          </a:xfrm>
          <a:prstGeom prst="chevron">
            <a:avLst/>
          </a:prstGeom>
          <a:solidFill>
            <a:srgbClr val="F5B841"/>
          </a:solidFill>
          <a:ln w="12700">
            <a:solidFill>
              <a:srgbClr val="F5B841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9939528" y="2157984"/>
            <a:ext cx="457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L4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10323576" y="2139696"/>
            <a:ext cx="93268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深度证据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9985248" y="2542032"/>
            <a:ext cx="1234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2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开放集、原型、能量、不确定性</a:t>
            </a:r>
            <a:endParaRPr lang="en-US" sz="820" dirty="0"/>
          </a:p>
        </p:txBody>
      </p:sp>
      <p:sp>
        <p:nvSpPr>
          <p:cNvPr id="25" name="Shape 23"/>
          <p:cNvSpPr/>
          <p:nvPr/>
        </p:nvSpPr>
        <p:spPr>
          <a:xfrm>
            <a:off x="749808" y="4160520"/>
            <a:ext cx="5257800" cy="868680"/>
          </a:xfrm>
          <a:prstGeom prst="roundRect">
            <a:avLst>
              <a:gd name="adj" fmla="val 5263"/>
            </a:avLst>
          </a:prstGeom>
          <a:solidFill>
            <a:srgbClr val="FFFFFF"/>
          </a:solidFill>
          <a:ln w="10160">
            <a:solidFill>
              <a:srgbClr val="D6E0E3"/>
            </a:solidFill>
            <a:prstDash val="solid"/>
          </a:ln>
          <a:effectLst>
            <a:outerShdw sx="100000" sy="100000" kx="0" ky="0" algn="bl" rotWithShape="0" blurRad="38100" dist="12700" dir="2700000">
              <a:srgbClr val="000000">
                <a:alpha val="7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749808" y="4160520"/>
            <a:ext cx="73152" cy="868680"/>
          </a:xfrm>
          <a:prstGeom prst="rect">
            <a:avLst/>
          </a:prstGeom>
          <a:solidFill>
            <a:srgbClr val="087E8B"/>
          </a:solidFill>
          <a:ln w="12700">
            <a:solidFill>
              <a:srgbClr val="087E8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950976" y="4325112"/>
            <a:ext cx="49103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80" b="1" dirty="0">
                <a:solidFill>
                  <a:srgbClr val="10182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预算调度规则</a:t>
            </a:r>
            <a:endParaRPr lang="en-US" sz="1280" dirty="0"/>
          </a:p>
        </p:txBody>
      </p:sp>
      <p:sp>
        <p:nvSpPr>
          <p:cNvPr id="28" name="Text 26"/>
          <p:cNvSpPr/>
          <p:nvPr/>
        </p:nvSpPr>
        <p:spPr>
          <a:xfrm>
            <a:off x="950976" y="4594860"/>
            <a:ext cx="4910328" cy="361188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indent="0" marL="0">
              <a:buNone/>
            </a:pPr>
            <a:r>
              <a:rPr lang="en-US" sz="103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队列长度、CPU/GPU负载、Flink backpressure、Kafka lag、初筛风险和不确定性共同决定是否升级到高成本特征。</a:t>
            </a:r>
            <a:endParaRPr lang="en-US" sz="1030" dirty="0"/>
          </a:p>
        </p:txBody>
      </p:sp>
      <p:sp>
        <p:nvSpPr>
          <p:cNvPr id="29" name="Shape 27"/>
          <p:cNvSpPr/>
          <p:nvPr/>
        </p:nvSpPr>
        <p:spPr>
          <a:xfrm>
            <a:off x="6263640" y="4160520"/>
            <a:ext cx="5257800" cy="868680"/>
          </a:xfrm>
          <a:prstGeom prst="roundRect">
            <a:avLst>
              <a:gd name="adj" fmla="val 5263"/>
            </a:avLst>
          </a:prstGeom>
          <a:solidFill>
            <a:srgbClr val="FFFFFF"/>
          </a:solidFill>
          <a:ln w="10160">
            <a:solidFill>
              <a:srgbClr val="D6E0E3"/>
            </a:solidFill>
            <a:prstDash val="solid"/>
          </a:ln>
          <a:effectLst>
            <a:outerShdw sx="100000" sy="100000" kx="0" ky="0" algn="bl" rotWithShape="0" blurRad="38100" dist="12700" dir="2700000">
              <a:srgbClr val="000000">
                <a:alpha val="7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6263640" y="4160520"/>
            <a:ext cx="73152" cy="868680"/>
          </a:xfrm>
          <a:prstGeom prst="rect">
            <a:avLst/>
          </a:prstGeom>
          <a:solidFill>
            <a:srgbClr val="F06543"/>
          </a:solidFill>
          <a:ln w="12700">
            <a:solidFill>
              <a:srgbClr val="F06543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464808" y="4325112"/>
            <a:ext cx="49103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80" b="1" dirty="0">
                <a:solidFill>
                  <a:srgbClr val="10182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验收价值</a:t>
            </a:r>
            <a:endParaRPr lang="en-US" sz="1280" dirty="0"/>
          </a:p>
        </p:txBody>
      </p:sp>
      <p:sp>
        <p:nvSpPr>
          <p:cNvPr id="32" name="Text 30"/>
          <p:cNvSpPr/>
          <p:nvPr/>
        </p:nvSpPr>
        <p:spPr>
          <a:xfrm>
            <a:off x="6464808" y="4594860"/>
            <a:ext cx="4910328" cy="361188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indent="0" marL="0">
              <a:buNone/>
            </a:pPr>
            <a:r>
              <a:rPr lang="en-US" sz="103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将10×100Gbps/512Mpps能力从“所有流量跑深度模型”的不现实假设，改成可证明的线速筛查+疑似深检方案。</a:t>
            </a:r>
            <a:endParaRPr lang="en-US" sz="1030" dirty="0"/>
          </a:p>
        </p:txBody>
      </p:sp>
      <p:sp>
        <p:nvSpPr>
          <p:cNvPr id="33" name="Text 31"/>
          <p:cNvSpPr/>
          <p:nvPr/>
        </p:nvSpPr>
        <p:spPr>
          <a:xfrm>
            <a:off x="411480" y="6510528"/>
            <a:ext cx="80467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园区全流量采集分析系统 × AI驱动网络流量检测系统 | 融合分析</a:t>
            </a:r>
            <a:endParaRPr lang="en-US" sz="850" dirty="0"/>
          </a:p>
        </p:txBody>
      </p:sp>
      <p:sp>
        <p:nvSpPr>
          <p:cNvPr id="34" name="Text 32"/>
          <p:cNvSpPr/>
          <p:nvPr/>
        </p:nvSpPr>
        <p:spPr>
          <a:xfrm>
            <a:off x="11265408" y="6446520"/>
            <a:ext cx="62179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6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87E8B"/>
          </a:solidFill>
          <a:ln w="12700">
            <a:solidFill>
              <a:srgbClr val="087E8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30352" y="292608"/>
            <a:ext cx="4023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87E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PRODUCT WORKFLOW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30352" y="603504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10182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产品融合：AI检测结果要落在现有安全运营页面中</a:t>
            </a:r>
            <a:endParaRPr lang="en-US" sz="2500" dirty="0"/>
          </a:p>
        </p:txBody>
      </p:sp>
      <p:sp>
        <p:nvSpPr>
          <p:cNvPr id="5" name="Shape 3"/>
          <p:cNvSpPr/>
          <p:nvPr/>
        </p:nvSpPr>
        <p:spPr>
          <a:xfrm>
            <a:off x="676656" y="1417320"/>
            <a:ext cx="3337560" cy="1170432"/>
          </a:xfrm>
          <a:prstGeom prst="roundRect">
            <a:avLst>
              <a:gd name="adj" fmla="val 3906"/>
            </a:avLst>
          </a:prstGeom>
          <a:solidFill>
            <a:srgbClr val="FFFFFF"/>
          </a:solidFill>
          <a:ln w="10160">
            <a:solidFill>
              <a:srgbClr val="D6E0E3"/>
            </a:solidFill>
            <a:prstDash val="solid"/>
          </a:ln>
          <a:effectLst>
            <a:outerShdw sx="100000" sy="100000" kx="0" ky="0" algn="bl" rotWithShape="0" blurRad="38100" dist="12700" dir="2700000">
              <a:srgbClr val="000000">
                <a:alpha val="7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676656" y="1417320"/>
            <a:ext cx="73152" cy="1170432"/>
          </a:xfrm>
          <a:prstGeom prst="rect">
            <a:avLst/>
          </a:prstGeom>
          <a:solidFill>
            <a:srgbClr val="087E8B"/>
          </a:solidFill>
          <a:ln w="12700">
            <a:solidFill>
              <a:srgbClr val="087E8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77824" y="1581912"/>
            <a:ext cx="299008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80" b="1" dirty="0">
                <a:solidFill>
                  <a:srgbClr val="10182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综合态势</a:t>
            </a:r>
            <a:endParaRPr lang="en-US" sz="1280" dirty="0"/>
          </a:p>
        </p:txBody>
      </p:sp>
      <p:sp>
        <p:nvSpPr>
          <p:cNvPr id="8" name="Text 6"/>
          <p:cNvSpPr/>
          <p:nvPr/>
        </p:nvSpPr>
        <p:spPr>
          <a:xfrm>
            <a:off x="877824" y="1920240"/>
            <a:ext cx="2990088" cy="59436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indent="0" marL="0">
              <a:buNone/>
            </a:pPr>
            <a:r>
              <a:rPr lang="en-US" sz="98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展示未知风险趋势、模型健康、证据完整度</a:t>
            </a:r>
            <a:endParaRPr lang="en-US" sz="980" dirty="0"/>
          </a:p>
        </p:txBody>
      </p:sp>
      <p:sp>
        <p:nvSpPr>
          <p:cNvPr id="9" name="Shape 7"/>
          <p:cNvSpPr/>
          <p:nvPr/>
        </p:nvSpPr>
        <p:spPr>
          <a:xfrm>
            <a:off x="4471416" y="1417320"/>
            <a:ext cx="3337560" cy="1170432"/>
          </a:xfrm>
          <a:prstGeom prst="roundRect">
            <a:avLst>
              <a:gd name="adj" fmla="val 3906"/>
            </a:avLst>
          </a:prstGeom>
          <a:solidFill>
            <a:srgbClr val="FFFFFF"/>
          </a:solidFill>
          <a:ln w="10160">
            <a:solidFill>
              <a:srgbClr val="D6E0E3"/>
            </a:solidFill>
            <a:prstDash val="solid"/>
          </a:ln>
          <a:effectLst>
            <a:outerShdw sx="100000" sy="100000" kx="0" ky="0" algn="bl" rotWithShape="0" blurRad="38100" dist="12700" dir="2700000">
              <a:srgbClr val="000000">
                <a:alpha val="7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471416" y="1417320"/>
            <a:ext cx="73152" cy="1170432"/>
          </a:xfrm>
          <a:prstGeom prst="rect">
            <a:avLst/>
          </a:prstGeom>
          <a:solidFill>
            <a:srgbClr val="6C63FF"/>
          </a:solidFill>
          <a:ln w="12700">
            <a:solidFill>
              <a:srgbClr val="6C63F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672584" y="1581912"/>
            <a:ext cx="299008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80" b="1" dirty="0">
                <a:solidFill>
                  <a:srgbClr val="10182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加密流量</a:t>
            </a:r>
            <a:endParaRPr lang="en-US" sz="1280" dirty="0"/>
          </a:p>
        </p:txBody>
      </p:sp>
      <p:sp>
        <p:nvSpPr>
          <p:cNvPr id="12" name="Text 10"/>
          <p:cNvSpPr/>
          <p:nvPr/>
        </p:nvSpPr>
        <p:spPr>
          <a:xfrm>
            <a:off x="4672584" y="1920240"/>
            <a:ext cx="2990088" cy="59436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indent="0" marL="0">
              <a:buNone/>
            </a:pPr>
            <a:r>
              <a:rPr lang="en-US" sz="98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查看TLS/QUIC指纹、异常外联、开放集风险</a:t>
            </a:r>
            <a:endParaRPr lang="en-US" sz="980" dirty="0"/>
          </a:p>
        </p:txBody>
      </p:sp>
      <p:sp>
        <p:nvSpPr>
          <p:cNvPr id="13" name="Shape 11"/>
          <p:cNvSpPr/>
          <p:nvPr/>
        </p:nvSpPr>
        <p:spPr>
          <a:xfrm>
            <a:off x="8266176" y="1417320"/>
            <a:ext cx="3337560" cy="1170432"/>
          </a:xfrm>
          <a:prstGeom prst="roundRect">
            <a:avLst>
              <a:gd name="adj" fmla="val 3906"/>
            </a:avLst>
          </a:prstGeom>
          <a:solidFill>
            <a:srgbClr val="FFFFFF"/>
          </a:solidFill>
          <a:ln w="10160">
            <a:solidFill>
              <a:srgbClr val="D6E0E3"/>
            </a:solidFill>
            <a:prstDash val="solid"/>
          </a:ln>
          <a:effectLst>
            <a:outerShdw sx="100000" sy="100000" kx="0" ky="0" algn="bl" rotWithShape="0" blurRad="38100" dist="12700" dir="2700000">
              <a:srgbClr val="000000">
                <a:alpha val="7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8266176" y="1417320"/>
            <a:ext cx="73152" cy="1170432"/>
          </a:xfrm>
          <a:prstGeom prst="rect">
            <a:avLst/>
          </a:prstGeom>
          <a:solidFill>
            <a:srgbClr val="F06543"/>
          </a:solidFill>
          <a:ln w="12700">
            <a:solidFill>
              <a:srgbClr val="F06543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467344" y="1581912"/>
            <a:ext cx="299008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80" b="1" dirty="0">
                <a:solidFill>
                  <a:srgbClr val="10182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告警中心</a:t>
            </a:r>
            <a:endParaRPr lang="en-US" sz="1280" dirty="0"/>
          </a:p>
        </p:txBody>
      </p:sp>
      <p:sp>
        <p:nvSpPr>
          <p:cNvPr id="16" name="Text 14"/>
          <p:cNvSpPr/>
          <p:nvPr/>
        </p:nvSpPr>
        <p:spPr>
          <a:xfrm>
            <a:off x="8467344" y="1920240"/>
            <a:ext cx="2990088" cy="59436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indent="0" marL="0">
              <a:buNone/>
            </a:pPr>
            <a:r>
              <a:rPr lang="en-US" sz="98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按known/review/unknown分层研判和反馈</a:t>
            </a:r>
            <a:endParaRPr lang="en-US" sz="980" dirty="0"/>
          </a:p>
        </p:txBody>
      </p:sp>
      <p:sp>
        <p:nvSpPr>
          <p:cNvPr id="17" name="Shape 15"/>
          <p:cNvSpPr/>
          <p:nvPr/>
        </p:nvSpPr>
        <p:spPr>
          <a:xfrm>
            <a:off x="676656" y="3291840"/>
            <a:ext cx="3337560" cy="1170432"/>
          </a:xfrm>
          <a:prstGeom prst="roundRect">
            <a:avLst>
              <a:gd name="adj" fmla="val 3906"/>
            </a:avLst>
          </a:prstGeom>
          <a:solidFill>
            <a:srgbClr val="FFFFFF"/>
          </a:solidFill>
          <a:ln w="10160">
            <a:solidFill>
              <a:srgbClr val="D6E0E3"/>
            </a:solidFill>
            <a:prstDash val="solid"/>
          </a:ln>
          <a:effectLst>
            <a:outerShdw sx="100000" sy="100000" kx="0" ky="0" algn="bl" rotWithShape="0" blurRad="38100" dist="12700" dir="2700000">
              <a:srgbClr val="000000">
                <a:alpha val="7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676656" y="3291840"/>
            <a:ext cx="73152" cy="1170432"/>
          </a:xfrm>
          <a:prstGeom prst="rect">
            <a:avLst/>
          </a:prstGeom>
          <a:solidFill>
            <a:srgbClr val="2F6BFF"/>
          </a:solidFill>
          <a:ln w="12700">
            <a:solidFill>
              <a:srgbClr val="2F6BF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77824" y="3456432"/>
            <a:ext cx="299008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80" b="1" dirty="0">
                <a:solidFill>
                  <a:srgbClr val="10182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取证分析</a:t>
            </a:r>
            <a:endParaRPr lang="en-US" sz="1280" dirty="0"/>
          </a:p>
        </p:txBody>
      </p:sp>
      <p:sp>
        <p:nvSpPr>
          <p:cNvPr id="20" name="Text 18"/>
          <p:cNvSpPr/>
          <p:nvPr/>
        </p:nvSpPr>
        <p:spPr>
          <a:xfrm>
            <a:off x="877824" y="3794760"/>
            <a:ext cx="2990088" cy="59436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indent="0" marL="0">
              <a:buNone/>
            </a:pPr>
            <a:r>
              <a:rPr lang="en-US" sz="98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PCAP、Session、证据hash、相似样本</a:t>
            </a:r>
            <a:endParaRPr lang="en-US" sz="980" dirty="0"/>
          </a:p>
        </p:txBody>
      </p:sp>
      <p:sp>
        <p:nvSpPr>
          <p:cNvPr id="21" name="Shape 19"/>
          <p:cNvSpPr/>
          <p:nvPr/>
        </p:nvSpPr>
        <p:spPr>
          <a:xfrm>
            <a:off x="4471416" y="3291840"/>
            <a:ext cx="3337560" cy="1170432"/>
          </a:xfrm>
          <a:prstGeom prst="roundRect">
            <a:avLst>
              <a:gd name="adj" fmla="val 3906"/>
            </a:avLst>
          </a:prstGeom>
          <a:solidFill>
            <a:srgbClr val="FFFFFF"/>
          </a:solidFill>
          <a:ln w="10160">
            <a:solidFill>
              <a:srgbClr val="D6E0E3"/>
            </a:solidFill>
            <a:prstDash val="solid"/>
          </a:ln>
          <a:effectLst>
            <a:outerShdw sx="100000" sy="100000" kx="0" ky="0" algn="bl" rotWithShape="0" blurRad="38100" dist="12700" dir="2700000">
              <a:srgbClr val="000000">
                <a:alpha val="7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4471416" y="3291840"/>
            <a:ext cx="73152" cy="1170432"/>
          </a:xfrm>
          <a:prstGeom prst="rect">
            <a:avLst/>
          </a:prstGeom>
          <a:solidFill>
            <a:srgbClr val="F5B841"/>
          </a:solidFill>
          <a:ln w="12700">
            <a:solidFill>
              <a:srgbClr val="F5B84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672584" y="3456432"/>
            <a:ext cx="299008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80" b="1" dirty="0">
                <a:solidFill>
                  <a:srgbClr val="10182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模型管理</a:t>
            </a:r>
            <a:endParaRPr lang="en-US" sz="1280" dirty="0"/>
          </a:p>
        </p:txBody>
      </p:sp>
      <p:sp>
        <p:nvSpPr>
          <p:cNvPr id="24" name="Text 22"/>
          <p:cNvSpPr/>
          <p:nvPr/>
        </p:nvSpPr>
        <p:spPr>
          <a:xfrm>
            <a:off x="4672584" y="3794760"/>
            <a:ext cx="2990088" cy="59436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indent="0" marL="0">
              <a:buNone/>
            </a:pPr>
            <a:r>
              <a:rPr lang="en-US" sz="98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版本、阈值、指标、激活、回滚</a:t>
            </a:r>
            <a:endParaRPr lang="en-US" sz="980" dirty="0"/>
          </a:p>
        </p:txBody>
      </p:sp>
      <p:sp>
        <p:nvSpPr>
          <p:cNvPr id="25" name="Shape 23"/>
          <p:cNvSpPr/>
          <p:nvPr/>
        </p:nvSpPr>
        <p:spPr>
          <a:xfrm>
            <a:off x="8266176" y="3291840"/>
            <a:ext cx="3337560" cy="1170432"/>
          </a:xfrm>
          <a:prstGeom prst="roundRect">
            <a:avLst>
              <a:gd name="adj" fmla="val 3906"/>
            </a:avLst>
          </a:prstGeom>
          <a:solidFill>
            <a:srgbClr val="FFFFFF"/>
          </a:solidFill>
          <a:ln w="10160">
            <a:solidFill>
              <a:srgbClr val="D6E0E3"/>
            </a:solidFill>
            <a:prstDash val="solid"/>
          </a:ln>
          <a:effectLst>
            <a:outerShdw sx="100000" sy="100000" kx="0" ky="0" algn="bl" rotWithShape="0" blurRad="38100" dist="12700" dir="2700000">
              <a:srgbClr val="000000">
                <a:alpha val="7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8266176" y="3291840"/>
            <a:ext cx="73152" cy="1170432"/>
          </a:xfrm>
          <a:prstGeom prst="rect">
            <a:avLst/>
          </a:prstGeom>
          <a:solidFill>
            <a:srgbClr val="101820"/>
          </a:solidFill>
          <a:ln w="12700">
            <a:solidFill>
              <a:srgbClr val="10182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8467344" y="3456432"/>
            <a:ext cx="299008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80" b="1" dirty="0">
                <a:solidFill>
                  <a:srgbClr val="10182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MLOps编排</a:t>
            </a:r>
            <a:endParaRPr lang="en-US" sz="1280" dirty="0"/>
          </a:p>
        </p:txBody>
      </p:sp>
      <p:sp>
        <p:nvSpPr>
          <p:cNvPr id="28" name="Text 26"/>
          <p:cNvSpPr/>
          <p:nvPr/>
        </p:nvSpPr>
        <p:spPr>
          <a:xfrm>
            <a:off x="8467344" y="3794760"/>
            <a:ext cx="2990088" cy="59436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indent="0" marL="0">
              <a:buNone/>
            </a:pPr>
            <a:r>
              <a:rPr lang="en-US" sz="98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标注、训练、盲测、注册、发布</a:t>
            </a:r>
            <a:endParaRPr lang="en-US" sz="980" dirty="0"/>
          </a:p>
        </p:txBody>
      </p:sp>
      <p:sp>
        <p:nvSpPr>
          <p:cNvPr id="29" name="Shape 27"/>
          <p:cNvSpPr/>
          <p:nvPr/>
        </p:nvSpPr>
        <p:spPr>
          <a:xfrm>
            <a:off x="868680" y="5669280"/>
            <a:ext cx="10314432" cy="420624"/>
          </a:xfrm>
          <a:prstGeom prst="roundRect">
            <a:avLst>
              <a:gd name="adj" fmla="val 8696"/>
            </a:avLst>
          </a:prstGeom>
          <a:solidFill>
            <a:srgbClr val="EAF7F5"/>
          </a:solidFill>
          <a:ln w="12700">
            <a:solidFill>
              <a:srgbClr val="B6DFDA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1051560" y="5806440"/>
            <a:ext cx="996696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60" b="1" dirty="0">
                <a:solidFill>
                  <a:srgbClr val="10182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页面原则：不新增孤立“AI演示页”，而是在告警、取证、图谱、模型和MLOps页面中呈现可操作、可审计、可反馈的AI结果。</a:t>
            </a:r>
            <a:endParaRPr lang="en-US" sz="1060" dirty="0"/>
          </a:p>
        </p:txBody>
      </p:sp>
      <p:sp>
        <p:nvSpPr>
          <p:cNvPr id="31" name="Text 29"/>
          <p:cNvSpPr/>
          <p:nvPr/>
        </p:nvSpPr>
        <p:spPr>
          <a:xfrm>
            <a:off x="411480" y="6510528"/>
            <a:ext cx="80467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园区全流量采集分析系统 × AI驱动网络流量检测系统 | 融合分析</a:t>
            </a:r>
            <a:endParaRPr lang="en-US" sz="850" dirty="0"/>
          </a:p>
        </p:txBody>
      </p:sp>
      <p:sp>
        <p:nvSpPr>
          <p:cNvPr id="32" name="Text 30"/>
          <p:cNvSpPr/>
          <p:nvPr/>
        </p:nvSpPr>
        <p:spPr>
          <a:xfrm>
            <a:off x="11265408" y="6446520"/>
            <a:ext cx="62179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14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6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87E8B"/>
          </a:solidFill>
          <a:ln w="12700">
            <a:solidFill>
              <a:srgbClr val="087E8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30352" y="292608"/>
            <a:ext cx="4023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87E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ACCEPTANCE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30352" y="603504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10182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验收融合：科研指标必须落到平台证据包和第三方盲测</a:t>
            </a:r>
            <a:endParaRPr lang="en-US" sz="250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58368" y="1325880"/>
          <a:ext cx="10844784" cy="4297680"/>
        </p:xfrm>
        <a:graphic>
          <a:graphicData uri="http://schemas.openxmlformats.org/drawingml/2006/table">
            <a:tbl>
              <a:tblPr/>
              <a:tblGrid>
                <a:gridCol w="1920240"/>
                <a:gridCol w="1325880"/>
                <a:gridCol w="7598664"/>
              </a:tblGrid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2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门禁项</a:t>
                      </a:r>
                      <a:endParaRPr lang="en-US" sz="9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3152" marR="73152" marT="73152" marB="73152" anchor="mid">
                    <a:lnL w="7620" cap="flat" cmpd="sng" algn="ctr">
                      <a:solidFill>
                        <a:srgbClr val="D6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6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6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6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82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2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状态</a:t>
                      </a:r>
                      <a:endParaRPr lang="en-US" sz="9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3152" marR="73152" marT="73152" marB="73152" anchor="mid">
                    <a:lnL w="7620" cap="flat" cmpd="sng" algn="ctr">
                      <a:solidFill>
                        <a:srgbClr val="D6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6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6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6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82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2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融合后的证据要求</a:t>
                      </a:r>
                      <a:endParaRPr lang="en-US" sz="9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3152" marR="73152" marT="73152" marB="73152" anchor="mid">
                    <a:lnL w="7620" cap="flat" cmpd="sng" algn="ctr">
                      <a:solidFill>
                        <a:srgbClr val="D6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6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6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6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820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20" b="1" dirty="0">
                          <a:solidFill>
                            <a:srgbClr val="10182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功能主链路</a:t>
                      </a:r>
                      <a:endParaRPr lang="en-US" sz="9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3152" marR="73152" marT="73152" marB="73152" anchor="mid">
                    <a:lnL w="7620" cap="flat" cmpd="sng" algn="ctr">
                      <a:solidFill>
                        <a:srgbClr val="D6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6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6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6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20" b="1" dirty="0">
                          <a:solidFill>
                            <a:srgbClr val="087E8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已较强</a:t>
                      </a:r>
                      <a:endParaRPr lang="en-US" sz="9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3152" marR="73152" marT="73152" marB="73152" anchor="mid">
                    <a:lnL w="7620" cap="flat" cmpd="sng" algn="ctr">
                      <a:solidFill>
                        <a:srgbClr val="D6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6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6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6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20" dirty="0">
                          <a:solidFill>
                            <a:srgbClr val="64748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Probe/Kafka/Flink/API/UI真实链路、PCAP下载、反馈、MLOps</a:t>
                      </a:r>
                      <a:endParaRPr lang="en-US" sz="9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3152" marR="73152" marT="73152" marB="73152" anchor="mid">
                    <a:lnL w="7620" cap="flat" cmpd="sng" algn="ctr">
                      <a:solidFill>
                        <a:srgbClr val="D6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6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6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6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20" b="1" dirty="0">
                          <a:solidFill>
                            <a:srgbClr val="10182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P95 &lt;= 60s</a:t>
                      </a:r>
                      <a:endParaRPr lang="en-US" sz="9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3152" marR="73152" marT="73152" marB="73152" anchor="mid">
                    <a:lnL w="7620" cap="flat" cmpd="sng" algn="ctr">
                      <a:solidFill>
                        <a:srgbClr val="D6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6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6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6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20" b="1" dirty="0">
                          <a:solidFill>
                            <a:srgbClr val="087E8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已闭环</a:t>
                      </a:r>
                      <a:endParaRPr lang="en-US" sz="9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3152" marR="73152" marT="73152" marB="73152" anchor="mid">
                    <a:lnL w="7620" cap="flat" cmpd="sng" algn="ctr">
                      <a:solidFill>
                        <a:srgbClr val="D6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6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6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6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20" dirty="0">
                          <a:solidFill>
                            <a:srgbClr val="64748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事件时间链、API/UI seen 时间、分段P95</a:t>
                      </a:r>
                      <a:endParaRPr lang="en-US" sz="9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3152" marR="73152" marT="73152" marB="73152" anchor="mid">
                    <a:lnL w="7620" cap="flat" cmpd="sng" algn="ctr">
                      <a:solidFill>
                        <a:srgbClr val="D6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6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6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6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20" b="1" dirty="0">
                          <a:solidFill>
                            <a:srgbClr val="10182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95%/5%</a:t>
                      </a:r>
                      <a:endParaRPr lang="en-US" sz="9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3152" marR="73152" marT="73152" marB="73152" anchor="mid">
                    <a:lnL w="7620" cap="flat" cmpd="sng" algn="ctr">
                      <a:solidFill>
                        <a:srgbClr val="D6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6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6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6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20" b="1" dirty="0">
                          <a:solidFill>
                            <a:srgbClr val="F0654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未闭环</a:t>
                      </a:r>
                      <a:endParaRPr lang="en-US" sz="9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3152" marR="73152" marT="73152" marB="73152" anchor="mid">
                    <a:lnL w="7620" cap="flat" cmpd="sng" algn="ctr">
                      <a:solidFill>
                        <a:srgbClr val="D6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6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6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6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20" dirty="0">
                          <a:solidFill>
                            <a:srgbClr val="64748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需冻结样本、阈值锁、labels/predictions、第三方签认</a:t>
                      </a:r>
                      <a:endParaRPr lang="en-US" sz="9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3152" marR="73152" marT="73152" marB="73152" anchor="mid">
                    <a:lnL w="7620" cap="flat" cmpd="sng" algn="ctr">
                      <a:solidFill>
                        <a:srgbClr val="D6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6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6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6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20" b="1" dirty="0">
                          <a:solidFill>
                            <a:srgbClr val="10182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Unknown Recall</a:t>
                      </a:r>
                      <a:endParaRPr lang="en-US" sz="9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3152" marR="73152" marT="73152" marB="73152" anchor="mid">
                    <a:lnL w="7620" cap="flat" cmpd="sng" algn="ctr">
                      <a:solidFill>
                        <a:srgbClr val="D6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6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6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6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20" b="1" dirty="0">
                          <a:solidFill>
                            <a:srgbClr val="F0654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未闭环</a:t>
                      </a:r>
                      <a:endParaRPr lang="en-US" sz="9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3152" marR="73152" marT="73152" marB="73152" anchor="mid">
                    <a:lnL w="7620" cap="flat" cmpd="sng" algn="ctr">
                      <a:solidFill>
                        <a:srgbClr val="D6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6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6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6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20" dirty="0">
                          <a:solidFill>
                            <a:srgbClr val="64748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开放集留出、未知攻击样本、OSCR/FPR@95TPR</a:t>
                      </a:r>
                      <a:endParaRPr lang="en-US" sz="9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3152" marR="73152" marT="73152" marB="73152" anchor="mid">
                    <a:lnL w="7620" cap="flat" cmpd="sng" algn="ctr">
                      <a:solidFill>
                        <a:srgbClr val="D6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6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6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6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20" b="1" dirty="0">
                          <a:solidFill>
                            <a:srgbClr val="10182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100G/512Mpps</a:t>
                      </a:r>
                      <a:endParaRPr lang="en-US" sz="9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3152" marR="73152" marT="73152" marB="73152" anchor="mid">
                    <a:lnL w="7620" cap="flat" cmpd="sng" algn="ctr">
                      <a:solidFill>
                        <a:srgbClr val="D6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6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6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6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20" b="1" dirty="0">
                          <a:solidFill>
                            <a:srgbClr val="F0654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未闭环</a:t>
                      </a:r>
                      <a:endParaRPr lang="en-US" sz="9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3152" marR="73152" marT="73152" marB="73152" anchor="mid">
                    <a:lnL w="7620" cap="flat" cmpd="sng" algn="ctr">
                      <a:solidFill>
                        <a:srgbClr val="D6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6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6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6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20" dirty="0">
                          <a:solidFill>
                            <a:srgbClr val="64748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硬件窗口、流量profile、资源水位、丢包/Kafka lag</a:t>
                      </a:r>
                      <a:endParaRPr lang="en-US" sz="9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3152" marR="73152" marT="73152" marB="73152" anchor="mid">
                    <a:lnL w="7620" cap="flat" cmpd="sng" algn="ctr">
                      <a:solidFill>
                        <a:srgbClr val="D6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6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6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6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20" b="1" dirty="0">
                          <a:solidFill>
                            <a:srgbClr val="10182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多源融合价值</a:t>
                      </a:r>
                      <a:endParaRPr lang="en-US" sz="9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3152" marR="73152" marT="73152" marB="73152" anchor="mid">
                    <a:lnL w="7620" cap="flat" cmpd="sng" algn="ctr">
                      <a:solidFill>
                        <a:srgbClr val="D6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6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6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6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20" b="1" dirty="0">
                          <a:solidFill>
                            <a:srgbClr val="087E8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结构门通过</a:t>
                      </a:r>
                      <a:endParaRPr lang="en-US" sz="9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3152" marR="73152" marT="73152" marB="73152" anchor="mid">
                    <a:lnL w="7620" cap="flat" cmpd="sng" algn="ctr">
                      <a:solidFill>
                        <a:srgbClr val="D6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6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6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6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20" dirty="0">
                          <a:solidFill>
                            <a:srgbClr val="64748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仍需真实消融、误报下降、MTTR下降、试点签认</a:t>
                      </a:r>
                      <a:endParaRPr lang="en-US" sz="9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3152" marR="73152" marT="73152" marB="73152" anchor="mid">
                    <a:lnL w="7620" cap="flat" cmpd="sng" algn="ctr">
                      <a:solidFill>
                        <a:srgbClr val="D6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6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6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6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841248" y="5870448"/>
            <a:ext cx="1024128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0160">
            <a:solidFill>
              <a:srgbClr val="D6E0E3"/>
            </a:solidFill>
            <a:prstDash val="solid"/>
          </a:ln>
          <a:effectLst>
            <a:outerShdw sx="100000" sy="100000" kx="0" ky="0" algn="bl" rotWithShape="0" blurRad="38100" dist="12700" dir="2700000">
              <a:srgbClr val="000000">
                <a:alpha val="7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841248" y="5870448"/>
            <a:ext cx="73152" cy="457200"/>
          </a:xfrm>
          <a:prstGeom prst="rect">
            <a:avLst/>
          </a:prstGeom>
          <a:solidFill>
            <a:srgbClr val="F06543"/>
          </a:solidFill>
          <a:ln w="12700">
            <a:solidFill>
              <a:srgbClr val="F06543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1042416" y="5980176"/>
            <a:ext cx="989380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80" b="1" dirty="0">
                <a:solidFill>
                  <a:srgbClr val="10182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关键结论</a:t>
            </a:r>
            <a:endParaRPr lang="en-US" sz="1280" dirty="0"/>
          </a:p>
        </p:txBody>
      </p:sp>
      <p:sp>
        <p:nvSpPr>
          <p:cNvPr id="9" name="Text 6"/>
          <p:cNvSpPr/>
          <p:nvPr/>
        </p:nvSpPr>
        <p:spPr>
          <a:xfrm>
            <a:off x="1042416" y="6099048"/>
            <a:ext cx="9893808" cy="155448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AI模型不能只报告训练集Accuracy；必须进入冻结盲测包，按Detection rate、FPR、Unknown recall、置信区间和第三方签认闭环。</a:t>
            </a:r>
            <a:endParaRPr lang="en-US" sz="1050" dirty="0"/>
          </a:p>
        </p:txBody>
      </p:sp>
      <p:sp>
        <p:nvSpPr>
          <p:cNvPr id="10" name="Text 7"/>
          <p:cNvSpPr/>
          <p:nvPr/>
        </p:nvSpPr>
        <p:spPr>
          <a:xfrm>
            <a:off x="411480" y="6510528"/>
            <a:ext cx="80467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园区全流量采集分析系统 × AI驱动网络流量检测系统 | 融合分析</a:t>
            </a:r>
            <a:endParaRPr lang="en-US" sz="850" dirty="0"/>
          </a:p>
        </p:txBody>
      </p:sp>
      <p:sp>
        <p:nvSpPr>
          <p:cNvPr id="11" name="Text 8"/>
          <p:cNvSpPr/>
          <p:nvPr/>
        </p:nvSpPr>
        <p:spPr>
          <a:xfrm>
            <a:off x="11265408" y="6446520"/>
            <a:ext cx="62179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15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6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87E8B"/>
          </a:solidFill>
          <a:ln w="12700">
            <a:solidFill>
              <a:srgbClr val="087E8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30352" y="292608"/>
            <a:ext cx="4023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87E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ROADMAP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30352" y="603504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10182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实施路线：先打通最小可信闭环，再扩展图融合与高速预算</a:t>
            </a:r>
            <a:endParaRPr lang="en-US" sz="2500" dirty="0"/>
          </a:p>
        </p:txBody>
      </p:sp>
      <p:sp>
        <p:nvSpPr>
          <p:cNvPr id="5" name="Shape 3"/>
          <p:cNvSpPr/>
          <p:nvPr/>
        </p:nvSpPr>
        <p:spPr>
          <a:xfrm>
            <a:off x="621792" y="1508760"/>
            <a:ext cx="1874520" cy="4160520"/>
          </a:xfrm>
          <a:prstGeom prst="roundRect">
            <a:avLst>
              <a:gd name="adj" fmla="val 2439"/>
            </a:avLst>
          </a:prstGeom>
          <a:solidFill>
            <a:srgbClr val="FFFFFF"/>
          </a:solidFill>
          <a:ln w="12700">
            <a:solidFill>
              <a:srgbClr val="D6E0E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86384" y="1764792"/>
            <a:ext cx="548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87E8B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M1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554480" y="1819656"/>
            <a:ext cx="69494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8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2周</a:t>
            </a:r>
            <a:endParaRPr lang="en-US" sz="880" dirty="0"/>
          </a:p>
        </p:txBody>
      </p:sp>
      <p:sp>
        <p:nvSpPr>
          <p:cNvPr id="8" name="Text 6"/>
          <p:cNvSpPr/>
          <p:nvPr/>
        </p:nvSpPr>
        <p:spPr>
          <a:xfrm>
            <a:off x="786384" y="2359152"/>
            <a:ext cx="14813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0182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特征契约对齐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786384" y="2926080"/>
            <a:ext cx="1481328" cy="1170432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indent="0" marL="0">
              <a:buNone/>
            </a:pPr>
            <a:r>
              <a:rPr lang="en-US" sz="93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确认FeatureStat/Seq/Fingerprint字段；设计Detection扩展与Evidence metrics_json。</a:t>
            </a:r>
            <a:endParaRPr lang="en-US" sz="930" dirty="0"/>
          </a:p>
        </p:txBody>
      </p:sp>
      <p:sp>
        <p:nvSpPr>
          <p:cNvPr id="10" name="Shape 8"/>
          <p:cNvSpPr/>
          <p:nvPr/>
        </p:nvSpPr>
        <p:spPr>
          <a:xfrm>
            <a:off x="2926080" y="1508760"/>
            <a:ext cx="1874520" cy="4160520"/>
          </a:xfrm>
          <a:prstGeom prst="roundRect">
            <a:avLst>
              <a:gd name="adj" fmla="val 2439"/>
            </a:avLst>
          </a:prstGeom>
          <a:solidFill>
            <a:srgbClr val="F4FAFA"/>
          </a:solidFill>
          <a:ln w="12700">
            <a:solidFill>
              <a:srgbClr val="D6E0E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090672" y="1764792"/>
            <a:ext cx="548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F6B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M2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3858768" y="1819656"/>
            <a:ext cx="69494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8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4周</a:t>
            </a:r>
            <a:endParaRPr lang="en-US" sz="880" dirty="0"/>
          </a:p>
        </p:txBody>
      </p:sp>
      <p:sp>
        <p:nvSpPr>
          <p:cNvPr id="13" name="Text 11"/>
          <p:cNvSpPr/>
          <p:nvPr/>
        </p:nvSpPr>
        <p:spPr>
          <a:xfrm>
            <a:off x="3090672" y="2359152"/>
            <a:ext cx="14813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0182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Evidence-OpenEMTD MVP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3090672" y="2926080"/>
            <a:ext cx="1481328" cy="1170432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indent="0" marL="0">
              <a:buNone/>
            </a:pPr>
            <a:r>
              <a:rPr lang="en-US" sz="93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三模态evidence、uncertainty、conflict、unknown_risk；离线盲测脚本。</a:t>
            </a:r>
            <a:endParaRPr lang="en-US" sz="930" dirty="0"/>
          </a:p>
        </p:txBody>
      </p:sp>
      <p:sp>
        <p:nvSpPr>
          <p:cNvPr id="15" name="Shape 13"/>
          <p:cNvSpPr/>
          <p:nvPr/>
        </p:nvSpPr>
        <p:spPr>
          <a:xfrm>
            <a:off x="5230368" y="1508760"/>
            <a:ext cx="1874520" cy="4160520"/>
          </a:xfrm>
          <a:prstGeom prst="roundRect">
            <a:avLst>
              <a:gd name="adj" fmla="val 2439"/>
            </a:avLst>
          </a:prstGeom>
          <a:solidFill>
            <a:srgbClr val="FFFFFF"/>
          </a:solidFill>
          <a:ln w="12700">
            <a:solidFill>
              <a:srgbClr val="D6E0E3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394960" y="1764792"/>
            <a:ext cx="548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6C63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M3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6163056" y="1819656"/>
            <a:ext cx="69494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8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6-8周</a:t>
            </a:r>
            <a:endParaRPr lang="en-US" sz="880" dirty="0"/>
          </a:p>
        </p:txBody>
      </p:sp>
      <p:sp>
        <p:nvSpPr>
          <p:cNvPr id="18" name="Text 16"/>
          <p:cNvSpPr/>
          <p:nvPr/>
        </p:nvSpPr>
        <p:spPr>
          <a:xfrm>
            <a:off x="5394960" y="2359152"/>
            <a:ext cx="14813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0182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在线推理接入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5394960" y="2926080"/>
            <a:ext cx="1481328" cy="1170432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indent="0" marL="0">
              <a:buNone/>
            </a:pPr>
            <a:r>
              <a:rPr lang="en-US" sz="93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Flink消费feature.stat.v1；输出detections.v1；告警详情展示AI证据。</a:t>
            </a:r>
            <a:endParaRPr lang="en-US" sz="930" dirty="0"/>
          </a:p>
        </p:txBody>
      </p:sp>
      <p:sp>
        <p:nvSpPr>
          <p:cNvPr id="20" name="Shape 18"/>
          <p:cNvSpPr/>
          <p:nvPr/>
        </p:nvSpPr>
        <p:spPr>
          <a:xfrm>
            <a:off x="7534656" y="1508760"/>
            <a:ext cx="1874520" cy="4160520"/>
          </a:xfrm>
          <a:prstGeom prst="roundRect">
            <a:avLst>
              <a:gd name="adj" fmla="val 2439"/>
            </a:avLst>
          </a:prstGeom>
          <a:solidFill>
            <a:srgbClr val="F4FAFA"/>
          </a:solidFill>
          <a:ln w="12700">
            <a:solidFill>
              <a:srgbClr val="D6E0E3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699248" y="1764792"/>
            <a:ext cx="548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065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M4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8467344" y="1819656"/>
            <a:ext cx="69494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8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8-12周</a:t>
            </a:r>
            <a:endParaRPr lang="en-US" sz="880" dirty="0"/>
          </a:p>
        </p:txBody>
      </p:sp>
      <p:sp>
        <p:nvSpPr>
          <p:cNvPr id="23" name="Text 21"/>
          <p:cNvSpPr/>
          <p:nvPr/>
        </p:nvSpPr>
        <p:spPr>
          <a:xfrm>
            <a:off x="7699248" y="2359152"/>
            <a:ext cx="14813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0182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MLOps闭环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7699248" y="2926080"/>
            <a:ext cx="1481328" cy="1170432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indent="0" marL="0">
              <a:buNone/>
            </a:pPr>
            <a:r>
              <a:rPr lang="en-US" sz="93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反馈样本池、阈值锁、模型注册、model-updates热更新、回滚。</a:t>
            </a:r>
            <a:endParaRPr lang="en-US" sz="930" dirty="0"/>
          </a:p>
        </p:txBody>
      </p:sp>
      <p:sp>
        <p:nvSpPr>
          <p:cNvPr id="25" name="Shape 23"/>
          <p:cNvSpPr/>
          <p:nvPr/>
        </p:nvSpPr>
        <p:spPr>
          <a:xfrm>
            <a:off x="9838944" y="1508760"/>
            <a:ext cx="1874520" cy="4160520"/>
          </a:xfrm>
          <a:prstGeom prst="roundRect">
            <a:avLst>
              <a:gd name="adj" fmla="val 2439"/>
            </a:avLst>
          </a:prstGeom>
          <a:solidFill>
            <a:srgbClr val="FFFFFF"/>
          </a:solidFill>
          <a:ln w="12700">
            <a:solidFill>
              <a:srgbClr val="D6E0E3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0003536" y="1764792"/>
            <a:ext cx="548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5B841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M5</a:t>
            </a:r>
            <a:endParaRPr lang="en-US" sz="1800" dirty="0"/>
          </a:p>
        </p:txBody>
      </p:sp>
      <p:sp>
        <p:nvSpPr>
          <p:cNvPr id="27" name="Text 25"/>
          <p:cNvSpPr/>
          <p:nvPr/>
        </p:nvSpPr>
        <p:spPr>
          <a:xfrm>
            <a:off x="10771632" y="1819656"/>
            <a:ext cx="69494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8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12周+</a:t>
            </a:r>
            <a:endParaRPr lang="en-US" sz="880" dirty="0"/>
          </a:p>
        </p:txBody>
      </p:sp>
      <p:sp>
        <p:nvSpPr>
          <p:cNvPr id="28" name="Text 26"/>
          <p:cNvSpPr/>
          <p:nvPr/>
        </p:nvSpPr>
        <p:spPr>
          <a:xfrm>
            <a:off x="10003536" y="2359152"/>
            <a:ext cx="14813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0182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扩展增强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10003536" y="2926080"/>
            <a:ext cx="1481328" cy="1170432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indent="0" marL="0">
              <a:buNone/>
            </a:pPr>
            <a:r>
              <a:rPr lang="en-US" sz="93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图模态、多源消融、高速级联预算、第三方盲测与试点报告。</a:t>
            </a:r>
            <a:endParaRPr lang="en-US" sz="930" dirty="0"/>
          </a:p>
        </p:txBody>
      </p:sp>
      <p:sp>
        <p:nvSpPr>
          <p:cNvPr id="30" name="Text 28"/>
          <p:cNvSpPr/>
          <p:nvPr/>
        </p:nvSpPr>
        <p:spPr>
          <a:xfrm>
            <a:off x="411480" y="6510528"/>
            <a:ext cx="80467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园区全流量采集分析系统 × AI驱动网络流量检测系统 | 融合分析</a:t>
            </a:r>
            <a:endParaRPr lang="en-US" sz="850" dirty="0"/>
          </a:p>
        </p:txBody>
      </p:sp>
      <p:sp>
        <p:nvSpPr>
          <p:cNvPr id="31" name="Text 29"/>
          <p:cNvSpPr/>
          <p:nvPr/>
        </p:nvSpPr>
        <p:spPr>
          <a:xfrm>
            <a:off x="11265408" y="6446520"/>
            <a:ext cx="62179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16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6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87E8B"/>
          </a:solidFill>
          <a:ln w="12700">
            <a:solidFill>
              <a:srgbClr val="087E8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30352" y="292608"/>
            <a:ext cx="4023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87E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OUTPUTS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30352" y="603504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10182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融合后的科研与成果输出：论文、专利、软著、验收证据互相支撑</a:t>
            </a:r>
            <a:endParaRPr lang="en-US" sz="2500" dirty="0"/>
          </a:p>
        </p:txBody>
      </p:sp>
      <p:sp>
        <p:nvSpPr>
          <p:cNvPr id="5" name="Shape 3"/>
          <p:cNvSpPr/>
          <p:nvPr/>
        </p:nvSpPr>
        <p:spPr>
          <a:xfrm>
            <a:off x="713232" y="1481328"/>
            <a:ext cx="5074920" cy="1261872"/>
          </a:xfrm>
          <a:prstGeom prst="roundRect">
            <a:avLst>
              <a:gd name="adj" fmla="val 3623"/>
            </a:avLst>
          </a:prstGeom>
          <a:solidFill>
            <a:srgbClr val="FFFFFF"/>
          </a:solidFill>
          <a:ln w="10160">
            <a:solidFill>
              <a:srgbClr val="D6E0E3"/>
            </a:solidFill>
            <a:prstDash val="solid"/>
          </a:ln>
          <a:effectLst>
            <a:outerShdw sx="100000" sy="100000" kx="0" ky="0" algn="bl" rotWithShape="0" blurRad="38100" dist="12700" dir="2700000">
              <a:srgbClr val="000000">
                <a:alpha val="7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713232" y="1481328"/>
            <a:ext cx="73152" cy="1261872"/>
          </a:xfrm>
          <a:prstGeom prst="rect">
            <a:avLst/>
          </a:prstGeom>
          <a:solidFill>
            <a:srgbClr val="6C63FF"/>
          </a:solidFill>
          <a:ln w="12700">
            <a:solidFill>
              <a:srgbClr val="6C63F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14400" y="1645920"/>
            <a:ext cx="47274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80" b="1" dirty="0">
                <a:solidFill>
                  <a:srgbClr val="10182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论文方向 1</a:t>
            </a:r>
            <a:endParaRPr lang="en-US" sz="1280" dirty="0"/>
          </a:p>
        </p:txBody>
      </p:sp>
      <p:sp>
        <p:nvSpPr>
          <p:cNvPr id="8" name="Text 6"/>
          <p:cNvSpPr/>
          <p:nvPr/>
        </p:nvSpPr>
        <p:spPr>
          <a:xfrm>
            <a:off x="914400" y="1984248"/>
            <a:ext cx="4727448" cy="68580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indent="0" marL="0">
              <a:buNone/>
            </a:pPr>
            <a:r>
              <a:rPr lang="en-US" sz="106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Evidence-OpenEMTD：证据冲突感知的可信开放集多模态加密恶意流量检测。</a:t>
            </a:r>
            <a:endParaRPr lang="en-US" sz="1060" dirty="0"/>
          </a:p>
        </p:txBody>
      </p:sp>
      <p:sp>
        <p:nvSpPr>
          <p:cNvPr id="9" name="Shape 7"/>
          <p:cNvSpPr/>
          <p:nvPr/>
        </p:nvSpPr>
        <p:spPr>
          <a:xfrm>
            <a:off x="6199632" y="1481328"/>
            <a:ext cx="5074920" cy="1261872"/>
          </a:xfrm>
          <a:prstGeom prst="roundRect">
            <a:avLst>
              <a:gd name="adj" fmla="val 3623"/>
            </a:avLst>
          </a:prstGeom>
          <a:solidFill>
            <a:srgbClr val="FFFFFF"/>
          </a:solidFill>
          <a:ln w="10160">
            <a:solidFill>
              <a:srgbClr val="D6E0E3"/>
            </a:solidFill>
            <a:prstDash val="solid"/>
          </a:ln>
          <a:effectLst>
            <a:outerShdw sx="100000" sy="100000" kx="0" ky="0" algn="bl" rotWithShape="0" blurRad="38100" dist="12700" dir="2700000">
              <a:srgbClr val="000000">
                <a:alpha val="7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6199632" y="1481328"/>
            <a:ext cx="73152" cy="1261872"/>
          </a:xfrm>
          <a:prstGeom prst="rect">
            <a:avLst/>
          </a:prstGeom>
          <a:solidFill>
            <a:srgbClr val="087E8B"/>
          </a:solidFill>
          <a:ln w="12700">
            <a:solidFill>
              <a:srgbClr val="087E8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00800" y="1645920"/>
            <a:ext cx="47274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80" b="1" dirty="0">
                <a:solidFill>
                  <a:srgbClr val="10182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论文方向 2</a:t>
            </a:r>
            <a:endParaRPr lang="en-US" sz="1280" dirty="0"/>
          </a:p>
        </p:txBody>
      </p:sp>
      <p:sp>
        <p:nvSpPr>
          <p:cNvPr id="12" name="Text 10"/>
          <p:cNvSpPr/>
          <p:nvPr/>
        </p:nvSpPr>
        <p:spPr>
          <a:xfrm>
            <a:off x="6400800" y="1984248"/>
            <a:ext cx="4727448" cy="68580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indent="0" marL="0">
              <a:buNone/>
            </a:pPr>
            <a:r>
              <a:rPr lang="en-US" sz="106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DA-FDIDS：域自适应基础表征增强的少样本动态网络入侵检测框架。</a:t>
            </a:r>
            <a:endParaRPr lang="en-US" sz="1060" dirty="0"/>
          </a:p>
        </p:txBody>
      </p:sp>
      <p:sp>
        <p:nvSpPr>
          <p:cNvPr id="13" name="Shape 11"/>
          <p:cNvSpPr/>
          <p:nvPr/>
        </p:nvSpPr>
        <p:spPr>
          <a:xfrm>
            <a:off x="713232" y="3447288"/>
            <a:ext cx="5074920" cy="1261872"/>
          </a:xfrm>
          <a:prstGeom prst="roundRect">
            <a:avLst>
              <a:gd name="adj" fmla="val 3623"/>
            </a:avLst>
          </a:prstGeom>
          <a:solidFill>
            <a:srgbClr val="FFFFFF"/>
          </a:solidFill>
          <a:ln w="10160">
            <a:solidFill>
              <a:srgbClr val="D6E0E3"/>
            </a:solidFill>
            <a:prstDash val="solid"/>
          </a:ln>
          <a:effectLst>
            <a:outerShdw sx="100000" sy="100000" kx="0" ky="0" algn="bl" rotWithShape="0" blurRad="38100" dist="12700" dir="2700000">
              <a:srgbClr val="000000">
                <a:alpha val="7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713232" y="3447288"/>
            <a:ext cx="73152" cy="1261872"/>
          </a:xfrm>
          <a:prstGeom prst="rect">
            <a:avLst/>
          </a:prstGeom>
          <a:solidFill>
            <a:srgbClr val="F06543"/>
          </a:solidFill>
          <a:ln w="12700">
            <a:solidFill>
              <a:srgbClr val="F06543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914400" y="3611880"/>
            <a:ext cx="47274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80" b="1" dirty="0">
                <a:solidFill>
                  <a:srgbClr val="10182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专利方向</a:t>
            </a:r>
            <a:endParaRPr lang="en-US" sz="1280" dirty="0"/>
          </a:p>
        </p:txBody>
      </p:sp>
      <p:sp>
        <p:nvSpPr>
          <p:cNvPr id="16" name="Text 14"/>
          <p:cNvSpPr/>
          <p:nvPr/>
        </p:nvSpPr>
        <p:spPr>
          <a:xfrm>
            <a:off x="914400" y="3950208"/>
            <a:ext cx="4727448" cy="68580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indent="0" marL="0">
              <a:buNone/>
            </a:pPr>
            <a:r>
              <a:rPr lang="en-US" sz="106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可信开放集检测、多粒度预算调度、多源知识图谱置信融合、LLM证据包幻觉校验。</a:t>
            </a:r>
            <a:endParaRPr lang="en-US" sz="1060" dirty="0"/>
          </a:p>
        </p:txBody>
      </p:sp>
      <p:sp>
        <p:nvSpPr>
          <p:cNvPr id="17" name="Shape 15"/>
          <p:cNvSpPr/>
          <p:nvPr/>
        </p:nvSpPr>
        <p:spPr>
          <a:xfrm>
            <a:off x="6199632" y="3447288"/>
            <a:ext cx="5074920" cy="1261872"/>
          </a:xfrm>
          <a:prstGeom prst="roundRect">
            <a:avLst>
              <a:gd name="adj" fmla="val 3623"/>
            </a:avLst>
          </a:prstGeom>
          <a:solidFill>
            <a:srgbClr val="FFFFFF"/>
          </a:solidFill>
          <a:ln w="10160">
            <a:solidFill>
              <a:srgbClr val="D6E0E3"/>
            </a:solidFill>
            <a:prstDash val="solid"/>
          </a:ln>
          <a:effectLst>
            <a:outerShdw sx="100000" sy="100000" kx="0" ky="0" algn="bl" rotWithShape="0" blurRad="38100" dist="12700" dir="2700000">
              <a:srgbClr val="000000">
                <a:alpha val="7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6199632" y="3447288"/>
            <a:ext cx="73152" cy="1261872"/>
          </a:xfrm>
          <a:prstGeom prst="rect">
            <a:avLst/>
          </a:prstGeom>
          <a:solidFill>
            <a:srgbClr val="F5B841"/>
          </a:solidFill>
          <a:ln w="12700">
            <a:solidFill>
              <a:srgbClr val="F5B84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400800" y="3611880"/>
            <a:ext cx="47274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80" b="1" dirty="0">
                <a:solidFill>
                  <a:srgbClr val="10182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工程证据</a:t>
            </a:r>
            <a:endParaRPr lang="en-US" sz="1280" dirty="0"/>
          </a:p>
        </p:txBody>
      </p:sp>
      <p:sp>
        <p:nvSpPr>
          <p:cNvPr id="20" name="Text 18"/>
          <p:cNvSpPr/>
          <p:nvPr/>
        </p:nvSpPr>
        <p:spPr>
          <a:xfrm>
            <a:off x="6400800" y="3950208"/>
            <a:ext cx="4727448" cy="68580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indent="0" marL="0">
              <a:buNone/>
            </a:pPr>
            <a:r>
              <a:rPr lang="en-US" sz="106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盲测包、P95链路、模型热更新、PCAP证据、融合价值报告、第三方签认。</a:t>
            </a:r>
            <a:endParaRPr lang="en-US" sz="1060" dirty="0"/>
          </a:p>
        </p:txBody>
      </p:sp>
      <p:sp>
        <p:nvSpPr>
          <p:cNvPr id="21" name="Shape 19"/>
          <p:cNvSpPr/>
          <p:nvPr/>
        </p:nvSpPr>
        <p:spPr>
          <a:xfrm>
            <a:off x="1024128" y="5623560"/>
            <a:ext cx="10058400" cy="457200"/>
          </a:xfrm>
          <a:prstGeom prst="roundRect">
            <a:avLst>
              <a:gd name="adj" fmla="val 8000"/>
            </a:avLst>
          </a:prstGeom>
          <a:solidFill>
            <a:srgbClr val="101820"/>
          </a:solidFill>
          <a:ln w="12700">
            <a:solidFill>
              <a:srgbClr val="10182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234440" y="5779008"/>
            <a:ext cx="964692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2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同一条真实链路同时支撑论文实验、专利实施例、系统演示和验收报告，避免科研与工程两张皮。</a:t>
            </a:r>
            <a:endParaRPr lang="en-US" sz="1120" dirty="0"/>
          </a:p>
        </p:txBody>
      </p:sp>
      <p:sp>
        <p:nvSpPr>
          <p:cNvPr id="23" name="Text 21"/>
          <p:cNvSpPr/>
          <p:nvPr/>
        </p:nvSpPr>
        <p:spPr>
          <a:xfrm>
            <a:off x="411480" y="6510528"/>
            <a:ext cx="80467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园区全流量采集分析系统 × AI驱动网络流量检测系统 | 融合分析</a:t>
            </a:r>
            <a:endParaRPr lang="en-US" sz="850" dirty="0"/>
          </a:p>
        </p:txBody>
      </p:sp>
      <p:sp>
        <p:nvSpPr>
          <p:cNvPr id="24" name="Text 22"/>
          <p:cNvSpPr/>
          <p:nvPr/>
        </p:nvSpPr>
        <p:spPr>
          <a:xfrm>
            <a:off x="11265408" y="6446520"/>
            <a:ext cx="62179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17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1018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13232" y="658368"/>
            <a:ext cx="49377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结论与下一步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822960" y="1600200"/>
            <a:ext cx="10241280" cy="713232"/>
          </a:xfrm>
          <a:prstGeom prst="roundRect">
            <a:avLst>
              <a:gd name="adj" fmla="val 6410"/>
            </a:avLst>
          </a:prstGeom>
          <a:solidFill>
            <a:srgbClr val="2B1D1D"/>
          </a:solidFill>
          <a:ln w="12700">
            <a:solidFill>
              <a:srgbClr val="F06543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51560" y="1810512"/>
            <a:ext cx="731520" cy="292608"/>
          </a:xfrm>
          <a:prstGeom prst="roundRect">
            <a:avLst>
              <a:gd name="adj" fmla="val 18750"/>
            </a:avLst>
          </a:prstGeom>
          <a:solidFill>
            <a:srgbClr val="F06543"/>
          </a:solidFill>
          <a:ln w="12700">
            <a:solidFill>
              <a:srgbClr val="F06543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124712" y="1879092"/>
            <a:ext cx="585216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风险</a:t>
            </a:r>
            <a:endParaRPr lang="en-US" sz="850" dirty="0"/>
          </a:p>
        </p:txBody>
      </p:sp>
      <p:sp>
        <p:nvSpPr>
          <p:cNvPr id="6" name="Text 4"/>
          <p:cNvSpPr/>
          <p:nvPr/>
        </p:nvSpPr>
        <p:spPr>
          <a:xfrm>
            <a:off x="1965960" y="1810512"/>
            <a:ext cx="87782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两个系统分裂建设，导致数据、模型、告警和证据口径不一致。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822960" y="2743200"/>
            <a:ext cx="10241280" cy="713232"/>
          </a:xfrm>
          <a:prstGeom prst="roundRect">
            <a:avLst>
              <a:gd name="adj" fmla="val 6410"/>
            </a:avLst>
          </a:prstGeom>
          <a:solidFill>
            <a:srgbClr val="172D32"/>
          </a:solidFill>
          <a:ln w="12700">
            <a:solidFill>
              <a:srgbClr val="087E8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051560" y="2953512"/>
            <a:ext cx="731520" cy="292608"/>
          </a:xfrm>
          <a:prstGeom prst="roundRect">
            <a:avLst>
              <a:gd name="adj" fmla="val 18750"/>
            </a:avLst>
          </a:prstGeom>
          <a:solidFill>
            <a:srgbClr val="087E8B"/>
          </a:solidFill>
          <a:ln w="12700">
            <a:solidFill>
              <a:srgbClr val="087E8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124712" y="3022092"/>
            <a:ext cx="585216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控制</a:t>
            </a:r>
            <a:endParaRPr lang="en-US" sz="850" dirty="0"/>
          </a:p>
        </p:txBody>
      </p:sp>
      <p:sp>
        <p:nvSpPr>
          <p:cNvPr id="10" name="Text 8"/>
          <p:cNvSpPr/>
          <p:nvPr/>
        </p:nvSpPr>
        <p:spPr>
          <a:xfrm>
            <a:off x="1965960" y="2953512"/>
            <a:ext cx="87782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算法以插件方式接入现有Feature、Detection、Evidence、MLOps和model-updates链路。</a:t>
            </a:r>
            <a:endParaRPr lang="en-US" sz="1350" dirty="0"/>
          </a:p>
        </p:txBody>
      </p:sp>
      <p:sp>
        <p:nvSpPr>
          <p:cNvPr id="11" name="Shape 9"/>
          <p:cNvSpPr/>
          <p:nvPr/>
        </p:nvSpPr>
        <p:spPr>
          <a:xfrm>
            <a:off x="822960" y="3886200"/>
            <a:ext cx="10241280" cy="713232"/>
          </a:xfrm>
          <a:prstGeom prst="roundRect">
            <a:avLst>
              <a:gd name="adj" fmla="val 6410"/>
            </a:avLst>
          </a:prstGeom>
          <a:solidFill>
            <a:srgbClr val="172D32"/>
          </a:solidFill>
          <a:ln w="12700">
            <a:solidFill>
              <a:srgbClr val="087E8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051560" y="4096512"/>
            <a:ext cx="731520" cy="292608"/>
          </a:xfrm>
          <a:prstGeom prst="roundRect">
            <a:avLst>
              <a:gd name="adj" fmla="val 18750"/>
            </a:avLst>
          </a:prstGeom>
          <a:solidFill>
            <a:srgbClr val="087E8B"/>
          </a:solidFill>
          <a:ln w="12700">
            <a:solidFill>
              <a:srgbClr val="087E8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124712" y="4165092"/>
            <a:ext cx="585216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优先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1965960" y="4096512"/>
            <a:ext cx="87782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先做三模态Evidence-OpenEMTD MVP和检测质量冻结包，再扩展图融合与高速预算。</a:t>
            </a:r>
            <a:endParaRPr lang="en-US" sz="1350" dirty="0"/>
          </a:p>
        </p:txBody>
      </p:sp>
      <p:sp>
        <p:nvSpPr>
          <p:cNvPr id="15" name="Text 13"/>
          <p:cNvSpPr/>
          <p:nvPr/>
        </p:nvSpPr>
        <p:spPr>
          <a:xfrm>
            <a:off x="841248" y="5632704"/>
            <a:ext cx="9966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B7D1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最终目标：把全流量系统从“看得见、查得到”升级为“可检测、可解释、可学习、可验收”。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411480" y="6510528"/>
            <a:ext cx="80467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9B7B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园区全流量采集分析系统 × AI驱动网络流量检测系统 | 融合分析</a:t>
            </a:r>
            <a:endParaRPr lang="en-US" sz="850" dirty="0"/>
          </a:p>
        </p:txBody>
      </p:sp>
      <p:sp>
        <p:nvSpPr>
          <p:cNvPr id="17" name="Text 15"/>
          <p:cNvSpPr/>
          <p:nvPr/>
        </p:nvSpPr>
        <p:spPr>
          <a:xfrm>
            <a:off x="11265408" y="6446520"/>
            <a:ext cx="62179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99B7B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18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Microsoft YaHe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Microsoft YaHe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</vt:vector>
  </TitlesOfParts>
  <Company>Quancheng Laboratory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两个系统融合分析</dc:title>
  <dc:subject>园区全流量采集分析系统与AI驱动网络流量检测系统融合分析</dc:subject>
  <dc:creator>Codex</dc:creator>
  <cp:lastModifiedBy>Codex</cp:lastModifiedBy>
  <cp:revision>1</cp:revision>
  <dcterms:created xsi:type="dcterms:W3CDTF">2026-07-06T04:34:43Z</dcterms:created>
  <dcterms:modified xsi:type="dcterms:W3CDTF">2026-07-06T04:34:43Z</dcterms:modified>
</cp:coreProperties>
</file>