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 diagram with readable text removed for editable reconstruction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55782" y="816255"/>
            <a:ext cx="568463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**E</a:t>
            </a:r>
            <a:endParaRPr lang="zh-CN" sz="1510"/>
          </a:p>
        </p:txBody>
      </p:sp>
      <p:sp>
        <p:nvSpPr>
          <p:cNvPr id="4" name="TextBox 4"/>
          <p:cNvSpPr txBox="1"/>
          <p:nvPr/>
        </p:nvSpPr>
        <p:spPr>
          <a:xfrm>
            <a:off x="833918" y="2171821"/>
            <a:ext cx="634055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32m15</a:t>
            </a:r>
            <a:endParaRPr lang="zh-CN" sz="1030"/>
          </a:p>
        </p:txBody>
      </p:sp>
      <p:sp>
        <p:nvSpPr>
          <p:cNvPr id="5" name="TextBox 5"/>
          <p:cNvSpPr txBox="1"/>
          <p:nvPr/>
        </p:nvSpPr>
        <p:spPr>
          <a:xfrm>
            <a:off x="833918" y="3512812"/>
            <a:ext cx="517447" cy="1676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THE A TU</a:t>
            </a:r>
            <a:endParaRPr lang="zh-CN" sz="1030"/>
          </a:p>
        </p:txBody>
      </p:sp>
      <p:sp>
        <p:nvSpPr>
          <p:cNvPr id="6" name="TextBox 6"/>
          <p:cNvSpPr txBox="1"/>
          <p:nvPr/>
        </p:nvSpPr>
        <p:spPr>
          <a:xfrm>
            <a:off x="833918" y="4256187"/>
            <a:ext cx="641343" cy="1676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8#771i65</a:t>
            </a:r>
            <a:endParaRPr lang="zh-CN" sz="1080"/>
          </a:p>
        </p:txBody>
      </p:sp>
      <p:sp>
        <p:nvSpPr>
          <p:cNvPr id="7" name="TextBox 7"/>
          <p:cNvSpPr txBox="1"/>
          <p:nvPr/>
        </p:nvSpPr>
        <p:spPr>
          <a:xfrm>
            <a:off x="819342" y="5145322"/>
            <a:ext cx="655919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1*5</a:t>
            </a:r>
            <a:endParaRPr lang="zh-CN" sz="940"/>
          </a:p>
        </p:txBody>
      </p:sp>
      <p:sp>
        <p:nvSpPr>
          <p:cNvPr id="8" name="TextBox 8"/>
          <p:cNvSpPr txBox="1"/>
          <p:nvPr/>
        </p:nvSpPr>
        <p:spPr>
          <a:xfrm>
            <a:off x="3100483" y="721511"/>
            <a:ext cx="1807422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Probe DaemonSet (Rust)</a:t>
            </a:r>
            <a:endParaRPr lang="zh-CN" sz="1030"/>
          </a:p>
        </p:txBody>
      </p:sp>
      <p:sp>
        <p:nvSpPr>
          <p:cNvPr id="9" name="TextBox 9"/>
          <p:cNvSpPr txBox="1"/>
          <p:nvPr/>
        </p:nvSpPr>
        <p:spPr>
          <a:xfrm>
            <a:off x="2444564" y="1056759"/>
            <a:ext cx="801679" cy="15304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Probe Agent</a:t>
            </a:r>
            <a:endParaRPr lang="zh-CN" sz="990"/>
          </a:p>
        </p:txBody>
      </p:sp>
      <p:sp>
        <p:nvSpPr>
          <p:cNvPr id="10" name="TextBox 10"/>
          <p:cNvSpPr txBox="1"/>
          <p:nvPr/>
        </p:nvSpPr>
        <p:spPr>
          <a:xfrm>
            <a:off x="3435731" y="1027607"/>
            <a:ext cx="998455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# Probe Agent</a:t>
            </a:r>
            <a:endParaRPr lang="zh-CN" sz="1180"/>
          </a:p>
        </p:txBody>
      </p:sp>
      <p:sp>
        <p:nvSpPr>
          <p:cNvPr id="11" name="TextBox 11"/>
          <p:cNvSpPr txBox="1"/>
          <p:nvPr/>
        </p:nvSpPr>
        <p:spPr>
          <a:xfrm>
            <a:off x="4835025" y="1078623"/>
            <a:ext cx="801679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Probe Agent</a:t>
            </a:r>
            <a:endParaRPr lang="zh-CN" sz="710"/>
          </a:p>
        </p:txBody>
      </p:sp>
      <p:sp>
        <p:nvSpPr>
          <p:cNvPr id="12" name="TextBox 12"/>
          <p:cNvSpPr txBox="1"/>
          <p:nvPr/>
        </p:nvSpPr>
        <p:spPr>
          <a:xfrm>
            <a:off x="2291516" y="1377430"/>
            <a:ext cx="2208261" cy="1238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hostNetwork | hostPID | privileged | iface: ens9f0</a:t>
            </a:r>
            <a:endParaRPr lang="zh-CN" sz="670"/>
          </a:p>
        </p:txBody>
      </p:sp>
      <p:sp>
        <p:nvSpPr>
          <p:cNvPr id="13" name="TextBox 13"/>
          <p:cNvSpPr txBox="1"/>
          <p:nvPr/>
        </p:nvSpPr>
        <p:spPr>
          <a:xfrm>
            <a:off x="4558081" y="1377430"/>
            <a:ext cx="1464886" cy="1238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mode: af_packet | metrics: 9091</a:t>
            </a:r>
            <a:endParaRPr lang="zh-CN" sz="720"/>
          </a:p>
        </p:txBody>
      </p:sp>
      <p:sp>
        <p:nvSpPr>
          <p:cNvPr id="14" name="TextBox 14"/>
          <p:cNvSpPr txBox="1"/>
          <p:nvPr/>
        </p:nvSpPr>
        <p:spPr>
          <a:xfrm>
            <a:off x="2801675" y="1924030"/>
            <a:ext cx="1377430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Ingest Gateway (Go)</a:t>
            </a:r>
            <a:endParaRPr lang="zh-CN" sz="1030"/>
          </a:p>
        </p:txBody>
      </p:sp>
      <p:sp>
        <p:nvSpPr>
          <p:cNvPr id="15" name="TextBox 15"/>
          <p:cNvSpPr txBox="1"/>
          <p:nvPr/>
        </p:nvSpPr>
        <p:spPr>
          <a:xfrm>
            <a:off x="5585688" y="1785558"/>
            <a:ext cx="1537766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Kafka flE (SASL_SSL)</a:t>
            </a:r>
            <a:endParaRPr lang="zh-CN" sz="1150"/>
          </a:p>
        </p:txBody>
      </p:sp>
      <p:sp>
        <p:nvSpPr>
          <p:cNvPr id="16" name="TextBox 16"/>
          <p:cNvSpPr txBox="1"/>
          <p:nvPr/>
        </p:nvSpPr>
        <p:spPr>
          <a:xfrm>
            <a:off x="5600264" y="2069790"/>
            <a:ext cx="604903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flow.events.v1</a:t>
            </a:r>
            <a:endParaRPr lang="zh-CN" sz="620"/>
          </a:p>
        </p:txBody>
      </p:sp>
      <p:sp>
        <p:nvSpPr>
          <p:cNvPr id="17" name="TextBox 17"/>
          <p:cNvSpPr txBox="1"/>
          <p:nvPr/>
        </p:nvSpPr>
        <p:spPr>
          <a:xfrm>
            <a:off x="6358215" y="2084366"/>
            <a:ext cx="692359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session.events.v1</a:t>
            </a:r>
            <a:endParaRPr lang="zh-CN" sz="560"/>
          </a:p>
        </p:txBody>
      </p:sp>
      <p:sp>
        <p:nvSpPr>
          <p:cNvPr id="18" name="TextBox 18"/>
          <p:cNvSpPr txBox="1"/>
          <p:nvPr/>
        </p:nvSpPr>
        <p:spPr>
          <a:xfrm>
            <a:off x="2874555" y="2244701"/>
            <a:ext cx="648631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gRPC 50051</a:t>
            </a:r>
            <a:endParaRPr lang="zh-CN" sz="940"/>
          </a:p>
        </p:txBody>
      </p:sp>
      <p:sp>
        <p:nvSpPr>
          <p:cNvPr id="19" name="TextBox 19"/>
          <p:cNvSpPr txBox="1"/>
          <p:nvPr/>
        </p:nvSpPr>
        <p:spPr>
          <a:xfrm>
            <a:off x="5614840" y="2354021"/>
            <a:ext cx="583039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pcap.index.v1</a:t>
            </a:r>
            <a:endParaRPr lang="zh-CN" sz="640"/>
          </a:p>
        </p:txBody>
      </p:sp>
      <p:sp>
        <p:nvSpPr>
          <p:cNvPr id="20" name="TextBox 20"/>
          <p:cNvSpPr txBox="1"/>
          <p:nvPr/>
        </p:nvSpPr>
        <p:spPr>
          <a:xfrm>
            <a:off x="6358215" y="2354021"/>
            <a:ext cx="692359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alert.feedback.v1</a:t>
            </a:r>
            <a:endParaRPr lang="zh-CN" sz="560"/>
          </a:p>
        </p:txBody>
      </p:sp>
      <p:sp>
        <p:nvSpPr>
          <p:cNvPr id="21" name="TextBox 21"/>
          <p:cNvSpPr txBox="1"/>
          <p:nvPr/>
        </p:nvSpPr>
        <p:spPr>
          <a:xfrm>
            <a:off x="5549248" y="2601813"/>
            <a:ext cx="692359" cy="1238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asset.bindings.v1</a:t>
            </a:r>
            <a:endParaRPr lang="zh-CN" sz="580"/>
          </a:p>
        </p:txBody>
      </p:sp>
      <p:sp>
        <p:nvSpPr>
          <p:cNvPr id="22" name="TextBox 22"/>
          <p:cNvSpPr txBox="1"/>
          <p:nvPr/>
        </p:nvSpPr>
        <p:spPr>
          <a:xfrm>
            <a:off x="6416519" y="2616389"/>
            <a:ext cx="583039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device.loqs.v1</a:t>
            </a:r>
            <a:endParaRPr lang="zh-CN" sz="560"/>
          </a:p>
        </p:txBody>
      </p:sp>
      <p:sp>
        <p:nvSpPr>
          <p:cNvPr id="23" name="TextBox 23"/>
          <p:cNvSpPr txBox="1"/>
          <p:nvPr/>
        </p:nvSpPr>
        <p:spPr>
          <a:xfrm>
            <a:off x="2641340" y="2944349"/>
            <a:ext cx="2033350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Flink 1F ## (Streaming)</a:t>
            </a:r>
            <a:endParaRPr lang="zh-CN" sz="1340"/>
          </a:p>
        </p:txBody>
      </p:sp>
      <p:sp>
        <p:nvSpPr>
          <p:cNvPr id="24" name="TextBox 24"/>
          <p:cNvSpPr txBox="1"/>
          <p:nvPr/>
        </p:nvSpPr>
        <p:spPr>
          <a:xfrm>
            <a:off x="2590324" y="3308748"/>
            <a:ext cx="655919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:: Session Job</a:t>
            </a:r>
            <a:endParaRPr lang="zh-CN" sz="710"/>
          </a:p>
        </p:txBody>
      </p:sp>
      <p:sp>
        <p:nvSpPr>
          <p:cNvPr id="25" name="TextBox 25"/>
          <p:cNvSpPr txBox="1"/>
          <p:nvPr/>
        </p:nvSpPr>
        <p:spPr>
          <a:xfrm>
            <a:off x="3348275" y="3308748"/>
            <a:ext cx="67778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Elf Feature Job</a:t>
            </a:r>
            <a:endParaRPr lang="zh-CN" sz="690"/>
          </a:p>
        </p:txBody>
      </p:sp>
      <p:sp>
        <p:nvSpPr>
          <p:cNvPr id="26" name="TextBox 26"/>
          <p:cNvSpPr txBox="1"/>
          <p:nvPr/>
        </p:nvSpPr>
        <p:spPr>
          <a:xfrm>
            <a:off x="4128090" y="3286884"/>
            <a:ext cx="568463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fOr Rule Job</a:t>
            </a:r>
            <a:endParaRPr lang="zh-CN" sz="730"/>
          </a:p>
        </p:txBody>
      </p:sp>
      <p:sp>
        <p:nvSpPr>
          <p:cNvPr id="27" name="TextBox 27"/>
          <p:cNvSpPr txBox="1"/>
          <p:nvPr/>
        </p:nvSpPr>
        <p:spPr>
          <a:xfrm>
            <a:off x="4805873" y="3308748"/>
            <a:ext cx="670495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 Behavior Job</a:t>
            </a:r>
            <a:endParaRPr lang="zh-CN" sz="730"/>
          </a:p>
        </p:txBody>
      </p:sp>
      <p:sp>
        <p:nvSpPr>
          <p:cNvPr id="28" name="TextBox 28"/>
          <p:cNvSpPr txBox="1"/>
          <p:nvPr/>
        </p:nvSpPr>
        <p:spPr>
          <a:xfrm>
            <a:off x="5811616" y="3337900"/>
            <a:ext cx="371688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CEP Job</a:t>
            </a:r>
            <a:endParaRPr lang="zh-CN" sz="710"/>
          </a:p>
        </p:txBody>
      </p:sp>
      <p:sp>
        <p:nvSpPr>
          <p:cNvPr id="29" name="TextBox 29"/>
          <p:cNvSpPr txBox="1"/>
          <p:nvPr/>
        </p:nvSpPr>
        <p:spPr>
          <a:xfrm>
            <a:off x="6554991" y="3337900"/>
            <a:ext cx="422704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Alert Job</a:t>
            </a:r>
            <a:endParaRPr lang="zh-CN" sz="710"/>
          </a:p>
        </p:txBody>
      </p:sp>
      <p:sp>
        <p:nvSpPr>
          <p:cNvPr id="30" name="TextBox 30"/>
          <p:cNvSpPr txBox="1"/>
          <p:nvPr/>
        </p:nvSpPr>
        <p:spPr>
          <a:xfrm>
            <a:off x="2481004" y="4117715"/>
            <a:ext cx="65591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ClickHouse</a:t>
            </a:r>
            <a:endParaRPr lang="zh-CN" sz="940"/>
          </a:p>
        </p:txBody>
      </p:sp>
      <p:sp>
        <p:nvSpPr>
          <p:cNvPr id="31" name="TextBox 31"/>
          <p:cNvSpPr txBox="1"/>
          <p:nvPr/>
        </p:nvSpPr>
        <p:spPr>
          <a:xfrm>
            <a:off x="2481004" y="4329067"/>
            <a:ext cx="583039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OLAP SIF</a:t>
            </a:r>
            <a:endParaRPr lang="zh-CN" sz="940"/>
          </a:p>
        </p:txBody>
      </p:sp>
      <p:sp>
        <p:nvSpPr>
          <p:cNvPr id="32" name="TextBox 32"/>
          <p:cNvSpPr txBox="1"/>
          <p:nvPr/>
        </p:nvSpPr>
        <p:spPr>
          <a:xfrm>
            <a:off x="3719962" y="4110427"/>
            <a:ext cx="677783" cy="1676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6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PostgreSQL</a:t>
            </a:r>
            <a:endParaRPr lang="zh-CN" sz="969"/>
          </a:p>
        </p:txBody>
      </p:sp>
      <p:sp>
        <p:nvSpPr>
          <p:cNvPr id="33" name="TextBox 33"/>
          <p:cNvSpPr txBox="1"/>
          <p:nvPr/>
        </p:nvSpPr>
        <p:spPr>
          <a:xfrm>
            <a:off x="4995361" y="4117715"/>
            <a:ext cx="6923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OpenSearch</a:t>
            </a:r>
            <a:endParaRPr lang="zh-CN" sz="990"/>
          </a:p>
        </p:txBody>
      </p:sp>
      <p:sp>
        <p:nvSpPr>
          <p:cNvPr id="34" name="TextBox 34"/>
          <p:cNvSpPr txBox="1"/>
          <p:nvPr/>
        </p:nvSpPr>
        <p:spPr>
          <a:xfrm>
            <a:off x="6307199" y="4117715"/>
            <a:ext cx="706935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NebulaGraph</a:t>
            </a:r>
            <a:endParaRPr lang="zh-CN" sz="919"/>
          </a:p>
        </p:txBody>
      </p:sp>
      <p:sp>
        <p:nvSpPr>
          <p:cNvPr id="35" name="TextBox 35"/>
          <p:cNvSpPr txBox="1"/>
          <p:nvPr/>
        </p:nvSpPr>
        <p:spPr>
          <a:xfrm>
            <a:off x="5337896" y="4912106"/>
            <a:ext cx="1392006" cy="1384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Web Ul (React / Vite)</a:t>
            </a:r>
            <a:endParaRPr lang="zh-CN" sz="890"/>
          </a:p>
        </p:txBody>
      </p:sp>
      <p:sp>
        <p:nvSpPr>
          <p:cNvPr id="36" name="TextBox 36"/>
          <p:cNvSpPr txBox="1"/>
          <p:nvPr/>
        </p:nvSpPr>
        <p:spPr>
          <a:xfrm>
            <a:off x="2801675" y="5298370"/>
            <a:ext cx="481007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90549</a:t>
            </a:r>
            <a:endParaRPr lang="zh-CN" sz="710"/>
          </a:p>
        </p:txBody>
      </p:sp>
      <p:sp>
        <p:nvSpPr>
          <p:cNvPr id="37" name="TextBox 37"/>
          <p:cNvSpPr txBox="1"/>
          <p:nvPr/>
        </p:nvSpPr>
        <p:spPr>
          <a:xfrm>
            <a:off x="6518551" y="5298370"/>
            <a:ext cx="422704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R*S#</a:t>
            </a:r>
            <a:endParaRPr lang="zh-CN" sz="940"/>
          </a:p>
        </p:txBody>
      </p:sp>
      <p:sp>
        <p:nvSpPr>
          <p:cNvPr id="38" name="TextBox 38"/>
          <p:cNvSpPr txBox="1"/>
          <p:nvPr/>
        </p:nvSpPr>
        <p:spPr>
          <a:xfrm>
            <a:off x="2604900" y="5954289"/>
            <a:ext cx="1115063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Kubernetes v1.29.15</a:t>
            </a:r>
            <a:endParaRPr lang="zh-CN" sz="710"/>
          </a:p>
        </p:txBody>
      </p:sp>
      <p:sp>
        <p:nvSpPr>
          <p:cNvPr id="39" name="TextBox 39"/>
          <p:cNvSpPr txBox="1"/>
          <p:nvPr/>
        </p:nvSpPr>
        <p:spPr>
          <a:xfrm>
            <a:off x="2590324" y="6151065"/>
            <a:ext cx="1238959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8-2tb (10.0.5.8) control-plane</a:t>
            </a:r>
            <a:endParaRPr lang="zh-CN" sz="610"/>
          </a:p>
        </p:txBody>
      </p:sp>
      <p:sp>
        <p:nvSpPr>
          <p:cNvPr id="40" name="TextBox 40"/>
          <p:cNvSpPr txBox="1"/>
          <p:nvPr/>
        </p:nvSpPr>
        <p:spPr>
          <a:xfrm>
            <a:off x="2590324" y="6347841"/>
            <a:ext cx="1253535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zeus-server (10.0.5.9) worker</a:t>
            </a:r>
            <a:endParaRPr lang="zh-CN" sz="640"/>
          </a:p>
        </p:txBody>
      </p:sp>
      <p:sp>
        <p:nvSpPr>
          <p:cNvPr id="41" name="TextBox 41"/>
          <p:cNvSpPr txBox="1"/>
          <p:nvPr/>
        </p:nvSpPr>
        <p:spPr>
          <a:xfrm>
            <a:off x="4485201" y="6165641"/>
            <a:ext cx="481007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containerd</a:t>
            </a:r>
            <a:endParaRPr lang="zh-CN" sz="690"/>
          </a:p>
        </p:txBody>
      </p:sp>
      <p:sp>
        <p:nvSpPr>
          <p:cNvPr id="42" name="TextBox 42"/>
          <p:cNvSpPr txBox="1"/>
          <p:nvPr/>
        </p:nvSpPr>
        <p:spPr>
          <a:xfrm>
            <a:off x="5760600" y="6165641"/>
            <a:ext cx="925575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APISIX NodePort 30180</a:t>
            </a:r>
            <a:endParaRPr lang="zh-CN" sz="560"/>
          </a:p>
        </p:txBody>
      </p:sp>
      <p:sp>
        <p:nvSpPr>
          <p:cNvPr id="43" name="TextBox 43"/>
          <p:cNvSpPr txBox="1"/>
          <p:nvPr/>
        </p:nvSpPr>
        <p:spPr>
          <a:xfrm>
            <a:off x="5760600" y="6347841"/>
            <a:ext cx="845407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TLS / Auth / BE E</a:t>
            </a:r>
            <a:endParaRPr lang="zh-CN" sz="710"/>
          </a:p>
        </p:txBody>
      </p:sp>
      <p:sp>
        <p:nvSpPr>
          <p:cNvPr id="44" name="TextBox 44"/>
          <p:cNvSpPr txBox="1"/>
          <p:nvPr/>
        </p:nvSpPr>
        <p:spPr>
          <a:xfrm>
            <a:off x="7568022" y="1129639"/>
            <a:ext cx="444567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HE 6W40E</a:t>
            </a:r>
            <a:endParaRPr lang="zh-CN" sz="840"/>
          </a:p>
        </p:txBody>
      </p:sp>
      <p:sp>
        <p:nvSpPr>
          <p:cNvPr id="45" name="TextBox 45"/>
          <p:cNvSpPr txBox="1"/>
          <p:nvPr/>
        </p:nvSpPr>
        <p:spPr>
          <a:xfrm>
            <a:off x="8435293" y="1129639"/>
            <a:ext cx="546599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*#SEA</a:t>
            </a:r>
            <a:endParaRPr lang="zh-CN" sz="940"/>
          </a:p>
        </p:txBody>
      </p:sp>
      <p:sp>
        <p:nvSpPr>
          <p:cNvPr id="46" name="TextBox 46"/>
          <p:cNvSpPr txBox="1"/>
          <p:nvPr/>
        </p:nvSpPr>
        <p:spPr>
          <a:xfrm>
            <a:off x="7210910" y="2084366"/>
            <a:ext cx="619479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feature.stat.v1</a:t>
            </a:r>
            <a:endParaRPr lang="zh-CN" sz="560"/>
          </a:p>
        </p:txBody>
      </p:sp>
      <p:sp>
        <p:nvSpPr>
          <p:cNvPr id="47" name="TextBox 47"/>
          <p:cNvSpPr txBox="1"/>
          <p:nvPr/>
        </p:nvSpPr>
        <p:spPr>
          <a:xfrm>
            <a:off x="8041741" y="2084366"/>
            <a:ext cx="583039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detections.v1</a:t>
            </a:r>
            <a:endParaRPr lang="zh-CN" sz="560"/>
          </a:p>
        </p:txBody>
      </p:sp>
      <p:sp>
        <p:nvSpPr>
          <p:cNvPr id="48" name="TextBox 48"/>
          <p:cNvSpPr txBox="1"/>
          <p:nvPr/>
        </p:nvSpPr>
        <p:spPr>
          <a:xfrm>
            <a:off x="8930876" y="2084366"/>
            <a:ext cx="386264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alerts.v1</a:t>
            </a:r>
            <a:endParaRPr lang="zh-CN" sz="560"/>
          </a:p>
        </p:txBody>
      </p:sp>
      <p:sp>
        <p:nvSpPr>
          <p:cNvPr id="49" name="TextBox 49"/>
          <p:cNvSpPr txBox="1"/>
          <p:nvPr/>
        </p:nvSpPr>
        <p:spPr>
          <a:xfrm>
            <a:off x="7247350" y="2354021"/>
            <a:ext cx="546599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rule.updates</a:t>
            </a:r>
            <a:endParaRPr lang="zh-CN" sz="650"/>
          </a:p>
        </p:txBody>
      </p:sp>
      <p:sp>
        <p:nvSpPr>
          <p:cNvPr id="50" name="TextBox 50"/>
          <p:cNvSpPr txBox="1"/>
          <p:nvPr/>
        </p:nvSpPr>
        <p:spPr>
          <a:xfrm>
            <a:off x="8027165" y="2354021"/>
            <a:ext cx="634055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model-updates</a:t>
            </a:r>
            <a:endParaRPr lang="zh-CN" sz="700"/>
          </a:p>
        </p:txBody>
      </p:sp>
      <p:sp>
        <p:nvSpPr>
          <p:cNvPr id="51" name="TextBox 51"/>
          <p:cNvSpPr txBox="1"/>
          <p:nvPr/>
        </p:nvSpPr>
        <p:spPr>
          <a:xfrm>
            <a:off x="8909012" y="2354021"/>
            <a:ext cx="444567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audit.logs</a:t>
            </a:r>
            <a:endParaRPr lang="zh-CN" sz="640"/>
          </a:p>
        </p:txBody>
      </p:sp>
      <p:sp>
        <p:nvSpPr>
          <p:cNvPr id="52" name="TextBox 52"/>
          <p:cNvSpPr txBox="1"/>
          <p:nvPr/>
        </p:nvSpPr>
        <p:spPr>
          <a:xfrm>
            <a:off x="7210910" y="2616389"/>
            <a:ext cx="604903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user.events.v1</a:t>
            </a:r>
            <a:endParaRPr lang="zh-CN" sz="560"/>
          </a:p>
        </p:txBody>
      </p:sp>
      <p:sp>
        <p:nvSpPr>
          <p:cNvPr id="53" name="TextBox 53"/>
          <p:cNvSpPr txBox="1"/>
          <p:nvPr/>
        </p:nvSpPr>
        <p:spPr>
          <a:xfrm>
            <a:off x="8202077" y="2616389"/>
            <a:ext cx="262368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dlq.v1</a:t>
            </a:r>
            <a:endParaRPr lang="zh-CN" sz="630"/>
          </a:p>
        </p:txBody>
      </p:sp>
      <p:sp>
        <p:nvSpPr>
          <p:cNvPr id="54" name="TextBox 54"/>
          <p:cNvSpPr txBox="1"/>
          <p:nvPr/>
        </p:nvSpPr>
        <p:spPr>
          <a:xfrm>
            <a:off x="7371246" y="3337900"/>
            <a:ext cx="378976" cy="13118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Log Job</a:t>
            </a:r>
            <a:endParaRPr lang="zh-CN" sz="819"/>
          </a:p>
        </p:txBody>
      </p:sp>
      <p:sp>
        <p:nvSpPr>
          <p:cNvPr id="55" name="TextBox 55"/>
          <p:cNvSpPr txBox="1"/>
          <p:nvPr/>
        </p:nvSpPr>
        <p:spPr>
          <a:xfrm>
            <a:off x="8165637" y="3337900"/>
            <a:ext cx="459143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PCAP Job</a:t>
            </a:r>
            <a:endParaRPr lang="zh-CN" sz="710"/>
          </a:p>
        </p:txBody>
      </p:sp>
      <p:sp>
        <p:nvSpPr>
          <p:cNvPr id="56" name="TextBox 56"/>
          <p:cNvSpPr txBox="1"/>
          <p:nvPr/>
        </p:nvSpPr>
        <p:spPr>
          <a:xfrm>
            <a:off x="8806980" y="3308748"/>
            <a:ext cx="247792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23</a:t>
            </a:r>
            <a:endParaRPr lang="zh-CN" sz="1360"/>
          </a:p>
        </p:txBody>
      </p:sp>
      <p:sp>
        <p:nvSpPr>
          <p:cNvPr id="57" name="TextBox 57"/>
          <p:cNvSpPr txBox="1"/>
          <p:nvPr/>
        </p:nvSpPr>
        <p:spPr>
          <a:xfrm>
            <a:off x="9018332" y="3337900"/>
            <a:ext cx="459143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User Job</a:t>
            </a:r>
            <a:endParaRPr lang="zh-CN" sz="710"/>
          </a:p>
        </p:txBody>
      </p:sp>
      <p:sp>
        <p:nvSpPr>
          <p:cNvPr id="58" name="TextBox 58"/>
          <p:cNvSpPr txBox="1"/>
          <p:nvPr/>
        </p:nvSpPr>
        <p:spPr>
          <a:xfrm>
            <a:off x="8027165" y="3549252"/>
            <a:ext cx="517447" cy="13118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PCAP * 5|</a:t>
            </a:r>
            <a:endParaRPr lang="zh-CN" sz="850"/>
          </a:p>
        </p:txBody>
      </p:sp>
      <p:sp>
        <p:nvSpPr>
          <p:cNvPr id="59" name="TextBox 59"/>
          <p:cNvSpPr txBox="1"/>
          <p:nvPr/>
        </p:nvSpPr>
        <p:spPr>
          <a:xfrm>
            <a:off x="7655478" y="4117715"/>
            <a:ext cx="357112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Redis</a:t>
            </a:r>
            <a:endParaRPr lang="zh-CN" sz="1019"/>
          </a:p>
        </p:txBody>
      </p:sp>
      <p:sp>
        <p:nvSpPr>
          <p:cNvPr id="60" name="TextBox 60"/>
          <p:cNvSpPr txBox="1"/>
          <p:nvPr/>
        </p:nvSpPr>
        <p:spPr>
          <a:xfrm>
            <a:off x="7568022" y="4314491"/>
            <a:ext cx="61947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17 / 2ia</a:t>
            </a:r>
            <a:endParaRPr lang="zh-CN" sz="950"/>
          </a:p>
        </p:txBody>
      </p:sp>
      <p:sp>
        <p:nvSpPr>
          <p:cNvPr id="61" name="TextBox 61"/>
          <p:cNvSpPr txBox="1"/>
          <p:nvPr/>
        </p:nvSpPr>
        <p:spPr>
          <a:xfrm>
            <a:off x="8879860" y="4117715"/>
            <a:ext cx="357112" cy="1238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MinIO</a:t>
            </a:r>
            <a:endParaRPr lang="zh-CN" sz="800"/>
          </a:p>
        </p:txBody>
      </p:sp>
      <p:sp>
        <p:nvSpPr>
          <p:cNvPr id="62" name="TextBox 62"/>
          <p:cNvSpPr txBox="1"/>
          <p:nvPr/>
        </p:nvSpPr>
        <p:spPr>
          <a:xfrm>
            <a:off x="8114621" y="4897530"/>
            <a:ext cx="852695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MLOps BE S</a:t>
            </a:r>
            <a:endParaRPr lang="zh-CN" sz="1130"/>
          </a:p>
        </p:txBody>
      </p:sp>
      <p:sp>
        <p:nvSpPr>
          <p:cNvPr id="63" name="TextBox 63"/>
          <p:cNvSpPr txBox="1"/>
          <p:nvPr/>
        </p:nvSpPr>
        <p:spPr>
          <a:xfrm>
            <a:off x="7844966" y="5298370"/>
            <a:ext cx="429991" cy="15304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 BE HE</a:t>
            </a:r>
            <a:endParaRPr lang="zh-CN" sz="860"/>
          </a:p>
        </p:txBody>
      </p:sp>
      <p:sp>
        <p:nvSpPr>
          <p:cNvPr id="64" name="TextBox 64"/>
          <p:cNvSpPr txBox="1"/>
          <p:nvPr/>
        </p:nvSpPr>
        <p:spPr>
          <a:xfrm>
            <a:off x="7356670" y="5939713"/>
            <a:ext cx="641343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0M52#</a:t>
            </a:r>
            <a:endParaRPr lang="zh-CN" sz="1030"/>
          </a:p>
        </p:txBody>
      </p:sp>
      <p:sp>
        <p:nvSpPr>
          <p:cNvPr id="65" name="TextBox 65"/>
          <p:cNvSpPr txBox="1"/>
          <p:nvPr/>
        </p:nvSpPr>
        <p:spPr>
          <a:xfrm>
            <a:off x="7334806" y="6165641"/>
            <a:ext cx="779815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ConfigMap / Secret</a:t>
            </a:r>
            <a:endParaRPr lang="zh-CN" sz="650"/>
          </a:p>
        </p:txBody>
      </p:sp>
      <p:sp>
        <p:nvSpPr>
          <p:cNvPr id="66" name="TextBox 66"/>
          <p:cNvSpPr txBox="1"/>
          <p:nvPr/>
        </p:nvSpPr>
        <p:spPr>
          <a:xfrm>
            <a:off x="8770540" y="6165641"/>
            <a:ext cx="867271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Prometheus / Grafana</a:t>
            </a:r>
            <a:endParaRPr lang="zh-CN" sz="560"/>
          </a:p>
        </p:txBody>
      </p:sp>
      <p:sp>
        <p:nvSpPr>
          <p:cNvPr id="67" name="TextBox 67"/>
          <p:cNvSpPr txBox="1"/>
          <p:nvPr/>
        </p:nvSpPr>
        <p:spPr>
          <a:xfrm>
            <a:off x="10774738" y="2616389"/>
            <a:ext cx="481007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MLOps</a:t>
            </a:r>
            <a:endParaRPr lang="zh-CN" sz="1130"/>
          </a:p>
        </p:txBody>
      </p:sp>
      <p:sp>
        <p:nvSpPr>
          <p:cNvPr id="68" name="TextBox 68"/>
          <p:cNvSpPr txBox="1"/>
          <p:nvPr/>
        </p:nvSpPr>
        <p:spPr>
          <a:xfrm>
            <a:off x="10789314" y="3410780"/>
            <a:ext cx="604903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rule.updates</a:t>
            </a:r>
            <a:endParaRPr lang="zh-CN" sz="710"/>
          </a:p>
        </p:txBody>
      </p:sp>
      <p:sp>
        <p:nvSpPr>
          <p:cNvPr id="69" name="TextBox 69"/>
          <p:cNvSpPr txBox="1"/>
          <p:nvPr/>
        </p:nvSpPr>
        <p:spPr>
          <a:xfrm>
            <a:off x="10789314" y="3563828"/>
            <a:ext cx="728799" cy="1384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model-updates</a:t>
            </a:r>
            <a:endParaRPr lang="zh-CN" sz="800"/>
          </a:p>
        </p:txBody>
      </p:sp>
      <p:sp>
        <p:nvSpPr>
          <p:cNvPr id="70" name="TextBox 70"/>
          <p:cNvSpPr txBox="1"/>
          <p:nvPr/>
        </p:nvSpPr>
        <p:spPr>
          <a:xfrm>
            <a:off x="10665418" y="4365507"/>
            <a:ext cx="794391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Flink #E</a:t>
            </a:r>
            <a:endParaRPr lang="zh-CN" sz="1030"/>
          </a:p>
        </p:txBody>
      </p:sp>
      <p:sp>
        <p:nvSpPr>
          <p:cNvPr id="71" name="TextBox 71"/>
          <p:cNvSpPr txBox="1"/>
          <p:nvPr/>
        </p:nvSpPr>
        <p:spPr>
          <a:xfrm>
            <a:off x="10607114" y="5670057"/>
            <a:ext cx="553887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1190032 BA</a:t>
            </a:r>
            <a:endParaRPr lang="zh-CN" sz="8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