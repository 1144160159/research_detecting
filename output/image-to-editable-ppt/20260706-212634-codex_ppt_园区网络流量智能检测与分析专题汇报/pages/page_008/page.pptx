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diagram with readable text removed for editable text reconstruction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38334" y="335248"/>
            <a:ext cx="7849167" cy="568463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3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数据主链路：从包到告警再回到模型</a:t>
            </a:r>
            <a:endParaRPr lang="zh-CN" sz="3300"/>
          </a:p>
        </p:txBody>
      </p:sp>
      <p:sp>
        <p:nvSpPr>
          <p:cNvPr id="4" name="TextBox 4"/>
          <p:cNvSpPr txBox="1"/>
          <p:nvPr/>
        </p:nvSpPr>
        <p:spPr>
          <a:xfrm>
            <a:off x="833918" y="1377430"/>
            <a:ext cx="2164533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Rust Probe + Ingest Gateway + Kafka + Flink</a:t>
            </a:r>
            <a:endParaRPr lang="zh-CN" sz="700"/>
          </a:p>
        </p:txBody>
      </p:sp>
      <p:sp>
        <p:nvSpPr>
          <p:cNvPr id="5" name="TextBox 5"/>
          <p:cNvSpPr txBox="1"/>
          <p:nvPr/>
        </p:nvSpPr>
        <p:spPr>
          <a:xfrm>
            <a:off x="3865722" y="1362854"/>
            <a:ext cx="230300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多存储：CH/PG/OpenSearch/Nebula/Redis/MinIO</a:t>
            </a:r>
            <a:endParaRPr lang="zh-CN" sz="700"/>
          </a:p>
        </p:txBody>
      </p:sp>
      <p:sp>
        <p:nvSpPr>
          <p:cNvPr id="6" name="TextBox 6"/>
          <p:cNvSpPr txBox="1"/>
          <p:nvPr/>
        </p:nvSpPr>
        <p:spPr>
          <a:xfrm>
            <a:off x="6963119" y="1362854"/>
            <a:ext cx="169810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 APIs - Web UI - 告警研判与取证</a:t>
            </a:r>
            <a:endParaRPr lang="zh-CN" sz="750"/>
          </a:p>
        </p:txBody>
      </p:sp>
      <p:sp>
        <p:nvSpPr>
          <p:cNvPr id="7" name="TextBox 7"/>
          <p:cNvSpPr txBox="1"/>
          <p:nvPr/>
        </p:nvSpPr>
        <p:spPr>
          <a:xfrm>
            <a:off x="9426460" y="1340990"/>
            <a:ext cx="2601813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反馈/ML Ops - rule.updates/model-updates - Flink 热更新</a:t>
            </a:r>
            <a:endParaRPr lang="zh-CN" sz="650"/>
          </a:p>
        </p:txBody>
      </p:sp>
      <p:sp>
        <p:nvSpPr>
          <p:cNvPr id="8" name="TextBox 8"/>
          <p:cNvSpPr txBox="1"/>
          <p:nvPr/>
        </p:nvSpPr>
        <p:spPr>
          <a:xfrm>
            <a:off x="265454" y="2456053"/>
            <a:ext cx="1078623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包/会话/特征</a:t>
            </a:r>
            <a:endParaRPr lang="zh-CN" sz="1230"/>
          </a:p>
        </p:txBody>
      </p:sp>
      <p:sp>
        <p:nvSpPr>
          <p:cNvPr id="9" name="TextBox 9"/>
          <p:cNvSpPr txBox="1"/>
          <p:nvPr/>
        </p:nvSpPr>
        <p:spPr>
          <a:xfrm>
            <a:off x="1810509" y="2492493"/>
            <a:ext cx="81625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Rust Probe</a:t>
            </a:r>
            <a:endParaRPr lang="zh-CN" sz="1060"/>
          </a:p>
        </p:txBody>
      </p:sp>
      <p:sp>
        <p:nvSpPr>
          <p:cNvPr id="10" name="TextBox 10"/>
          <p:cNvSpPr txBox="1"/>
          <p:nvPr/>
        </p:nvSpPr>
        <p:spPr>
          <a:xfrm>
            <a:off x="3013027" y="2492493"/>
            <a:ext cx="1027607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Ingest Gateway</a:t>
            </a:r>
            <a:endParaRPr lang="zh-CN" sz="969"/>
          </a:p>
        </p:txBody>
      </p:sp>
      <p:sp>
        <p:nvSpPr>
          <p:cNvPr id="11" name="TextBox 11"/>
          <p:cNvSpPr txBox="1"/>
          <p:nvPr/>
        </p:nvSpPr>
        <p:spPr>
          <a:xfrm>
            <a:off x="4609097" y="2492493"/>
            <a:ext cx="444567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Kafka</a:t>
            </a:r>
            <a:endParaRPr lang="zh-CN" sz="1060"/>
          </a:p>
        </p:txBody>
      </p:sp>
      <p:sp>
        <p:nvSpPr>
          <p:cNvPr id="12" name="TextBox 12"/>
          <p:cNvSpPr txBox="1"/>
          <p:nvPr/>
        </p:nvSpPr>
        <p:spPr>
          <a:xfrm>
            <a:off x="6044832" y="2106230"/>
            <a:ext cx="138472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</a:t>
            </a:r>
            <a:endParaRPr lang="zh-CN" sz="980"/>
          </a:p>
        </p:txBody>
      </p:sp>
      <p:sp>
        <p:nvSpPr>
          <p:cNvPr id="13" name="TextBox 13"/>
          <p:cNvSpPr txBox="1"/>
          <p:nvPr/>
        </p:nvSpPr>
        <p:spPr>
          <a:xfrm>
            <a:off x="5957376" y="2492493"/>
            <a:ext cx="386264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</a:t>
            </a:r>
            <a:endParaRPr lang="zh-CN" sz="1000"/>
          </a:p>
        </p:txBody>
      </p:sp>
      <p:sp>
        <p:nvSpPr>
          <p:cNvPr id="14" name="TextBox 14"/>
          <p:cNvSpPr txBox="1"/>
          <p:nvPr/>
        </p:nvSpPr>
        <p:spPr>
          <a:xfrm>
            <a:off x="360198" y="3111972"/>
            <a:ext cx="357112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XN</a:t>
            </a:r>
            <a:endParaRPr lang="zh-CN" sz="1230"/>
          </a:p>
        </p:txBody>
      </p:sp>
      <p:sp>
        <p:nvSpPr>
          <p:cNvPr id="15" name="TextBox 15"/>
          <p:cNvSpPr txBox="1"/>
          <p:nvPr/>
        </p:nvSpPr>
        <p:spPr>
          <a:xfrm>
            <a:off x="7232774" y="2456053"/>
            <a:ext cx="488295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多存储</a:t>
            </a:r>
            <a:endParaRPr lang="zh-CN" sz="1150"/>
          </a:p>
        </p:txBody>
      </p:sp>
      <p:sp>
        <p:nvSpPr>
          <p:cNvPr id="16" name="TextBox 16"/>
          <p:cNvSpPr txBox="1"/>
          <p:nvPr/>
        </p:nvSpPr>
        <p:spPr>
          <a:xfrm>
            <a:off x="7407686" y="2827741"/>
            <a:ext cx="196776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</a:t>
            </a:r>
            <a:endParaRPr lang="zh-CN" sz="850"/>
          </a:p>
        </p:txBody>
      </p:sp>
      <p:sp>
        <p:nvSpPr>
          <p:cNvPr id="17" name="TextBox 17"/>
          <p:cNvSpPr txBox="1"/>
          <p:nvPr/>
        </p:nvSpPr>
        <p:spPr>
          <a:xfrm>
            <a:off x="7407686" y="3148412"/>
            <a:ext cx="174912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PG</a:t>
            </a:r>
            <a:endParaRPr lang="zh-CN" sz="720"/>
          </a:p>
        </p:txBody>
      </p:sp>
      <p:sp>
        <p:nvSpPr>
          <p:cNvPr id="18" name="TextBox 18"/>
          <p:cNvSpPr txBox="1"/>
          <p:nvPr/>
        </p:nvSpPr>
        <p:spPr>
          <a:xfrm>
            <a:off x="7422262" y="3439932"/>
            <a:ext cx="532023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OpenSearch</a:t>
            </a:r>
            <a:endParaRPr lang="zh-CN" sz="690"/>
          </a:p>
        </p:txBody>
      </p:sp>
      <p:sp>
        <p:nvSpPr>
          <p:cNvPr id="19" name="TextBox 19"/>
          <p:cNvSpPr txBox="1"/>
          <p:nvPr/>
        </p:nvSpPr>
        <p:spPr>
          <a:xfrm>
            <a:off x="7422262" y="3760604"/>
            <a:ext cx="320672" cy="1093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Nebula</a:t>
            </a:r>
            <a:endParaRPr lang="zh-CN" sz="640"/>
          </a:p>
        </p:txBody>
      </p:sp>
      <p:sp>
        <p:nvSpPr>
          <p:cNvPr id="20" name="TextBox 20"/>
          <p:cNvSpPr txBox="1"/>
          <p:nvPr/>
        </p:nvSpPr>
        <p:spPr>
          <a:xfrm>
            <a:off x="7407686" y="4059411"/>
            <a:ext cx="262368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680"/>
          </a:p>
        </p:txBody>
      </p:sp>
      <p:sp>
        <p:nvSpPr>
          <p:cNvPr id="21" name="TextBox 21"/>
          <p:cNvSpPr txBox="1"/>
          <p:nvPr/>
        </p:nvSpPr>
        <p:spPr>
          <a:xfrm>
            <a:off x="7407686" y="4343643"/>
            <a:ext cx="298808" cy="1238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MinIO</a:t>
            </a:r>
            <a:endParaRPr lang="zh-CN" sz="720"/>
          </a:p>
        </p:txBody>
      </p:sp>
      <p:sp>
        <p:nvSpPr>
          <p:cNvPr id="22" name="TextBox 22"/>
          <p:cNvSpPr txBox="1"/>
          <p:nvPr/>
        </p:nvSpPr>
        <p:spPr>
          <a:xfrm>
            <a:off x="8486309" y="2492493"/>
            <a:ext cx="641343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 APIs</a:t>
            </a:r>
            <a:endParaRPr lang="zh-CN" sz="1060"/>
          </a:p>
        </p:txBody>
      </p:sp>
      <p:sp>
        <p:nvSpPr>
          <p:cNvPr id="23" name="TextBox 23"/>
          <p:cNvSpPr txBox="1"/>
          <p:nvPr/>
        </p:nvSpPr>
        <p:spPr>
          <a:xfrm>
            <a:off x="10009499" y="2120806"/>
            <a:ext cx="13847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</a:t>
            </a:r>
            <a:endParaRPr lang="zh-CN" sz="930"/>
          </a:p>
        </p:txBody>
      </p:sp>
      <p:sp>
        <p:nvSpPr>
          <p:cNvPr id="24" name="TextBox 24"/>
          <p:cNvSpPr txBox="1"/>
          <p:nvPr/>
        </p:nvSpPr>
        <p:spPr>
          <a:xfrm>
            <a:off x="9798147" y="2492493"/>
            <a:ext cx="568463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Web UI</a:t>
            </a:r>
            <a:endParaRPr lang="zh-CN" sz="1060"/>
          </a:p>
        </p:txBody>
      </p:sp>
      <p:sp>
        <p:nvSpPr>
          <p:cNvPr id="25" name="TextBox 25"/>
          <p:cNvSpPr txBox="1"/>
          <p:nvPr/>
        </p:nvSpPr>
        <p:spPr>
          <a:xfrm>
            <a:off x="10876770" y="2492493"/>
            <a:ext cx="101303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告警研判与取证</a:t>
            </a:r>
            <a:endParaRPr lang="zh-CN" sz="1019"/>
          </a:p>
        </p:txBody>
      </p:sp>
      <p:sp>
        <p:nvSpPr>
          <p:cNvPr id="26" name="TextBox 26"/>
          <p:cNvSpPr txBox="1"/>
          <p:nvPr/>
        </p:nvSpPr>
        <p:spPr>
          <a:xfrm>
            <a:off x="8559189" y="3410780"/>
            <a:ext cx="495583" cy="28423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</a:t>
            </a:r>
            <a:endParaRPr lang="zh-CN" sz="1650"/>
          </a:p>
        </p:txBody>
      </p:sp>
      <p:sp>
        <p:nvSpPr>
          <p:cNvPr id="27" name="TextBox 27"/>
          <p:cNvSpPr txBox="1"/>
          <p:nvPr/>
        </p:nvSpPr>
        <p:spPr>
          <a:xfrm>
            <a:off x="3508611" y="5582601"/>
            <a:ext cx="1100487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反馈/MLOps</a:t>
            </a:r>
            <a:endParaRPr lang="zh-CN" sz="1470"/>
          </a:p>
        </p:txBody>
      </p:sp>
      <p:sp>
        <p:nvSpPr>
          <p:cNvPr id="28" name="TextBox 28"/>
          <p:cNvSpPr txBox="1"/>
          <p:nvPr/>
        </p:nvSpPr>
        <p:spPr>
          <a:xfrm>
            <a:off x="5899072" y="5495146"/>
            <a:ext cx="1013031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rule.updates/</a:t>
            </a:r>
            <a:endParaRPr lang="zh-CN" sz="1000"/>
          </a:p>
        </p:txBody>
      </p:sp>
      <p:sp>
        <p:nvSpPr>
          <p:cNvPr id="29" name="TextBox 29"/>
          <p:cNvSpPr txBox="1"/>
          <p:nvPr/>
        </p:nvSpPr>
        <p:spPr>
          <a:xfrm>
            <a:off x="5899072" y="5742937"/>
            <a:ext cx="1064047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model-updates</a:t>
            </a:r>
            <a:endParaRPr lang="zh-CN" sz="1050"/>
          </a:p>
        </p:txBody>
      </p:sp>
      <p:sp>
        <p:nvSpPr>
          <p:cNvPr id="30" name="TextBox 30"/>
          <p:cNvSpPr txBox="1"/>
          <p:nvPr/>
        </p:nvSpPr>
        <p:spPr>
          <a:xfrm>
            <a:off x="8289533" y="5575313"/>
            <a:ext cx="99116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 热更新</a:t>
            </a:r>
            <a:endParaRPr lang="zh-CN" sz="11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