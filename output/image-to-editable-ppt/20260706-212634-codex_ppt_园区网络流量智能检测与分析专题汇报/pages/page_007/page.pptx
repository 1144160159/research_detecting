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 background for code-tree page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09182" y="174912"/>
            <a:ext cx="4001107" cy="663207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5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远程代码结构实证</a:t>
            </a:r>
            <a:endParaRPr lang="zh-CN" sz="3550"/>
          </a:p>
        </p:txBody>
      </p:sp>
      <p:sp>
        <p:nvSpPr>
          <p:cNvPr id="4" name="TextBox 4"/>
          <p:cNvSpPr txBox="1"/>
          <p:nvPr/>
        </p:nvSpPr>
        <p:spPr>
          <a:xfrm>
            <a:off x="5476368" y="634055"/>
            <a:ext cx="1661662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多语言模块结构与职责</a:t>
            </a:r>
            <a:endParaRPr lang="zh-CN" sz="1310"/>
          </a:p>
        </p:txBody>
      </p:sp>
      <p:sp>
        <p:nvSpPr>
          <p:cNvPr id="5" name="TextBox 5"/>
          <p:cNvSpPr txBox="1"/>
          <p:nvPr/>
        </p:nvSpPr>
        <p:spPr>
          <a:xfrm>
            <a:off x="352910" y="750663"/>
            <a:ext cx="3206716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基于真实仓库traffic-analysis-platform结构核查</a:t>
            </a:r>
            <a:endParaRPr lang="zh-CN" sz="1060"/>
          </a:p>
        </p:txBody>
      </p:sp>
      <p:sp>
        <p:nvSpPr>
          <p:cNvPr id="6" name="TextBox 6"/>
          <p:cNvSpPr txBox="1"/>
          <p:nvPr/>
        </p:nvSpPr>
        <p:spPr>
          <a:xfrm>
            <a:off x="10570674" y="1166079"/>
            <a:ext cx="97659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RustProbeAgent</a:t>
            </a:r>
            <a:endParaRPr lang="zh-CN" sz="1000"/>
          </a:p>
        </p:txBody>
      </p:sp>
      <p:sp>
        <p:nvSpPr>
          <p:cNvPr id="7" name="TextBox 7"/>
          <p:cNvSpPr txBox="1"/>
          <p:nvPr/>
        </p:nvSpPr>
        <p:spPr>
          <a:xfrm>
            <a:off x="367486" y="1180655"/>
            <a:ext cx="90371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$tree-2</a:t>
            </a:r>
            <a:endParaRPr lang="zh-CN" sz="1250"/>
          </a:p>
        </p:txBody>
      </p:sp>
      <p:sp>
        <p:nvSpPr>
          <p:cNvPr id="8" name="TextBox 8"/>
          <p:cNvSpPr txBox="1"/>
          <p:nvPr/>
        </p:nvSpPr>
        <p:spPr>
          <a:xfrm>
            <a:off x="1329501" y="1180655"/>
            <a:ext cx="80167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-dirsfirst</a:t>
            </a:r>
            <a:endParaRPr lang="zh-CN" sz="1150"/>
          </a:p>
        </p:txBody>
      </p:sp>
      <p:sp>
        <p:nvSpPr>
          <p:cNvPr id="9" name="TextBox 9"/>
          <p:cNvSpPr txBox="1"/>
          <p:nvPr/>
        </p:nvSpPr>
        <p:spPr>
          <a:xfrm>
            <a:off x="2189484" y="1180655"/>
            <a:ext cx="1326414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#remoteverified</a:t>
            </a:r>
            <a:endParaRPr lang="zh-CN" sz="1250"/>
          </a:p>
        </p:txBody>
      </p:sp>
      <p:sp>
        <p:nvSpPr>
          <p:cNvPr id="10" name="TextBox 10"/>
          <p:cNvSpPr txBox="1"/>
          <p:nvPr/>
        </p:nvSpPr>
        <p:spPr>
          <a:xfrm>
            <a:off x="7320230" y="1187943"/>
            <a:ext cx="1056759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GoControl-plane</a:t>
            </a:r>
            <a:endParaRPr lang="zh-CN" sz="1010"/>
          </a:p>
        </p:txBody>
      </p:sp>
      <p:sp>
        <p:nvSpPr>
          <p:cNvPr id="11" name="TextBox 11"/>
          <p:cNvSpPr txBox="1"/>
          <p:nvPr/>
        </p:nvSpPr>
        <p:spPr>
          <a:xfrm>
            <a:off x="5658568" y="1195231"/>
            <a:ext cx="72879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RustProbe</a:t>
            </a:r>
            <a:endParaRPr lang="zh-CN" sz="1160"/>
          </a:p>
        </p:txBody>
      </p:sp>
      <p:sp>
        <p:nvSpPr>
          <p:cNvPr id="12" name="TextBox 12"/>
          <p:cNvSpPr txBox="1"/>
          <p:nvPr/>
        </p:nvSpPr>
        <p:spPr>
          <a:xfrm>
            <a:off x="8909012" y="1195231"/>
            <a:ext cx="96201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JavaFlinkJobs</a:t>
            </a:r>
            <a:endParaRPr lang="zh-CN" sz="1060"/>
          </a:p>
        </p:txBody>
      </p:sp>
      <p:sp>
        <p:nvSpPr>
          <p:cNvPr id="13" name="TextBox 13"/>
          <p:cNvSpPr txBox="1"/>
          <p:nvPr/>
        </p:nvSpPr>
        <p:spPr>
          <a:xfrm>
            <a:off x="10592538" y="1319126"/>
            <a:ext cx="102031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ensgf0/AF_PACKET</a:t>
            </a:r>
            <a:endParaRPr lang="zh-CN" sz="910"/>
          </a:p>
        </p:txBody>
      </p:sp>
      <p:sp>
        <p:nvSpPr>
          <p:cNvPr id="14" name="TextBox 14"/>
          <p:cNvSpPr txBox="1"/>
          <p:nvPr/>
        </p:nvSpPr>
        <p:spPr>
          <a:xfrm>
            <a:off x="367486" y="1384718"/>
            <a:ext cx="2157245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traffic-analysis-platform/</a:t>
            </a:r>
            <a:endParaRPr lang="zh-CN" sz="1190"/>
          </a:p>
        </p:txBody>
      </p:sp>
      <p:sp>
        <p:nvSpPr>
          <p:cNvPr id="15" name="TextBox 15"/>
          <p:cNvSpPr txBox="1"/>
          <p:nvPr/>
        </p:nvSpPr>
        <p:spPr>
          <a:xfrm>
            <a:off x="9025620" y="1384718"/>
            <a:ext cx="568463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(流计算)</a:t>
            </a:r>
            <a:endParaRPr lang="zh-CN" sz="1090"/>
          </a:p>
        </p:txBody>
      </p:sp>
      <p:sp>
        <p:nvSpPr>
          <p:cNvPr id="16" name="TextBox 16"/>
          <p:cNvSpPr txBox="1"/>
          <p:nvPr/>
        </p:nvSpPr>
        <p:spPr>
          <a:xfrm>
            <a:off x="7378534" y="1399294"/>
            <a:ext cx="553887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(控制面)</a:t>
            </a:r>
            <a:endParaRPr lang="zh-CN" sz="1060"/>
          </a:p>
        </p:txBody>
      </p:sp>
      <p:sp>
        <p:nvSpPr>
          <p:cNvPr id="17" name="TextBox 17"/>
          <p:cNvSpPr txBox="1"/>
          <p:nvPr/>
        </p:nvSpPr>
        <p:spPr>
          <a:xfrm>
            <a:off x="374774" y="1596070"/>
            <a:ext cx="51015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branch</a:t>
            </a:r>
            <a:endParaRPr lang="zh-CN" sz="1100"/>
          </a:p>
        </p:txBody>
      </p:sp>
      <p:sp>
        <p:nvSpPr>
          <p:cNvPr id="18" name="TextBox 18"/>
          <p:cNvSpPr txBox="1"/>
          <p:nvPr/>
        </p:nvSpPr>
        <p:spPr>
          <a:xfrm>
            <a:off x="1555429" y="1596070"/>
            <a:ext cx="1297262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Commit:e3316aec4</a:t>
            </a:r>
            <a:endParaRPr lang="zh-CN" sz="1100"/>
          </a:p>
        </p:txBody>
      </p:sp>
      <p:sp>
        <p:nvSpPr>
          <p:cNvPr id="19" name="TextBox 19"/>
          <p:cNvSpPr txBox="1"/>
          <p:nvPr/>
        </p:nvSpPr>
        <p:spPr>
          <a:xfrm>
            <a:off x="972390" y="1610646"/>
            <a:ext cx="349824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main</a:t>
            </a:r>
            <a:endParaRPr lang="zh-CN" sz="1030"/>
          </a:p>
        </p:txBody>
      </p:sp>
      <p:sp>
        <p:nvSpPr>
          <p:cNvPr id="20" name="TextBox 20"/>
          <p:cNvSpPr txBox="1"/>
          <p:nvPr/>
        </p:nvSpPr>
        <p:spPr>
          <a:xfrm>
            <a:off x="6861087" y="1639798"/>
            <a:ext cx="663207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ingestlauth</a:t>
            </a:r>
            <a:endParaRPr lang="zh-CN" sz="860"/>
          </a:p>
        </p:txBody>
      </p:sp>
      <p:sp>
        <p:nvSpPr>
          <p:cNvPr id="21" name="TextBox 21"/>
          <p:cNvSpPr txBox="1"/>
          <p:nvPr/>
        </p:nvSpPr>
        <p:spPr>
          <a:xfrm>
            <a:off x="8624781" y="1668950"/>
            <a:ext cx="80167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sessionlevents</a:t>
            </a:r>
            <a:endParaRPr lang="zh-CN" sz="819"/>
          </a:p>
        </p:txBody>
      </p:sp>
      <p:sp>
        <p:nvSpPr>
          <p:cNvPr id="22" name="TextBox 22"/>
          <p:cNvSpPr txBox="1"/>
          <p:nvPr/>
        </p:nvSpPr>
        <p:spPr>
          <a:xfrm>
            <a:off x="10592538" y="1727254"/>
            <a:ext cx="845407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IngestGateway</a:t>
            </a:r>
            <a:endParaRPr lang="zh-CN" sz="930"/>
          </a:p>
        </p:txBody>
      </p:sp>
      <p:sp>
        <p:nvSpPr>
          <p:cNvPr id="23" name="TextBox 23"/>
          <p:cNvSpPr txBox="1"/>
          <p:nvPr/>
        </p:nvSpPr>
        <p:spPr>
          <a:xfrm>
            <a:off x="5228577" y="1843862"/>
            <a:ext cx="72879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流聚合与重组</a:t>
            </a:r>
            <a:endParaRPr lang="zh-CN" sz="960"/>
          </a:p>
        </p:txBody>
      </p:sp>
      <p:sp>
        <p:nvSpPr>
          <p:cNvPr id="24" name="TextBox 24"/>
          <p:cNvSpPr txBox="1"/>
          <p:nvPr/>
        </p:nvSpPr>
        <p:spPr>
          <a:xfrm>
            <a:off x="8617493" y="1851150"/>
            <a:ext cx="918287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feature/statistics</a:t>
            </a:r>
            <a:endParaRPr lang="zh-CN" sz="730"/>
          </a:p>
        </p:txBody>
      </p:sp>
      <p:sp>
        <p:nvSpPr>
          <p:cNvPr id="25" name="TextBox 25"/>
          <p:cNvSpPr txBox="1"/>
          <p:nvPr/>
        </p:nvSpPr>
        <p:spPr>
          <a:xfrm>
            <a:off x="6890239" y="1858438"/>
            <a:ext cx="1020319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alert/rule/whitelist</a:t>
            </a:r>
            <a:endParaRPr lang="zh-CN" sz="730"/>
          </a:p>
        </p:txBody>
      </p:sp>
      <p:sp>
        <p:nvSpPr>
          <p:cNvPr id="26" name="TextBox 26"/>
          <p:cNvSpPr txBox="1"/>
          <p:nvPr/>
        </p:nvSpPr>
        <p:spPr>
          <a:xfrm>
            <a:off x="11248458" y="1873014"/>
            <a:ext cx="276944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路由</a:t>
            </a:r>
            <a:endParaRPr lang="zh-CN" sz="1090"/>
          </a:p>
        </p:txBody>
      </p:sp>
      <p:sp>
        <p:nvSpPr>
          <p:cNvPr id="27" name="TextBox 27"/>
          <p:cNvSpPr txBox="1"/>
          <p:nvPr/>
        </p:nvSpPr>
        <p:spPr>
          <a:xfrm>
            <a:off x="1621021" y="1880302"/>
            <a:ext cx="1078623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control-plane/</a:t>
            </a:r>
            <a:endParaRPr lang="zh-CN" sz="1100"/>
          </a:p>
        </p:txBody>
      </p:sp>
      <p:sp>
        <p:nvSpPr>
          <p:cNvPr id="28" name="TextBox 28"/>
          <p:cNvSpPr txBox="1"/>
          <p:nvPr/>
        </p:nvSpPr>
        <p:spPr>
          <a:xfrm>
            <a:off x="571550" y="1887590"/>
            <a:ext cx="313384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Bo/</a:t>
            </a:r>
            <a:endParaRPr lang="zh-CN" sz="1410"/>
          </a:p>
        </p:txBody>
      </p:sp>
      <p:sp>
        <p:nvSpPr>
          <p:cNvPr id="29" name="TextBox 29"/>
          <p:cNvSpPr txBox="1"/>
          <p:nvPr/>
        </p:nvSpPr>
        <p:spPr>
          <a:xfrm>
            <a:off x="6868375" y="2026062"/>
            <a:ext cx="118065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assetlgraphlforensics</a:t>
            </a:r>
            <a:endParaRPr lang="zh-CN" sz="800"/>
          </a:p>
        </p:txBody>
      </p:sp>
      <p:sp>
        <p:nvSpPr>
          <p:cNvPr id="30" name="TextBox 30"/>
          <p:cNvSpPr txBox="1"/>
          <p:nvPr/>
        </p:nvSpPr>
        <p:spPr>
          <a:xfrm>
            <a:off x="8602917" y="2026062"/>
            <a:ext cx="104947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rulelenginelupdate</a:t>
            </a:r>
            <a:endParaRPr lang="zh-CN" sz="830"/>
          </a:p>
        </p:txBody>
      </p:sp>
      <p:sp>
        <p:nvSpPr>
          <p:cNvPr id="31" name="TextBox 31"/>
          <p:cNvSpPr txBox="1"/>
          <p:nvPr/>
        </p:nvSpPr>
        <p:spPr>
          <a:xfrm>
            <a:off x="1628309" y="2077078"/>
            <a:ext cx="189488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Ui</a:t>
            </a:r>
            <a:endParaRPr lang="zh-CN" sz="940"/>
          </a:p>
        </p:txBody>
      </p:sp>
      <p:sp>
        <p:nvSpPr>
          <p:cNvPr id="32" name="TextBox 32"/>
          <p:cNvSpPr txBox="1"/>
          <p:nvPr/>
        </p:nvSpPr>
        <p:spPr>
          <a:xfrm>
            <a:off x="607990" y="2091654"/>
            <a:ext cx="335248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Web/</a:t>
            </a:r>
            <a:endParaRPr lang="zh-CN" sz="940"/>
          </a:p>
        </p:txBody>
      </p:sp>
      <p:sp>
        <p:nvSpPr>
          <p:cNvPr id="33" name="TextBox 33"/>
          <p:cNvSpPr txBox="1"/>
          <p:nvPr/>
        </p:nvSpPr>
        <p:spPr>
          <a:xfrm>
            <a:off x="7196334" y="2208261"/>
            <a:ext cx="969303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-intellreportlaudit</a:t>
            </a:r>
            <a:endParaRPr lang="zh-CN" sz="730"/>
          </a:p>
        </p:txBody>
      </p:sp>
      <p:sp>
        <p:nvSpPr>
          <p:cNvPr id="34" name="TextBox 34"/>
          <p:cNvSpPr txBox="1"/>
          <p:nvPr/>
        </p:nvSpPr>
        <p:spPr>
          <a:xfrm>
            <a:off x="1613733" y="2222837"/>
            <a:ext cx="940151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probe-agent/</a:t>
            </a:r>
            <a:endParaRPr lang="zh-CN" sz="1120"/>
          </a:p>
        </p:txBody>
      </p:sp>
      <p:sp>
        <p:nvSpPr>
          <p:cNvPr id="35" name="TextBox 35"/>
          <p:cNvSpPr txBox="1"/>
          <p:nvPr/>
        </p:nvSpPr>
        <p:spPr>
          <a:xfrm>
            <a:off x="8624781" y="2222837"/>
            <a:ext cx="97659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behaviorlanalytics</a:t>
            </a:r>
            <a:endParaRPr lang="zh-CN" sz="780"/>
          </a:p>
        </p:txBody>
      </p:sp>
      <p:sp>
        <p:nvSpPr>
          <p:cNvPr id="36" name="TextBox 36"/>
          <p:cNvSpPr txBox="1"/>
          <p:nvPr/>
        </p:nvSpPr>
        <p:spPr>
          <a:xfrm>
            <a:off x="6890239" y="2251989"/>
            <a:ext cx="393552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threat</a:t>
            </a:r>
            <a:endParaRPr lang="zh-CN" sz="940"/>
          </a:p>
        </p:txBody>
      </p:sp>
      <p:sp>
        <p:nvSpPr>
          <p:cNvPr id="37" name="TextBox 37"/>
          <p:cNvSpPr txBox="1"/>
          <p:nvPr/>
        </p:nvSpPr>
        <p:spPr>
          <a:xfrm>
            <a:off x="10577962" y="2251989"/>
            <a:ext cx="364400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Kafka</a:t>
            </a:r>
            <a:endParaRPr lang="zh-CN" sz="1040"/>
          </a:p>
        </p:txBody>
      </p:sp>
      <p:sp>
        <p:nvSpPr>
          <p:cNvPr id="38" name="TextBox 38"/>
          <p:cNvSpPr txBox="1"/>
          <p:nvPr/>
        </p:nvSpPr>
        <p:spPr>
          <a:xfrm>
            <a:off x="1606445" y="2375885"/>
            <a:ext cx="874559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flink-jobs/</a:t>
            </a:r>
            <a:endParaRPr lang="zh-CN" sz="1140"/>
          </a:p>
        </p:txBody>
      </p:sp>
      <p:sp>
        <p:nvSpPr>
          <p:cNvPr id="39" name="TextBox 39"/>
          <p:cNvSpPr txBox="1"/>
          <p:nvPr/>
        </p:nvSpPr>
        <p:spPr>
          <a:xfrm>
            <a:off x="586126" y="2390461"/>
            <a:ext cx="43727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java/</a:t>
            </a:r>
            <a:endParaRPr lang="zh-CN" sz="1250"/>
          </a:p>
        </p:txBody>
      </p:sp>
      <p:sp>
        <p:nvSpPr>
          <p:cNvPr id="40" name="TextBox 40"/>
          <p:cNvSpPr txBox="1"/>
          <p:nvPr/>
        </p:nvSpPr>
        <p:spPr>
          <a:xfrm>
            <a:off x="6868375" y="2397749"/>
            <a:ext cx="103489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设备簪理与策骼下发</a:t>
            </a:r>
            <a:endParaRPr lang="zh-CN" sz="910"/>
          </a:p>
        </p:txBody>
      </p:sp>
      <p:sp>
        <p:nvSpPr>
          <p:cNvPr id="41" name="TextBox 41"/>
          <p:cNvSpPr txBox="1"/>
          <p:nvPr/>
        </p:nvSpPr>
        <p:spPr>
          <a:xfrm>
            <a:off x="8624781" y="2412325"/>
            <a:ext cx="670495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CEP/pattern</a:t>
            </a:r>
            <a:endParaRPr lang="zh-CN" sz="869"/>
          </a:p>
        </p:txBody>
      </p:sp>
      <p:sp>
        <p:nvSpPr>
          <p:cNvPr id="42" name="TextBox 42"/>
          <p:cNvSpPr txBox="1"/>
          <p:nvPr/>
        </p:nvSpPr>
        <p:spPr>
          <a:xfrm>
            <a:off x="10577962" y="2412325"/>
            <a:ext cx="53931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14+主题</a:t>
            </a:r>
            <a:endParaRPr lang="zh-CN" sz="1100"/>
          </a:p>
        </p:txBody>
      </p:sp>
      <p:sp>
        <p:nvSpPr>
          <p:cNvPr id="43" name="TextBox 43"/>
          <p:cNvSpPr txBox="1"/>
          <p:nvPr/>
        </p:nvSpPr>
        <p:spPr>
          <a:xfrm>
            <a:off x="1621021" y="2550797"/>
            <a:ext cx="787103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dashboards</a:t>
            </a:r>
            <a:endParaRPr lang="zh-CN" sz="1130"/>
          </a:p>
        </p:txBody>
      </p:sp>
      <p:sp>
        <p:nvSpPr>
          <p:cNvPr id="44" name="TextBox 44"/>
          <p:cNvSpPr txBox="1"/>
          <p:nvPr/>
        </p:nvSpPr>
        <p:spPr>
          <a:xfrm>
            <a:off x="2932859" y="2565373"/>
            <a:ext cx="1005743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eval_packages</a:t>
            </a:r>
            <a:endParaRPr lang="zh-CN" sz="1110"/>
          </a:p>
        </p:txBody>
      </p:sp>
      <p:sp>
        <p:nvSpPr>
          <p:cNvPr id="45" name="TextBox 45"/>
          <p:cNvSpPr txBox="1"/>
          <p:nvPr/>
        </p:nvSpPr>
        <p:spPr>
          <a:xfrm>
            <a:off x="593414" y="2572661"/>
            <a:ext cx="49558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mlops/</a:t>
            </a:r>
            <a:endParaRPr lang="zh-CN" sz="1100"/>
          </a:p>
        </p:txBody>
      </p:sp>
      <p:sp>
        <p:nvSpPr>
          <p:cNvPr id="46" name="TextBox 46"/>
          <p:cNvSpPr txBox="1"/>
          <p:nvPr/>
        </p:nvSpPr>
        <p:spPr>
          <a:xfrm>
            <a:off x="8602917" y="2594525"/>
            <a:ext cx="100574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alert/notify/export</a:t>
            </a:r>
            <a:endParaRPr lang="zh-CN" sz="760"/>
          </a:p>
        </p:txBody>
      </p:sp>
      <p:sp>
        <p:nvSpPr>
          <p:cNvPr id="47" name="TextBox 47"/>
          <p:cNvSpPr txBox="1"/>
          <p:nvPr/>
        </p:nvSpPr>
        <p:spPr>
          <a:xfrm>
            <a:off x="6882951" y="2609101"/>
            <a:ext cx="51015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GogRPC</a:t>
            </a:r>
            <a:endParaRPr lang="zh-CN" sz="1220"/>
          </a:p>
        </p:txBody>
      </p:sp>
      <p:sp>
        <p:nvSpPr>
          <p:cNvPr id="48" name="TextBox 48"/>
          <p:cNvSpPr txBox="1"/>
          <p:nvPr/>
        </p:nvSpPr>
        <p:spPr>
          <a:xfrm>
            <a:off x="7429550" y="2616389"/>
            <a:ext cx="597615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HTTPAPIs</a:t>
            </a:r>
            <a:endParaRPr lang="zh-CN" sz="1030"/>
          </a:p>
        </p:txBody>
      </p:sp>
      <p:sp>
        <p:nvSpPr>
          <p:cNvPr id="49" name="TextBox 49"/>
          <p:cNvSpPr txBox="1"/>
          <p:nvPr/>
        </p:nvSpPr>
        <p:spPr>
          <a:xfrm>
            <a:off x="3136923" y="2711133"/>
            <a:ext cx="81625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Dockerfile</a:t>
            </a:r>
            <a:endParaRPr lang="zh-CN" sz="1170"/>
          </a:p>
        </p:txBody>
      </p:sp>
      <p:sp>
        <p:nvSpPr>
          <p:cNvPr id="50" name="TextBox 50"/>
          <p:cNvSpPr txBox="1"/>
          <p:nvPr/>
        </p:nvSpPr>
        <p:spPr>
          <a:xfrm>
            <a:off x="1679325" y="2725709"/>
            <a:ext cx="59761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scripts</a:t>
            </a:r>
            <a:endParaRPr lang="zh-CN" sz="1220"/>
          </a:p>
        </p:txBody>
      </p:sp>
      <p:sp>
        <p:nvSpPr>
          <p:cNvPr id="51" name="TextBox 51"/>
          <p:cNvSpPr txBox="1"/>
          <p:nvPr/>
        </p:nvSpPr>
        <p:spPr>
          <a:xfrm>
            <a:off x="2342532" y="2732997"/>
            <a:ext cx="72879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Workflows</a:t>
            </a:r>
            <a:endParaRPr lang="zh-CN" sz="1100"/>
          </a:p>
        </p:txBody>
      </p:sp>
      <p:sp>
        <p:nvSpPr>
          <p:cNvPr id="52" name="TextBox 52"/>
          <p:cNvSpPr txBox="1"/>
          <p:nvPr/>
        </p:nvSpPr>
        <p:spPr>
          <a:xfrm>
            <a:off x="10577962" y="2791301"/>
            <a:ext cx="597615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FlinkJobs</a:t>
            </a:r>
            <a:endParaRPr lang="zh-CN" sz="950"/>
          </a:p>
        </p:txBody>
      </p:sp>
      <p:sp>
        <p:nvSpPr>
          <p:cNvPr id="53" name="TextBox 53"/>
          <p:cNvSpPr txBox="1"/>
          <p:nvPr/>
        </p:nvSpPr>
        <p:spPr>
          <a:xfrm>
            <a:off x="1621021" y="2886045"/>
            <a:ext cx="58303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traffic</a:t>
            </a:r>
            <a:endParaRPr lang="zh-CN" sz="1190"/>
          </a:p>
        </p:txBody>
      </p:sp>
      <p:sp>
        <p:nvSpPr>
          <p:cNvPr id="54" name="TextBox 54"/>
          <p:cNvSpPr txBox="1"/>
          <p:nvPr/>
        </p:nvSpPr>
        <p:spPr>
          <a:xfrm>
            <a:off x="2918283" y="2886045"/>
            <a:ext cx="663207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buf.yaml</a:t>
            </a:r>
            <a:endParaRPr lang="zh-CN" sz="1190"/>
          </a:p>
        </p:txBody>
      </p:sp>
      <p:sp>
        <p:nvSpPr>
          <p:cNvPr id="55" name="TextBox 55"/>
          <p:cNvSpPr txBox="1"/>
          <p:nvPr/>
        </p:nvSpPr>
        <p:spPr>
          <a:xfrm>
            <a:off x="615278" y="2907909"/>
            <a:ext cx="47371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proto/</a:t>
            </a:r>
            <a:endParaRPr lang="zh-CN" sz="1100"/>
          </a:p>
        </p:txBody>
      </p:sp>
      <p:sp>
        <p:nvSpPr>
          <p:cNvPr id="56" name="TextBox 56"/>
          <p:cNvSpPr txBox="1"/>
          <p:nvPr/>
        </p:nvSpPr>
        <p:spPr>
          <a:xfrm>
            <a:off x="2269652" y="2907909"/>
            <a:ext cx="56846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SCripts</a:t>
            </a:r>
            <a:endParaRPr lang="zh-CN" sz="1100"/>
          </a:p>
        </p:txBody>
      </p:sp>
      <p:sp>
        <p:nvSpPr>
          <p:cNvPr id="57" name="TextBox 57"/>
          <p:cNvSpPr txBox="1"/>
          <p:nvPr/>
        </p:nvSpPr>
        <p:spPr>
          <a:xfrm>
            <a:off x="10577962" y="2951637"/>
            <a:ext cx="104947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流处理/检测/统计</a:t>
            </a:r>
            <a:endParaRPr lang="zh-CN" sz="1019"/>
          </a:p>
        </p:txBody>
      </p:sp>
      <p:sp>
        <p:nvSpPr>
          <p:cNvPr id="58" name="TextBox 58"/>
          <p:cNvSpPr txBox="1"/>
          <p:nvPr/>
        </p:nvSpPr>
        <p:spPr>
          <a:xfrm>
            <a:off x="1679325" y="3053668"/>
            <a:ext cx="954727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buf.gen.yaml</a:t>
            </a:r>
            <a:endParaRPr lang="zh-CN" sz="1140"/>
          </a:p>
        </p:txBody>
      </p:sp>
      <p:sp>
        <p:nvSpPr>
          <p:cNvPr id="59" name="TextBox 59"/>
          <p:cNvSpPr txBox="1"/>
          <p:nvPr/>
        </p:nvSpPr>
        <p:spPr>
          <a:xfrm>
            <a:off x="2196772" y="3228580"/>
            <a:ext cx="422704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Kafka</a:t>
            </a:r>
            <a:endParaRPr lang="zh-CN" sz="1100"/>
          </a:p>
        </p:txBody>
      </p:sp>
      <p:sp>
        <p:nvSpPr>
          <p:cNvPr id="60" name="TextBox 60"/>
          <p:cNvSpPr txBox="1"/>
          <p:nvPr/>
        </p:nvSpPr>
        <p:spPr>
          <a:xfrm>
            <a:off x="2706932" y="3228580"/>
            <a:ext cx="49558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nebula</a:t>
            </a:r>
            <a:endParaRPr lang="zh-CN" sz="1100"/>
          </a:p>
        </p:txBody>
      </p:sp>
      <p:sp>
        <p:nvSpPr>
          <p:cNvPr id="61" name="TextBox 61"/>
          <p:cNvSpPr txBox="1"/>
          <p:nvPr/>
        </p:nvSpPr>
        <p:spPr>
          <a:xfrm>
            <a:off x="5541960" y="3235868"/>
            <a:ext cx="918287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WebFrontend</a:t>
            </a:r>
            <a:endParaRPr lang="zh-CN" sz="1200"/>
          </a:p>
        </p:txBody>
      </p:sp>
      <p:sp>
        <p:nvSpPr>
          <p:cNvPr id="62" name="TextBox 62"/>
          <p:cNvSpPr txBox="1"/>
          <p:nvPr/>
        </p:nvSpPr>
        <p:spPr>
          <a:xfrm>
            <a:off x="7247350" y="3250444"/>
            <a:ext cx="46643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MLOps</a:t>
            </a:r>
            <a:endParaRPr lang="zh-CN" sz="1250"/>
          </a:p>
        </p:txBody>
      </p:sp>
      <p:sp>
        <p:nvSpPr>
          <p:cNvPr id="63" name="TextBox 63"/>
          <p:cNvSpPr txBox="1"/>
          <p:nvPr/>
        </p:nvSpPr>
        <p:spPr>
          <a:xfrm>
            <a:off x="622566" y="3257732"/>
            <a:ext cx="539311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COmmon/</a:t>
            </a:r>
            <a:endParaRPr lang="zh-CN" sz="940"/>
          </a:p>
        </p:txBody>
      </p:sp>
      <p:sp>
        <p:nvSpPr>
          <p:cNvPr id="64" name="TextBox 64"/>
          <p:cNvSpPr txBox="1"/>
          <p:nvPr/>
        </p:nvSpPr>
        <p:spPr>
          <a:xfrm>
            <a:off x="8916300" y="3257732"/>
            <a:ext cx="393552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Proto</a:t>
            </a:r>
            <a:endParaRPr lang="zh-CN" sz="1100"/>
          </a:p>
        </p:txBody>
      </p:sp>
      <p:sp>
        <p:nvSpPr>
          <p:cNvPr id="65" name="TextBox 65"/>
          <p:cNvSpPr txBox="1"/>
          <p:nvPr/>
        </p:nvSpPr>
        <p:spPr>
          <a:xfrm>
            <a:off x="8530037" y="3308748"/>
            <a:ext cx="291520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&lt;1</a:t>
            </a:r>
            <a:endParaRPr lang="zh-CN" sz="1450"/>
          </a:p>
        </p:txBody>
      </p:sp>
      <p:sp>
        <p:nvSpPr>
          <p:cNvPr id="66" name="TextBox 66"/>
          <p:cNvSpPr txBox="1"/>
          <p:nvPr/>
        </p:nvSpPr>
        <p:spPr>
          <a:xfrm>
            <a:off x="11182866" y="3323324"/>
            <a:ext cx="626767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Postgresal</a:t>
            </a:r>
            <a:endParaRPr lang="zh-CN" sz="900"/>
          </a:p>
        </p:txBody>
      </p:sp>
      <p:sp>
        <p:nvSpPr>
          <p:cNvPr id="67" name="TextBox 67"/>
          <p:cNvSpPr txBox="1"/>
          <p:nvPr/>
        </p:nvSpPr>
        <p:spPr>
          <a:xfrm>
            <a:off x="10577962" y="3330612"/>
            <a:ext cx="58303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ClickHouse</a:t>
            </a:r>
            <a:endParaRPr lang="zh-CN" sz="830"/>
          </a:p>
        </p:txBody>
      </p:sp>
      <p:sp>
        <p:nvSpPr>
          <p:cNvPr id="68" name="TextBox 68"/>
          <p:cNvSpPr txBox="1"/>
          <p:nvPr/>
        </p:nvSpPr>
        <p:spPr>
          <a:xfrm>
            <a:off x="2561172" y="3403492"/>
            <a:ext cx="43727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redis</a:t>
            </a:r>
            <a:endParaRPr lang="zh-CN" sz="1100"/>
          </a:p>
        </p:txBody>
      </p:sp>
      <p:sp>
        <p:nvSpPr>
          <p:cNvPr id="69" name="TextBox 69"/>
          <p:cNvSpPr txBox="1"/>
          <p:nvPr/>
        </p:nvSpPr>
        <p:spPr>
          <a:xfrm>
            <a:off x="1693901" y="3410780"/>
            <a:ext cx="779815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opensearch</a:t>
            </a:r>
            <a:endParaRPr lang="zh-CN" sz="1100"/>
          </a:p>
        </p:txBody>
      </p:sp>
      <p:sp>
        <p:nvSpPr>
          <p:cNvPr id="70" name="TextBox 70"/>
          <p:cNvSpPr txBox="1"/>
          <p:nvPr/>
        </p:nvSpPr>
        <p:spPr>
          <a:xfrm>
            <a:off x="7247350" y="3439932"/>
            <a:ext cx="1020319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(模型全生命周期)</a:t>
            </a:r>
            <a:endParaRPr lang="zh-CN" sz="990"/>
          </a:p>
        </p:txBody>
      </p:sp>
      <p:sp>
        <p:nvSpPr>
          <p:cNvPr id="71" name="TextBox 71"/>
          <p:cNvSpPr txBox="1"/>
          <p:nvPr/>
        </p:nvSpPr>
        <p:spPr>
          <a:xfrm>
            <a:off x="5614840" y="3454508"/>
            <a:ext cx="568463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(可视化)</a:t>
            </a:r>
            <a:endParaRPr lang="zh-CN" sz="1090"/>
          </a:p>
        </p:txBody>
      </p:sp>
      <p:sp>
        <p:nvSpPr>
          <p:cNvPr id="72" name="TextBox 72"/>
          <p:cNvSpPr txBox="1"/>
          <p:nvPr/>
        </p:nvSpPr>
        <p:spPr>
          <a:xfrm>
            <a:off x="8945452" y="3454508"/>
            <a:ext cx="685071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(模口契约)</a:t>
            </a:r>
            <a:endParaRPr lang="zh-CN" sz="1060"/>
          </a:p>
        </p:txBody>
      </p:sp>
      <p:sp>
        <p:nvSpPr>
          <p:cNvPr id="73" name="TextBox 73"/>
          <p:cNvSpPr txBox="1"/>
          <p:nvPr/>
        </p:nvSpPr>
        <p:spPr>
          <a:xfrm>
            <a:off x="10585250" y="3469084"/>
            <a:ext cx="1326414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OpenSearch/NebulaGraph</a:t>
            </a:r>
            <a:endParaRPr lang="zh-CN" sz="860"/>
          </a:p>
        </p:txBody>
      </p:sp>
      <p:sp>
        <p:nvSpPr>
          <p:cNvPr id="74" name="TextBox 74"/>
          <p:cNvSpPr txBox="1"/>
          <p:nvPr/>
        </p:nvSpPr>
        <p:spPr>
          <a:xfrm>
            <a:off x="1613733" y="3549252"/>
            <a:ext cx="867271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kubernetes/</a:t>
            </a:r>
            <a:endParaRPr lang="zh-CN" sz="1130"/>
          </a:p>
        </p:txBody>
      </p:sp>
      <p:sp>
        <p:nvSpPr>
          <p:cNvPr id="75" name="TextBox 75"/>
          <p:cNvSpPr txBox="1"/>
          <p:nvPr/>
        </p:nvSpPr>
        <p:spPr>
          <a:xfrm>
            <a:off x="586126" y="3556540"/>
            <a:ext cx="947439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deployments/</a:t>
            </a:r>
            <a:endParaRPr lang="zh-CN" sz="1130"/>
          </a:p>
        </p:txBody>
      </p:sp>
      <p:sp>
        <p:nvSpPr>
          <p:cNvPr id="76" name="TextBox 76"/>
          <p:cNvSpPr txBox="1"/>
          <p:nvPr/>
        </p:nvSpPr>
        <p:spPr>
          <a:xfrm>
            <a:off x="10971514" y="3636708"/>
            <a:ext cx="349824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Minlo</a:t>
            </a:r>
            <a:endParaRPr lang="zh-CN" sz="1000"/>
          </a:p>
        </p:txBody>
      </p:sp>
      <p:sp>
        <p:nvSpPr>
          <p:cNvPr id="77" name="TextBox 77"/>
          <p:cNvSpPr txBox="1"/>
          <p:nvPr/>
        </p:nvSpPr>
        <p:spPr>
          <a:xfrm>
            <a:off x="10592538" y="3665860"/>
            <a:ext cx="320672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Redis</a:t>
            </a:r>
            <a:endParaRPr lang="zh-CN" sz="919"/>
          </a:p>
        </p:txBody>
      </p:sp>
      <p:sp>
        <p:nvSpPr>
          <p:cNvPr id="78" name="TextBox 78"/>
          <p:cNvSpPr txBox="1"/>
          <p:nvPr/>
        </p:nvSpPr>
        <p:spPr>
          <a:xfrm>
            <a:off x="8617493" y="3716876"/>
            <a:ext cx="104947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API/事件/状态定义</a:t>
            </a:r>
            <a:endParaRPr lang="zh-CN" sz="940"/>
          </a:p>
        </p:txBody>
      </p:sp>
      <p:sp>
        <p:nvSpPr>
          <p:cNvPr id="79" name="TextBox 79"/>
          <p:cNvSpPr txBox="1"/>
          <p:nvPr/>
        </p:nvSpPr>
        <p:spPr>
          <a:xfrm>
            <a:off x="2466428" y="3724164"/>
            <a:ext cx="400840" cy="21135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perf</a:t>
            </a:r>
            <a:endParaRPr lang="zh-CN" sz="1250"/>
          </a:p>
        </p:txBody>
      </p:sp>
      <p:sp>
        <p:nvSpPr>
          <p:cNvPr id="80" name="TextBox 80"/>
          <p:cNvSpPr txBox="1"/>
          <p:nvPr/>
        </p:nvSpPr>
        <p:spPr>
          <a:xfrm>
            <a:off x="5243153" y="3724164"/>
            <a:ext cx="364400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React</a:t>
            </a:r>
            <a:endParaRPr lang="zh-CN" sz="1040"/>
          </a:p>
        </p:txBody>
      </p:sp>
      <p:sp>
        <p:nvSpPr>
          <p:cNvPr id="81" name="TextBox 81"/>
          <p:cNvSpPr txBox="1"/>
          <p:nvPr/>
        </p:nvSpPr>
        <p:spPr>
          <a:xfrm>
            <a:off x="5665856" y="3724164"/>
            <a:ext cx="597615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TypeScript</a:t>
            </a:r>
            <a:endParaRPr lang="zh-CN" sz="860"/>
          </a:p>
        </p:txBody>
      </p:sp>
      <p:sp>
        <p:nvSpPr>
          <p:cNvPr id="82" name="TextBox 82"/>
          <p:cNvSpPr txBox="1"/>
          <p:nvPr/>
        </p:nvSpPr>
        <p:spPr>
          <a:xfrm>
            <a:off x="593414" y="3738740"/>
            <a:ext cx="49558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tests/</a:t>
            </a:r>
            <a:endParaRPr lang="zh-CN" sz="1100"/>
          </a:p>
        </p:txBody>
      </p:sp>
      <p:sp>
        <p:nvSpPr>
          <p:cNvPr id="83" name="TextBox 83"/>
          <p:cNvSpPr txBox="1"/>
          <p:nvPr/>
        </p:nvSpPr>
        <p:spPr>
          <a:xfrm>
            <a:off x="1628309" y="3738740"/>
            <a:ext cx="408128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chaos</a:t>
            </a:r>
            <a:endParaRPr lang="zh-CN" sz="1100"/>
          </a:p>
        </p:txBody>
      </p:sp>
      <p:sp>
        <p:nvSpPr>
          <p:cNvPr id="84" name="TextBox 84"/>
          <p:cNvSpPr txBox="1"/>
          <p:nvPr/>
        </p:nvSpPr>
        <p:spPr>
          <a:xfrm>
            <a:off x="2940147" y="3738740"/>
            <a:ext cx="93286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runtests.sh</a:t>
            </a:r>
            <a:endParaRPr lang="zh-CN" sz="1100"/>
          </a:p>
        </p:txBody>
      </p:sp>
      <p:sp>
        <p:nvSpPr>
          <p:cNvPr id="85" name="TextBox 85"/>
          <p:cNvSpPr txBox="1"/>
          <p:nvPr/>
        </p:nvSpPr>
        <p:spPr>
          <a:xfrm>
            <a:off x="2138468" y="3767892"/>
            <a:ext cx="276944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e2e</a:t>
            </a:r>
            <a:endParaRPr lang="zh-CN" sz="940"/>
          </a:p>
        </p:txBody>
      </p:sp>
      <p:sp>
        <p:nvSpPr>
          <p:cNvPr id="86" name="TextBox 86"/>
          <p:cNvSpPr txBox="1"/>
          <p:nvPr/>
        </p:nvSpPr>
        <p:spPr>
          <a:xfrm>
            <a:off x="578838" y="3884499"/>
            <a:ext cx="378976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doc/</a:t>
            </a:r>
            <a:endParaRPr lang="zh-CN" sz="1360"/>
          </a:p>
        </p:txBody>
      </p:sp>
      <p:sp>
        <p:nvSpPr>
          <p:cNvPr id="87" name="TextBox 87"/>
          <p:cNvSpPr txBox="1"/>
          <p:nvPr/>
        </p:nvSpPr>
        <p:spPr>
          <a:xfrm>
            <a:off x="3289971" y="3899075"/>
            <a:ext cx="58303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archive</a:t>
            </a:r>
            <a:endParaRPr lang="zh-CN" sz="1100"/>
          </a:p>
        </p:txBody>
      </p:sp>
      <p:sp>
        <p:nvSpPr>
          <p:cNvPr id="88" name="TextBox 88"/>
          <p:cNvSpPr txBox="1"/>
          <p:nvPr/>
        </p:nvSpPr>
        <p:spPr>
          <a:xfrm>
            <a:off x="5243153" y="3913651"/>
            <a:ext cx="743375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真实API接入</a:t>
            </a:r>
            <a:endParaRPr lang="zh-CN" sz="1040"/>
          </a:p>
        </p:txBody>
      </p:sp>
      <p:sp>
        <p:nvSpPr>
          <p:cNvPr id="89" name="TextBox 89"/>
          <p:cNvSpPr txBox="1"/>
          <p:nvPr/>
        </p:nvSpPr>
        <p:spPr>
          <a:xfrm>
            <a:off x="1642885" y="3928227"/>
            <a:ext cx="189488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00</a:t>
            </a:r>
            <a:endParaRPr lang="zh-CN" sz="940"/>
          </a:p>
        </p:txBody>
      </p:sp>
      <p:sp>
        <p:nvSpPr>
          <p:cNvPr id="90" name="TextBox 90"/>
          <p:cNvSpPr txBox="1"/>
          <p:nvPr/>
        </p:nvSpPr>
        <p:spPr>
          <a:xfrm>
            <a:off x="2721508" y="3928227"/>
            <a:ext cx="49558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06_Ops</a:t>
            </a:r>
            <a:endParaRPr lang="zh-CN" sz="1100"/>
          </a:p>
        </p:txBody>
      </p:sp>
      <p:sp>
        <p:nvSpPr>
          <p:cNvPr id="91" name="TextBox 91"/>
          <p:cNvSpPr txBox="1"/>
          <p:nvPr/>
        </p:nvSpPr>
        <p:spPr>
          <a:xfrm>
            <a:off x="8602917" y="3935515"/>
            <a:ext cx="1136927" cy="24050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GolJava前后揣共用</a:t>
            </a:r>
            <a:endParaRPr lang="zh-CN" sz="1010"/>
          </a:p>
        </p:txBody>
      </p:sp>
      <p:sp>
        <p:nvSpPr>
          <p:cNvPr id="92" name="TextBox 92"/>
          <p:cNvSpPr txBox="1"/>
          <p:nvPr/>
        </p:nvSpPr>
        <p:spPr>
          <a:xfrm>
            <a:off x="10592538" y="4059411"/>
            <a:ext cx="1195231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GoControl-planeAPIs</a:t>
            </a:r>
            <a:endParaRPr lang="zh-CN" sz="900"/>
          </a:p>
        </p:txBody>
      </p:sp>
      <p:sp>
        <p:nvSpPr>
          <p:cNvPr id="93" name="TextBox 93"/>
          <p:cNvSpPr txBox="1"/>
          <p:nvPr/>
        </p:nvSpPr>
        <p:spPr>
          <a:xfrm>
            <a:off x="586126" y="4066699"/>
            <a:ext cx="65591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scripts/</a:t>
            </a:r>
            <a:endParaRPr lang="zh-CN" sz="1170"/>
          </a:p>
        </p:txBody>
      </p:sp>
      <p:sp>
        <p:nvSpPr>
          <p:cNvPr id="94" name="TextBox 94"/>
          <p:cNvSpPr txBox="1"/>
          <p:nvPr/>
        </p:nvSpPr>
        <p:spPr>
          <a:xfrm>
            <a:off x="1621021" y="4066699"/>
            <a:ext cx="859983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codex_Ioop/</a:t>
            </a:r>
            <a:endParaRPr lang="zh-CN" sz="1120"/>
          </a:p>
        </p:txBody>
      </p:sp>
      <p:sp>
        <p:nvSpPr>
          <p:cNvPr id="95" name="TextBox 95"/>
          <p:cNvSpPr txBox="1"/>
          <p:nvPr/>
        </p:nvSpPr>
        <p:spPr>
          <a:xfrm>
            <a:off x="5257729" y="4081275"/>
            <a:ext cx="940151" cy="182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6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USE_MOCK=false</a:t>
            </a:r>
            <a:endParaRPr lang="zh-CN" sz="960"/>
          </a:p>
        </p:txBody>
      </p:sp>
      <p:sp>
        <p:nvSpPr>
          <p:cNvPr id="96" name="TextBox 96"/>
          <p:cNvSpPr txBox="1"/>
          <p:nvPr/>
        </p:nvSpPr>
        <p:spPr>
          <a:xfrm>
            <a:off x="8588341" y="4176019"/>
            <a:ext cx="400840" cy="24779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gRPC</a:t>
            </a:r>
            <a:endParaRPr lang="zh-CN" sz="1430"/>
          </a:p>
        </p:txBody>
      </p:sp>
      <p:sp>
        <p:nvSpPr>
          <p:cNvPr id="97" name="TextBox 97"/>
          <p:cNvSpPr txBox="1"/>
          <p:nvPr/>
        </p:nvSpPr>
        <p:spPr>
          <a:xfrm>
            <a:off x="8930876" y="4190595"/>
            <a:ext cx="68507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与消息契约</a:t>
            </a:r>
            <a:endParaRPr lang="zh-CN" sz="1080"/>
          </a:p>
        </p:txBody>
      </p:sp>
      <p:sp>
        <p:nvSpPr>
          <p:cNvPr id="98" name="TextBox 98"/>
          <p:cNvSpPr txBox="1"/>
          <p:nvPr/>
        </p:nvSpPr>
        <p:spPr>
          <a:xfrm>
            <a:off x="10570674" y="4197883"/>
            <a:ext cx="52473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业务API</a:t>
            </a:r>
            <a:endParaRPr lang="zh-CN" sz="1130"/>
          </a:p>
        </p:txBody>
      </p:sp>
      <p:sp>
        <p:nvSpPr>
          <p:cNvPr id="99" name="TextBox 99"/>
          <p:cNvSpPr txBox="1"/>
          <p:nvPr/>
        </p:nvSpPr>
        <p:spPr>
          <a:xfrm>
            <a:off x="11124562" y="4212459"/>
            <a:ext cx="349824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gRPC</a:t>
            </a:r>
            <a:endParaRPr lang="zh-CN" sz="1250"/>
          </a:p>
        </p:txBody>
      </p:sp>
      <p:sp>
        <p:nvSpPr>
          <p:cNvPr id="100" name="TextBox 100"/>
          <p:cNvSpPr txBox="1"/>
          <p:nvPr/>
        </p:nvSpPr>
        <p:spPr>
          <a:xfrm>
            <a:off x="1606445" y="4219747"/>
            <a:ext cx="3068244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Bo/javalproto/rust/security/typescript.md</a:t>
            </a:r>
            <a:endParaRPr lang="zh-CN" sz="1070"/>
          </a:p>
        </p:txBody>
      </p:sp>
      <p:sp>
        <p:nvSpPr>
          <p:cNvPr id="101" name="TextBox 101"/>
          <p:cNvSpPr txBox="1"/>
          <p:nvPr/>
        </p:nvSpPr>
        <p:spPr>
          <a:xfrm>
            <a:off x="593414" y="4227035"/>
            <a:ext cx="50287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rules/</a:t>
            </a:r>
            <a:endParaRPr lang="zh-CN" sz="1200"/>
          </a:p>
        </p:txBody>
      </p:sp>
      <p:sp>
        <p:nvSpPr>
          <p:cNvPr id="102" name="TextBox 102"/>
          <p:cNvSpPr txBox="1"/>
          <p:nvPr/>
        </p:nvSpPr>
        <p:spPr>
          <a:xfrm>
            <a:off x="5257729" y="4278051"/>
            <a:ext cx="1151503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6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AUTH_ENABLEDstrue</a:t>
            </a:r>
            <a:endParaRPr lang="zh-CN" sz="969"/>
          </a:p>
        </p:txBody>
      </p:sp>
      <p:sp>
        <p:nvSpPr>
          <p:cNvPr id="103" name="TextBox 103"/>
          <p:cNvSpPr txBox="1"/>
          <p:nvPr/>
        </p:nvSpPr>
        <p:spPr>
          <a:xfrm>
            <a:off x="6868375" y="4401947"/>
            <a:ext cx="94743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评估。A/B。回滚</a:t>
            </a:r>
            <a:endParaRPr lang="zh-CN" sz="1010"/>
          </a:p>
        </p:txBody>
      </p:sp>
      <p:sp>
        <p:nvSpPr>
          <p:cNvPr id="104" name="TextBox 104"/>
          <p:cNvSpPr txBox="1"/>
          <p:nvPr/>
        </p:nvSpPr>
        <p:spPr>
          <a:xfrm>
            <a:off x="5257729" y="4467539"/>
            <a:ext cx="1326414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ENABLE_REALTIME-true</a:t>
            </a:r>
            <a:endParaRPr lang="zh-CN" sz="950"/>
          </a:p>
        </p:txBody>
      </p:sp>
      <p:sp>
        <p:nvSpPr>
          <p:cNvPr id="105" name="TextBox 105"/>
          <p:cNvSpPr txBox="1"/>
          <p:nvPr/>
        </p:nvSpPr>
        <p:spPr>
          <a:xfrm>
            <a:off x="10577962" y="4584147"/>
            <a:ext cx="43727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WebUI</a:t>
            </a:r>
            <a:endParaRPr lang="zh-CN" sz="1100"/>
          </a:p>
        </p:txBody>
      </p:sp>
      <p:sp>
        <p:nvSpPr>
          <p:cNvPr id="106" name="TextBox 106"/>
          <p:cNvSpPr txBox="1"/>
          <p:nvPr/>
        </p:nvSpPr>
        <p:spPr>
          <a:xfrm>
            <a:off x="527822" y="4620587"/>
            <a:ext cx="1078623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真实结构修正</a:t>
            </a:r>
            <a:endParaRPr lang="zh-CN" sz="1420"/>
          </a:p>
        </p:txBody>
      </p:sp>
      <p:sp>
        <p:nvSpPr>
          <p:cNvPr id="107" name="TextBox 107"/>
          <p:cNvSpPr txBox="1"/>
          <p:nvPr/>
        </p:nvSpPr>
        <p:spPr>
          <a:xfrm>
            <a:off x="513246" y="4839226"/>
            <a:ext cx="3950091" cy="22592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来源:10.0.5.8:/home/wangwtlphase_Z/code/traffic-analysis-platform</a:t>
            </a:r>
            <a:endParaRPr lang="zh-CN" sz="869"/>
          </a:p>
        </p:txBody>
      </p:sp>
      <p:sp>
        <p:nvSpPr>
          <p:cNvPr id="108" name="TextBox 108"/>
          <p:cNvSpPr txBox="1"/>
          <p:nvPr/>
        </p:nvSpPr>
        <p:spPr>
          <a:xfrm>
            <a:off x="5541960" y="5218202"/>
            <a:ext cx="1166079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Common(公共库)</a:t>
            </a:r>
            <a:endParaRPr lang="zh-CN" sz="1240"/>
          </a:p>
        </p:txBody>
      </p:sp>
      <p:sp>
        <p:nvSpPr>
          <p:cNvPr id="109" name="TextBox 109"/>
          <p:cNvSpPr txBox="1"/>
          <p:nvPr/>
        </p:nvSpPr>
        <p:spPr>
          <a:xfrm>
            <a:off x="7917845" y="5232778"/>
            <a:ext cx="1734542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Deployments(部署与运维)</a:t>
            </a:r>
            <a:endParaRPr lang="zh-CN" sz="1120"/>
          </a:p>
        </p:txBody>
      </p:sp>
      <p:sp>
        <p:nvSpPr>
          <p:cNvPr id="110" name="TextBox 110"/>
          <p:cNvSpPr txBox="1"/>
          <p:nvPr/>
        </p:nvSpPr>
        <p:spPr>
          <a:xfrm>
            <a:off x="11248458" y="5342098"/>
            <a:ext cx="728799" cy="14576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model-updates</a:t>
            </a:r>
            <a:endParaRPr lang="zh-CN" sz="800"/>
          </a:p>
        </p:txBody>
      </p:sp>
      <p:sp>
        <p:nvSpPr>
          <p:cNvPr id="111" name="TextBox 111"/>
          <p:cNvSpPr txBox="1"/>
          <p:nvPr/>
        </p:nvSpPr>
        <p:spPr>
          <a:xfrm>
            <a:off x="527822" y="5363962"/>
            <a:ext cx="1078623" cy="26236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2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代码规模核查</a:t>
            </a:r>
            <a:endParaRPr lang="zh-CN" sz="1420"/>
          </a:p>
        </p:txBody>
      </p:sp>
      <p:sp>
        <p:nvSpPr>
          <p:cNvPr id="112" name="TextBox 112"/>
          <p:cNvSpPr txBox="1"/>
          <p:nvPr/>
        </p:nvSpPr>
        <p:spPr>
          <a:xfrm>
            <a:off x="7575310" y="5517010"/>
            <a:ext cx="743375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KgsManifests</a:t>
            </a:r>
            <a:endParaRPr lang="zh-CN" sz="890"/>
          </a:p>
        </p:txBody>
      </p:sp>
      <p:sp>
        <p:nvSpPr>
          <p:cNvPr id="113" name="TextBox 113"/>
          <p:cNvSpPr txBox="1"/>
          <p:nvPr/>
        </p:nvSpPr>
        <p:spPr>
          <a:xfrm>
            <a:off x="8347837" y="5517010"/>
            <a:ext cx="320672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Helm</a:t>
            </a:r>
            <a:endParaRPr lang="zh-CN" sz="1030"/>
          </a:p>
        </p:txBody>
      </p:sp>
      <p:sp>
        <p:nvSpPr>
          <p:cNvPr id="114" name="TextBox 114"/>
          <p:cNvSpPr txBox="1"/>
          <p:nvPr/>
        </p:nvSpPr>
        <p:spPr>
          <a:xfrm>
            <a:off x="6984983" y="5582601"/>
            <a:ext cx="306096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安全</a:t>
            </a:r>
            <a:endParaRPr lang="zh-CN" sz="1210"/>
          </a:p>
        </p:txBody>
      </p:sp>
      <p:sp>
        <p:nvSpPr>
          <p:cNvPr id="115" name="TextBox 115"/>
          <p:cNvSpPr txBox="1"/>
          <p:nvPr/>
        </p:nvSpPr>
        <p:spPr>
          <a:xfrm>
            <a:off x="5767888" y="5589889"/>
            <a:ext cx="306096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日志</a:t>
            </a:r>
            <a:endParaRPr lang="zh-CN" sz="1100"/>
          </a:p>
        </p:txBody>
      </p:sp>
      <p:sp>
        <p:nvSpPr>
          <p:cNvPr id="116" name="TextBox 116"/>
          <p:cNvSpPr txBox="1"/>
          <p:nvPr/>
        </p:nvSpPr>
        <p:spPr>
          <a:xfrm>
            <a:off x="6146864" y="5589889"/>
            <a:ext cx="743375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配置。存储</a:t>
            </a:r>
            <a:endParaRPr lang="zh-CN" sz="1100"/>
          </a:p>
        </p:txBody>
      </p:sp>
      <p:sp>
        <p:nvSpPr>
          <p:cNvPr id="117" name="TextBox 117"/>
          <p:cNvSpPr txBox="1"/>
          <p:nvPr/>
        </p:nvSpPr>
        <p:spPr>
          <a:xfrm>
            <a:off x="1205605" y="5633617"/>
            <a:ext cx="451855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TS/TSX</a:t>
            </a:r>
            <a:endParaRPr lang="zh-CN" sz="1080"/>
          </a:p>
        </p:txBody>
      </p:sp>
      <p:sp>
        <p:nvSpPr>
          <p:cNvPr id="118" name="TextBox 118"/>
          <p:cNvSpPr txBox="1"/>
          <p:nvPr/>
        </p:nvSpPr>
        <p:spPr>
          <a:xfrm>
            <a:off x="1861525" y="5633617"/>
            <a:ext cx="320672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Rust</a:t>
            </a:r>
            <a:endParaRPr lang="zh-CN" sz="1100"/>
          </a:p>
        </p:txBody>
      </p:sp>
      <p:sp>
        <p:nvSpPr>
          <p:cNvPr id="119" name="TextBox 119"/>
          <p:cNvSpPr txBox="1"/>
          <p:nvPr/>
        </p:nvSpPr>
        <p:spPr>
          <a:xfrm>
            <a:off x="3187939" y="5633617"/>
            <a:ext cx="378976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9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Proto</a:t>
            </a:r>
            <a:endParaRPr lang="zh-CN" sz="1090"/>
          </a:p>
        </p:txBody>
      </p:sp>
      <p:sp>
        <p:nvSpPr>
          <p:cNvPr id="120" name="TextBox 120"/>
          <p:cNvSpPr txBox="1"/>
          <p:nvPr/>
        </p:nvSpPr>
        <p:spPr>
          <a:xfrm>
            <a:off x="3858434" y="5633617"/>
            <a:ext cx="393552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YAML</a:t>
            </a:r>
            <a:endParaRPr lang="zh-CN" sz="1100"/>
          </a:p>
        </p:txBody>
      </p:sp>
      <p:sp>
        <p:nvSpPr>
          <p:cNvPr id="121" name="TextBox 121"/>
          <p:cNvSpPr txBox="1"/>
          <p:nvPr/>
        </p:nvSpPr>
        <p:spPr>
          <a:xfrm>
            <a:off x="2532020" y="5648193"/>
            <a:ext cx="291520" cy="16033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3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Java</a:t>
            </a:r>
            <a:endParaRPr lang="zh-CN" sz="1030"/>
          </a:p>
        </p:txBody>
      </p:sp>
      <p:sp>
        <p:nvSpPr>
          <p:cNvPr id="122" name="TextBox 122"/>
          <p:cNvSpPr txBox="1"/>
          <p:nvPr/>
        </p:nvSpPr>
        <p:spPr>
          <a:xfrm>
            <a:off x="10577962" y="5764801"/>
            <a:ext cx="728799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Flink热更新</a:t>
            </a:r>
            <a:endParaRPr lang="zh-CN" sz="1000"/>
          </a:p>
        </p:txBody>
      </p:sp>
      <p:sp>
        <p:nvSpPr>
          <p:cNvPr id="123" name="TextBox 123"/>
          <p:cNvSpPr txBox="1"/>
          <p:nvPr/>
        </p:nvSpPr>
        <p:spPr>
          <a:xfrm>
            <a:off x="542398" y="5786665"/>
            <a:ext cx="393552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259</a:t>
            </a:r>
            <a:endParaRPr lang="zh-CN" sz="1410"/>
          </a:p>
        </p:txBody>
      </p:sp>
      <p:sp>
        <p:nvSpPr>
          <p:cNvPr id="124" name="TextBox 124"/>
          <p:cNvSpPr txBox="1"/>
          <p:nvPr/>
        </p:nvSpPr>
        <p:spPr>
          <a:xfrm>
            <a:off x="1868813" y="5786665"/>
            <a:ext cx="276944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56</a:t>
            </a:r>
            <a:endParaRPr lang="zh-CN" sz="1410"/>
          </a:p>
        </p:txBody>
      </p:sp>
      <p:sp>
        <p:nvSpPr>
          <p:cNvPr id="125" name="TextBox 125"/>
          <p:cNvSpPr txBox="1"/>
          <p:nvPr/>
        </p:nvSpPr>
        <p:spPr>
          <a:xfrm>
            <a:off x="2539308" y="5786665"/>
            <a:ext cx="378976" cy="21864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365</a:t>
            </a:r>
            <a:endParaRPr lang="zh-CN" sz="1410"/>
          </a:p>
        </p:txBody>
      </p:sp>
      <p:sp>
        <p:nvSpPr>
          <p:cNvPr id="126" name="TextBox 126"/>
          <p:cNvSpPr txBox="1"/>
          <p:nvPr/>
        </p:nvSpPr>
        <p:spPr>
          <a:xfrm>
            <a:off x="3195227" y="5801241"/>
            <a:ext cx="276944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12</a:t>
            </a:r>
            <a:endParaRPr lang="zh-CN" sz="1250"/>
          </a:p>
        </p:txBody>
      </p:sp>
      <p:sp>
        <p:nvSpPr>
          <p:cNvPr id="127" name="TextBox 127"/>
          <p:cNvSpPr txBox="1"/>
          <p:nvPr/>
        </p:nvSpPr>
        <p:spPr>
          <a:xfrm>
            <a:off x="5148409" y="5801241"/>
            <a:ext cx="43727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序列化</a:t>
            </a:r>
            <a:endParaRPr lang="zh-CN" sz="1150"/>
          </a:p>
        </p:txBody>
      </p:sp>
      <p:sp>
        <p:nvSpPr>
          <p:cNvPr id="128" name="TextBox 128"/>
          <p:cNvSpPr txBox="1"/>
          <p:nvPr/>
        </p:nvSpPr>
        <p:spPr>
          <a:xfrm>
            <a:off x="5643992" y="5801241"/>
            <a:ext cx="422704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1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中间件</a:t>
            </a:r>
            <a:endParaRPr lang="zh-CN" sz="1110"/>
          </a:p>
        </p:txBody>
      </p:sp>
      <p:sp>
        <p:nvSpPr>
          <p:cNvPr id="129" name="TextBox 129"/>
          <p:cNvSpPr txBox="1"/>
          <p:nvPr/>
        </p:nvSpPr>
        <p:spPr>
          <a:xfrm>
            <a:off x="8806980" y="5844969"/>
            <a:ext cx="408128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7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观测性</a:t>
            </a:r>
            <a:endParaRPr lang="zh-CN" sz="1070"/>
          </a:p>
        </p:txBody>
      </p:sp>
      <p:sp>
        <p:nvSpPr>
          <p:cNvPr id="130" name="TextBox 130"/>
          <p:cNvSpPr txBox="1"/>
          <p:nvPr/>
        </p:nvSpPr>
        <p:spPr>
          <a:xfrm>
            <a:off x="8129197" y="5866833"/>
            <a:ext cx="626767" cy="17491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环境/密钥</a:t>
            </a:r>
            <a:endParaRPr lang="zh-CN" sz="1080"/>
          </a:p>
        </p:txBody>
      </p:sp>
      <p:sp>
        <p:nvSpPr>
          <p:cNvPr id="131" name="TextBox 131"/>
          <p:cNvSpPr txBox="1"/>
          <p:nvPr/>
        </p:nvSpPr>
        <p:spPr>
          <a:xfrm>
            <a:off x="2612188" y="6384281"/>
            <a:ext cx="451855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main</a:t>
            </a:r>
            <a:endParaRPr lang="zh-CN" sz="1250"/>
          </a:p>
        </p:txBody>
      </p:sp>
      <p:sp>
        <p:nvSpPr>
          <p:cNvPr id="132" name="TextBox 132"/>
          <p:cNvSpPr txBox="1"/>
          <p:nvPr/>
        </p:nvSpPr>
        <p:spPr>
          <a:xfrm>
            <a:off x="3151499" y="6384281"/>
            <a:ext cx="65591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commit</a:t>
            </a:r>
            <a:endParaRPr lang="zh-CN" sz="1250"/>
          </a:p>
        </p:txBody>
      </p:sp>
      <p:sp>
        <p:nvSpPr>
          <p:cNvPr id="133" name="TextBox 133"/>
          <p:cNvSpPr txBox="1"/>
          <p:nvPr/>
        </p:nvSpPr>
        <p:spPr>
          <a:xfrm>
            <a:off x="3924026" y="6384281"/>
            <a:ext cx="859983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e3316aec4</a:t>
            </a:r>
            <a:endParaRPr lang="zh-CN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